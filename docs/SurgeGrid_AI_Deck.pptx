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Calibri"/>
              </a:defRPr>
            </a:pPr>
            <a:r>
              <a:rPr sz="1100" b="0" i="0" u="none" strike="noStrike">
                <a:solidFill>
                  <a:srgbClr val="CBD5E1"/>
                </a:solidFill>
                <a:latin typeface="Calibri"/>
              </a:rPr>
              <a:t>Flood-record sites with heavy rain or worse (of 111)</a:t>
            </a:r>
          </a:p>
        </c:rich>
      </c:tx>
      <c:layout/>
      <c:overlay val="0"/>
    </c:title>
    <c:autoTitleDeleted val="0"/>
    <c:plotArea>
      <c:layout/>
      <c:barChart>
        <c:barDir val="col"/>
        <c:grouping val="stacked"/>
        <c:varyColors val="0"/>
        <c:ser>
          <c:idx val="0"/>
          <c:order val="0"/>
          <c:tx>
            <c:strRef>
              <c:f>Sheet1!$B$1</c:f>
              <c:strCache>
                <c:ptCount val="1"/>
                <c:pt idx="0">
                  <c:v>Check first</c:v>
                </c:pt>
              </c:strCache>
            </c:strRef>
          </c:tx>
          <c:spPr>
            <a:solidFill>
              <a:srgbClr val="FB7185"/>
            </a:solidFill>
            <a:effectLst/>
          </c:spPr>
          <c:invertIfNegative val="0"/>
          <c:dLbls>
            <c:numFmt formatCode="#,##0" sourceLinked="0"/>
            <c:txPr>
              <a:bodyPr/>
              <a:lstStyle/>
              <a:p>
                <a:pPr>
                  <a:defRPr b="1" i="0" strike="noStrike" sz="1000" u="none">
                    <a:solidFill>
                      <a:srgbClr val="0B1220"/>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T-24h</c:v>
                  </c:pt>
                  <c:pt idx="1">
                    <c:v>T-6h</c:v>
                  </c:pt>
                  <c:pt idx="2">
                    <c:v>Peak</c:v>
                  </c:pt>
                  <c:pt idx="3">
                    <c:v>T+12h</c:v>
                  </c:pt>
                  <c:pt idx="4">
                    <c:v>T+36h</c:v>
                  </c:pt>
                </c:lvl>
              </c:multiLvlStrCache>
            </c:multiLvlStrRef>
          </c:cat>
          <c:val>
            <c:numRef>
              <c:f>Sheet1!$B$2:$B$6</c:f>
              <c:numCache>
                <c:formatCode>General</c:formatCode>
                <c:ptCount val="5"/>
                <c:pt idx="0">
                  <c:v>0</c:v>
                </c:pt>
                <c:pt idx="1">
                  <c:v>75</c:v>
                </c:pt>
                <c:pt idx="2">
                  <c:v>94</c:v>
                </c:pt>
                <c:pt idx="3">
                  <c:v>94</c:v>
                </c:pt>
                <c:pt idx="4">
                  <c:v>89</c:v>
                </c:pt>
              </c:numCache>
            </c:numRef>
          </c:val>
        </c:ser>
        <c:ser>
          <c:idx val="1"/>
          <c:order val="1"/>
          <c:tx>
            <c:strRef>
              <c:f>Sheet1!$C$1</c:f>
              <c:strCache>
                <c:ptCount val="1"/>
                <c:pt idx="0">
                  <c:v>Check next</c:v>
                </c:pt>
              </c:strCache>
            </c:strRef>
          </c:tx>
          <c:spPr>
            <a:solidFill>
              <a:srgbClr val="F59E0B"/>
            </a:solidFill>
            <a:effectLst/>
          </c:spPr>
          <c:invertIfNegative val="0"/>
          <c:dLbls>
            <c:numFmt formatCode="#,##0" sourceLinked="0"/>
            <c:txPr>
              <a:bodyPr/>
              <a:lstStyle/>
              <a:p>
                <a:pPr>
                  <a:defRPr b="1" i="0" strike="noStrike" sz="1000" u="none">
                    <a:solidFill>
                      <a:srgbClr val="0B1220"/>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T-24h</c:v>
                  </c:pt>
                  <c:pt idx="1">
                    <c:v>T-6h</c:v>
                  </c:pt>
                  <c:pt idx="2">
                    <c:v>Peak</c:v>
                  </c:pt>
                  <c:pt idx="3">
                    <c:v>T+12h</c:v>
                  </c:pt>
                  <c:pt idx="4">
                    <c:v>T+36h</c:v>
                  </c:pt>
                </c:lvl>
              </c:multiLvlStrCache>
            </c:multiLvlStrRef>
          </c:cat>
          <c:val>
            <c:numRef>
              <c:f>Sheet1!$C$2:$C$6</c:f>
              <c:numCache>
                <c:formatCode>General</c:formatCode>
                <c:ptCount val="5"/>
                <c:pt idx="0">
                  <c:v>0</c:v>
                </c:pt>
                <c:pt idx="1">
                  <c:v>13</c:v>
                </c:pt>
                <c:pt idx="2">
                  <c:v>17</c:v>
                </c:pt>
                <c:pt idx="3">
                  <c:v>17</c:v>
                </c:pt>
                <c:pt idx="4">
                  <c:v>17</c:v>
                </c:pt>
              </c:numCache>
            </c:numRef>
          </c:val>
        </c:ser>
        <c:dLbls>
          <c:numFmt formatCode="#,##0" sourceLinked="0"/>
          <c:txPr>
            <a:bodyPr/>
            <a:lstStyle/>
            <a:p>
              <a:pPr>
                <a:defRPr b="1" i="0" strike="noStrike" sz="1000" u="none">
                  <a:solidFill>
                    <a:srgbClr val="0B1220"/>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CBD5E1"/>
                </a:solidFill>
                <a:latin typeface="Calibri"/>
              </a:defRPr>
            </a:pPr>
            <a:endParaRPr lang="en-US"/>
          </a:p>
        </c:txPr>
        <c:crossAx val="2094734552"/>
        <c:crosses val="autoZero"/>
        <c:auto val="1"/>
        <c:lblAlgn val="ctr"/>
        <c:noMultiLvlLbl val="1"/>
      </c:catAx>
      <c:valAx>
        <c:axId val="2094734552"/>
        <c:scaling>
          <c:orientation val="minMax"/>
          <c:max val="120"/>
        </c:scaling>
        <c:delete val="0"/>
        <c:axPos val="l"/>
        <c:majorGridlines>
          <c:spPr>
            <a:ln w="6350" cap="flat">
              <a:solidFill>
                <a:srgbClr val="26344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Arial"/>
              </a:defRPr>
            </a:pPr>
            <a:endParaRPr lang="en-US"/>
          </a:p>
        </c:txPr>
        <c:crossAx val="2094734554"/>
        <c:crosses val="autoZero"/>
        <c:crossBetween val="between"/>
        <c:majorUnit val="30"/>
      </c:valAx>
      <c:spPr>
        <a:noFill/>
        <a:ln>
          <a:noFill/>
        </a:ln>
        <a:effectLst/>
      </c:spPr>
    </c:plotArea>
    <c:legend>
      <c:legendPos val="b"/>
      <c:overlay val="0"/>
      <c:txPr>
        <a:bodyPr/>
        <a:lstStyle/>
        <a:p>
          <a:pPr>
            <a:defRPr sz="1000">
              <a:solidFill>
                <a:srgbClr val="CBD5E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Calibri"/>
              </a:defRPr>
            </a:pPr>
            <a:r>
              <a:rPr sz="1100" b="0" i="0" u="none" strike="noStrike">
                <a:solidFill>
                  <a:srgbClr val="CBD5E1"/>
                </a:solidFill>
                <a:latin typeface="Calibri"/>
              </a:rPr>
              <a:t>24 h rain to 08:30 IST, median over matched stations (mm)</a:t>
            </a:r>
          </a:p>
        </c:rich>
      </c:tx>
      <c:layout/>
      <c:overlay val="0"/>
    </c:title>
    <c:autoTitleDeleted val="0"/>
    <c:plotArea>
      <c:layout/>
      <c:barChart>
        <c:barDir val="col"/>
        <c:grouping val="clustered"/>
        <c:varyColors val="0"/>
        <c:ser>
          <c:idx val="0"/>
          <c:order val="0"/>
          <c:tx>
            <c:strRef>
              <c:f>Sheet1!$B$1</c:f>
              <c:strCache>
                <c:ptCount val="1"/>
                <c:pt idx="0">
                  <c:v>Satellite cell (NASA IMERG)</c:v>
                </c:pt>
              </c:strCache>
            </c:strRef>
          </c:tx>
          <c:spPr>
            <a:solidFill>
              <a:srgbClr val="2DD4BF"/>
            </a:solidFill>
            <a:effectLst/>
          </c:spPr>
          <c:invertIfNegative val="0"/>
          <c:dLbls>
            <c:numFmt formatCode="#,##0" sourceLinked="0"/>
            <c:txPr>
              <a:bodyPr/>
              <a:lstStyle/>
              <a:p>
                <a:pPr>
                  <a:defRPr b="0" i="0" strike="noStrike" sz="1000" u="none">
                    <a:solidFill>
                      <a:srgbClr val="E2E8F0"/>
                    </a:solidFill>
                    <a:latin typeface="Arial"/>
                  </a:defRPr>
                </a:pPr>
              </a:p>
            </c:txPr>
            <c:showLegendKey val="0"/>
            <c:showVal val="1"/>
            <c:showCatName val="0"/>
            <c:showSerName val="0"/>
            <c:showPercent val="0"/>
            <c:showBubbleSize val="0"/>
            <c:showLeaderLines val="0"/>
          </c:dLbls>
          <c:cat>
            <c:multiLvlStrRef>
              <c:f>Sheet1!$A$2:$A$4</c:f>
              <c:multiLvlStrCache>
                <c:ptCount val="3"/>
                <c:lvl>
                  <c:pt idx="0">
                    <c:v>3 Dec</c:v>
                  </c:pt>
                  <c:pt idx="1">
                    <c:v>4 Dec</c:v>
                  </c:pt>
                  <c:pt idx="2">
                    <c:v>5 Dec</c:v>
                  </c:pt>
                </c:lvl>
              </c:multiLvlStrCache>
            </c:multiLvlStrRef>
          </c:cat>
          <c:val>
            <c:numRef>
              <c:f>Sheet1!$B$2:$B$4</c:f>
              <c:numCache>
                <c:formatCode>General</c:formatCode>
                <c:ptCount val="3"/>
                <c:pt idx="0">
                  <c:v>30</c:v>
                </c:pt>
                <c:pt idx="1">
                  <c:v>147</c:v>
                </c:pt>
                <c:pt idx="2">
                  <c:v>115</c:v>
                </c:pt>
              </c:numCache>
            </c:numRef>
          </c:val>
        </c:ser>
        <c:ser>
          <c:idx val="1"/>
          <c:order val="1"/>
          <c:tx>
            <c:strRef>
              <c:f>Sheet1!$C$1</c:f>
              <c:strCache>
                <c:ptCount val="1"/>
                <c:pt idx="0">
                  <c:v>IMD gauge</c:v>
                </c:pt>
              </c:strCache>
            </c:strRef>
          </c:tx>
          <c:spPr>
            <a:solidFill>
              <a:srgbClr val="F59E0B"/>
            </a:solidFill>
            <a:effectLst/>
          </c:spPr>
          <c:invertIfNegative val="0"/>
          <c:dLbls>
            <c:numFmt formatCode="#,##0" sourceLinked="0"/>
            <c:txPr>
              <a:bodyPr/>
              <a:lstStyle/>
              <a:p>
                <a:pPr>
                  <a:defRPr b="0" i="0" strike="noStrike" sz="1000" u="none">
                    <a:solidFill>
                      <a:srgbClr val="E2E8F0"/>
                    </a:solidFill>
                    <a:latin typeface="Arial"/>
                  </a:defRPr>
                </a:pPr>
              </a:p>
            </c:txPr>
            <c:showLegendKey val="0"/>
            <c:showVal val="1"/>
            <c:showCatName val="0"/>
            <c:showSerName val="0"/>
            <c:showPercent val="0"/>
            <c:showBubbleSize val="0"/>
            <c:showLeaderLines val="0"/>
          </c:dLbls>
          <c:cat>
            <c:multiLvlStrRef>
              <c:f>Sheet1!$A$2:$A$4</c:f>
              <c:multiLvlStrCache>
                <c:ptCount val="3"/>
                <c:lvl>
                  <c:pt idx="0">
                    <c:v>3 Dec</c:v>
                  </c:pt>
                  <c:pt idx="1">
                    <c:v>4 Dec</c:v>
                  </c:pt>
                  <c:pt idx="2">
                    <c:v>5 Dec</c:v>
                  </c:pt>
                </c:lvl>
              </c:multiLvlStrCache>
            </c:multiLvlStrRef>
          </c:cat>
          <c:val>
            <c:numRef>
              <c:f>Sheet1!$C$2:$C$4</c:f>
              <c:numCache>
                <c:formatCode>General</c:formatCode>
                <c:ptCount val="3"/>
                <c:pt idx="0">
                  <c:v>80</c:v>
                </c:pt>
                <c:pt idx="1">
                  <c:v>195</c:v>
                </c:pt>
                <c:pt idx="2">
                  <c:v>170</c:v>
                </c:pt>
              </c:numCache>
            </c:numRef>
          </c:val>
        </c:ser>
        <c:dLbls>
          <c:numFmt formatCode="#,##0" sourceLinked="0"/>
          <c:txPr>
            <a:bodyPr/>
            <a:lstStyle/>
            <a:p>
              <a:pPr>
                <a:defRPr b="0" i="0" strike="noStrike" sz="1000" u="none">
                  <a:solidFill>
                    <a:srgbClr val="E2E8F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CBD5E1"/>
                </a:solidFill>
                <a:latin typeface="Calibri"/>
              </a:defRPr>
            </a:pPr>
            <a:endParaRPr lang="en-US"/>
          </a:p>
        </c:txPr>
        <c:crossAx val="2094734552"/>
        <c:crosses val="autoZero"/>
        <c:auto val="1"/>
        <c:lblAlgn val="ctr"/>
        <c:noMultiLvlLbl val="1"/>
      </c:catAx>
      <c:valAx>
        <c:axId val="2094734552"/>
        <c:scaling>
          <c:orientation val="minMax"/>
          <c:max val="240"/>
        </c:scaling>
        <c:delete val="0"/>
        <c:axPos val="l"/>
        <c:majorGridlines>
          <c:spPr>
            <a:ln w="6350" cap="flat">
              <a:solidFill>
                <a:srgbClr val="26344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Arial"/>
              </a:defRPr>
            </a:pPr>
            <a:endParaRPr lang="en-US"/>
          </a:p>
        </c:txPr>
        <c:crossAx val="2094734554"/>
        <c:crosses val="autoZero"/>
        <c:crossBetween val="between"/>
        <c:majorUnit val="60"/>
      </c:valAx>
      <c:spPr>
        <a:noFill/>
        <a:ln>
          <a:noFill/>
        </a:ln>
        <a:effectLst/>
      </c:spPr>
    </c:plotArea>
    <c:legend>
      <c:legendPos val="b"/>
      <c:overlay val="0"/>
      <c:txPr>
        <a:bodyPr/>
        <a:lstStyle/>
        <a:p>
          <a:pPr>
            <a:defRPr sz="1000">
              <a:solidFill>
                <a:srgbClr val="CBD5E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over this screen: Chennai sits about two metres above sea level; in 2015 water reached six feet inside substations and 41 were switched off. SurgeGrid AI finds the right line for the right substation and the right person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pain is not missing plans. It is finding and applying them under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Differentiator: trust. Everything on screen is a word-for-word quote with a page number, real data with a source, or our own calculation, labelled as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in that order: live, replay, exposure, directive, responders.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Poor stability, waterlogging risk and live outages are three chips under the top bar. The 87 here is the waterlogging filter; the replay counts a broader set of 111 sites that also uses the GCC 2015 ward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five steps, six seconds each. Rain fills in by cell, rings appear, the list on the left fills. Not a prediction of flooding or of any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Medians over matched gauges: 7 stations on 3 Dec, 16 on 4 Dec, 10 on 5 Dec. IMD rain classes (Heavy 64.5 mm, Very heavy 115.6 mm, Extremely heavy 204.5 mm) on a rolling 24-hour total over about 11 km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 step (T-0h): IMD said quotes, 94 check first of 111, and six official actions with targets. "Gemini 2.5 Flash, wording only, quotes are official" is shown in the header.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note on the card at the peak: "Heavy rain (satellite, 89 mm) fell over the site's 11 km cell. The yard is at -1 m, at or below the city average, and there are 1 2015 water-stagnation points within 500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relief centre shows capacity, cooking, water and toilets, the officers to call, and a View Place link. From the plan's words to the person who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is the last step and cannot change the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2.5 Flash on Google Cloud picks the names and writes one short note. It never writes or changes a quote. There is no API key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strengths: real data, quoted plans, and the control room's next action, one tap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Chennai as the first city, and the method as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 of engineering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 with the live URL and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surgegrid.web.app" TargetMode="External"/><Relationship Id="rId2" Type="http://schemas.openxmlformats.org/officeDocument/2006/relationships/hyperlink" Target="https://github.com/rsiva2294/surgegrid-ai" TargetMode="Externa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548640" y="640080"/>
            <a:ext cx="4572000" cy="228600"/>
          </a:xfrm>
          <a:prstGeom prst="rect">
            <a:avLst/>
          </a:prstGeom>
          <a:noFill/>
          <a:ln/>
        </p:spPr>
        <p:txBody>
          <a:bodyPr wrap="square" lIns="0" tIns="0" rIns="0" bIns="0" rtlCol="0" anchor="ctr"/>
          <a:lstStyle/>
          <a:p>
            <a:pPr indent="0" marL="0">
              <a:buNone/>
            </a:pPr>
            <a:r>
              <a:rPr lang="en-US" sz="1100" b="1" spc="100" kern="0" dirty="0">
                <a:solidFill>
                  <a:srgbClr val="2DD4BF"/>
                </a:solidFill>
                <a:latin typeface="Calibri" pitchFamily="34" charset="0"/>
                <a:ea typeface="Calibri" pitchFamily="34" charset="-122"/>
                <a:cs typeface="Calibri" pitchFamily="34" charset="-120"/>
              </a:rPr>
              <a:t>BUILD WITH AI: CODE FOR COMMUNITIES  ·  TRACK 5</a:t>
            </a:r>
            <a:endParaRPr lang="en-US" sz="1100" dirty="0"/>
          </a:p>
        </p:txBody>
      </p:sp>
      <p:sp>
        <p:nvSpPr>
          <p:cNvPr id="3" name="Text 1"/>
          <p:cNvSpPr txBox="1"/>
          <p:nvPr/>
        </p:nvSpPr>
        <p:spPr>
          <a:xfrm>
            <a:off x="548640" y="1051560"/>
            <a:ext cx="4206240" cy="914400"/>
          </a:xfrm>
          <a:prstGeom prst="rect">
            <a:avLst/>
          </a:prstGeom>
          <a:noFill/>
          <a:ln/>
        </p:spPr>
        <p:txBody>
          <a:bodyPr wrap="square" lIns="0" tIns="0" rIns="0" bIns="0" rtlCol="0" anchor="ctr"/>
          <a:lstStyle/>
          <a:p>
            <a:pPr indent="0" marL="0">
              <a:buNone/>
            </a:pPr>
            <a:r>
              <a:rPr lang="en-US" sz="5000" b="1" dirty="0">
                <a:solidFill>
                  <a:srgbClr val="F1F5F9"/>
                </a:solidFill>
                <a:latin typeface="Calibri" pitchFamily="34" charset="0"/>
                <a:ea typeface="Calibri" pitchFamily="34" charset="-122"/>
                <a:cs typeface="Calibri" pitchFamily="34" charset="-120"/>
              </a:rPr>
              <a:t>SurgeGrid AI</a:t>
            </a:r>
            <a:endParaRPr lang="en-US" sz="5000" dirty="0"/>
          </a:p>
        </p:txBody>
      </p:sp>
      <p:sp>
        <p:nvSpPr>
          <p:cNvPr id="4" name="Text 2"/>
          <p:cNvSpPr txBox="1"/>
          <p:nvPr/>
        </p:nvSpPr>
        <p:spPr>
          <a:xfrm>
            <a:off x="548640" y="2057400"/>
            <a:ext cx="4023360" cy="1005840"/>
          </a:xfrm>
          <a:prstGeom prst="rect">
            <a:avLst/>
          </a:prstGeom>
          <a:noFill/>
          <a:ln/>
        </p:spPr>
        <p:txBody>
          <a:bodyPr wrap="square" lIns="0" tIns="0" rIns="0" bIns="0" rtlCol="0" anchor="t"/>
          <a:lstStyle/>
          <a:p>
            <a:pPr indent="0" marL="0">
              <a:buNone/>
            </a:pPr>
            <a:r>
              <a:rPr lang="en-US" sz="2200" b="1" dirty="0">
                <a:solidFill>
                  <a:srgbClr val="F1F5F9"/>
                </a:solidFill>
                <a:latin typeface="Calibri" pitchFamily="34" charset="0"/>
                <a:ea typeface="Calibri" pitchFamily="34" charset="-122"/>
                <a:cs typeface="Calibri" pitchFamily="34" charset="-120"/>
              </a:rPr>
              <a:t>What the plan says, </a:t>
            </a:r>
            <a:pPr indent="0" marL="0">
              <a:buNone/>
            </a:pPr>
            <a:r>
              <a:rPr lang="en-US" sz="2200" b="1" dirty="0">
                <a:solidFill>
                  <a:srgbClr val="2DD4BF"/>
                </a:solidFill>
                <a:latin typeface="Calibri" pitchFamily="34" charset="0"/>
                <a:ea typeface="Calibri" pitchFamily="34" charset="-122"/>
                <a:cs typeface="Calibri" pitchFamily="34" charset="-120"/>
              </a:rPr>
              <a:t>at the substation, at the right hour.</a:t>
            </a:r>
            <a:endParaRPr lang="en-US" sz="2200" dirty="0"/>
          </a:p>
        </p:txBody>
      </p:sp>
      <p:sp>
        <p:nvSpPr>
          <p:cNvPr id="5" name="Text 3"/>
          <p:cNvSpPr txBox="1"/>
          <p:nvPr/>
        </p:nvSpPr>
        <p:spPr>
          <a:xfrm>
            <a:off x="548640" y="3200400"/>
            <a:ext cx="3931920" cy="731520"/>
          </a:xfrm>
          <a:prstGeom prst="rect">
            <a:avLst/>
          </a:prstGeom>
          <a:noFill/>
          <a:ln/>
        </p:spPr>
        <p:txBody>
          <a:bodyPr wrap="square" lIns="0" tIns="0" rIns="0" bIns="0" rtlCol="0" anchor="t"/>
          <a:lstStyle/>
          <a:p>
            <a:pPr indent="0" marL="0">
              <a:buNone/>
            </a:pPr>
            <a:r>
              <a:rPr lang="en-US" sz="1400" dirty="0">
                <a:solidFill>
                  <a:srgbClr val="94A3B8"/>
                </a:solidFill>
                <a:latin typeface="Calibri" pitchFamily="34" charset="0"/>
                <a:ea typeface="Calibri" pitchFamily="34" charset="-122"/>
                <a:cs typeface="Calibri" pitchFamily="34" charset="-120"/>
              </a:rPr>
              <a:t>Chennai's power grid and flood console. Live grid, real rain, official maps, quoted plans.</a:t>
            </a:r>
            <a:endParaRPr lang="en-US" sz="1400" dirty="0"/>
          </a:p>
        </p:txBody>
      </p:sp>
      <p:sp>
        <p:nvSpPr>
          <p:cNvPr id="6" name="Text 4"/>
          <p:cNvSpPr txBox="1"/>
          <p:nvPr/>
        </p:nvSpPr>
        <p:spPr>
          <a:xfrm>
            <a:off x="548640" y="4343400"/>
            <a:ext cx="3657600" cy="274320"/>
          </a:xfrm>
          <a:prstGeom prst="rect">
            <a:avLst/>
          </a:prstGeom>
          <a:noFill/>
          <a:ln/>
        </p:spPr>
        <p:txBody>
          <a:bodyPr wrap="square" lIns="0" tIns="0" rIns="0" bIns="0" rtlCol="0" anchor="ctr"/>
          <a:lstStyle/>
          <a:p>
            <a:pPr indent="0" marL="0">
              <a:buNone/>
            </a:pPr>
            <a:r>
              <a:rPr lang="en-US" sz="1400" b="1" dirty="0">
                <a:solidFill>
                  <a:srgbClr val="2DD4BF"/>
                </a:solidFill>
                <a:latin typeface="Calibri" pitchFamily="34" charset="0"/>
                <a:ea typeface="Calibri" pitchFamily="34" charset="-122"/>
                <a:cs typeface="Calibri" pitchFamily="34" charset="-120"/>
              </a:rPr>
              <a:t>surgegrid.web.app</a:t>
            </a:r>
            <a:endParaRPr lang="en-US" sz="1400" dirty="0"/>
          </a:p>
        </p:txBody>
      </p:sp>
      <p:sp>
        <p:nvSpPr>
          <p:cNvPr id="7" name="Shape 5"/>
          <p:cNvSpPr/>
          <p:nvPr/>
        </p:nvSpPr>
        <p:spPr>
          <a:xfrm>
            <a:off x="4791456" y="905256"/>
            <a:ext cx="3950208" cy="2574314"/>
          </a:xfrm>
          <a:prstGeom prst="roundRect">
            <a:avLst>
              <a:gd name="adj" fmla="val 2842"/>
            </a:avLst>
          </a:prstGeom>
          <a:solidFill>
            <a:srgbClr val="131C31"/>
          </a:solidFill>
          <a:ln w="9525">
            <a:solidFill>
              <a:srgbClr val="26344F"/>
            </a:solidFill>
            <a:prstDash val="solid"/>
          </a:ln>
        </p:spPr>
      </p:sp>
      <p:pic>
        <p:nvPicPr>
          <p:cNvPr id="8" name="Image 0" descr="C:\Users\rsiva\AppData\Local\Temp\claude\C--projects-surgegrid-ai\9e4d0c6c-264c-4265-bd49-1c2fd7b1a4ca\scratchpad\shots\c_peak.jpg">    </p:cNvPr>
          <p:cNvPicPr>
            <a:picLocks noChangeAspect="1"/>
          </p:cNvPicPr>
          <p:nvPr/>
        </p:nvPicPr>
        <p:blipFill>
          <a:blip r:embed="rId1"/>
          <a:stretch>
            <a:fillRect/>
          </a:stretch>
        </p:blipFill>
        <p:spPr>
          <a:xfrm>
            <a:off x="4846320" y="960120"/>
            <a:ext cx="3840480" cy="2464586"/>
          </a:xfrm>
          <a:prstGeom prst="rect">
            <a:avLst/>
          </a:prstGeom>
        </p:spPr>
      </p:pic>
      <p:sp>
        <p:nvSpPr>
          <p:cNvPr id="9" name="Text 6"/>
          <p:cNvSpPr txBox="1"/>
          <p:nvPr/>
        </p:nvSpPr>
        <p:spPr>
          <a:xfrm>
            <a:off x="4846320" y="3520440"/>
            <a:ext cx="3840480" cy="365760"/>
          </a:xfrm>
          <a:prstGeom prst="rect">
            <a:avLst/>
          </a:prstGeom>
          <a:noFill/>
          <a:ln/>
        </p:spPr>
        <p:txBody>
          <a:bodyPr wrap="square" lIns="0" tIns="0" rIns="0" bIns="0" rtlCol="0" anchor="t"/>
          <a:lstStyle/>
          <a:p>
            <a:pPr indent="0" marL="0">
              <a:buNone/>
            </a:pPr>
            <a:r>
              <a:rPr lang="en-US" sz="1000" i="1" dirty="0">
                <a:solidFill>
                  <a:srgbClr val="94A3B8"/>
                </a:solidFill>
                <a:latin typeface="Calibri" pitchFamily="34" charset="0"/>
                <a:ea typeface="Calibri" pitchFamily="34" charset="-122"/>
                <a:cs typeface="Calibri" pitchFamily="34" charset="-120"/>
              </a:rPr>
              <a:t>Live site, Cyclone Michaung replay at the peak: red and orange rings mark sites to check.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100" b="1" spc="100" kern="0" dirty="0">
                <a:solidFill>
                  <a:srgbClr val="2DD4BF"/>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457200" y="530352"/>
            <a:ext cx="8229600" cy="777240"/>
          </a:xfrm>
          <a:prstGeom prst="rect">
            <a:avLst/>
          </a:prstGeom>
          <a:noFill/>
          <a:ln/>
        </p:spPr>
        <p:txBody>
          <a:bodyPr wrap="square" lIns="0" tIns="0" rIns="0" bIns="0" rtlCol="0" anchor="t"/>
          <a:lstStyle/>
          <a:p>
            <a:pPr indent="0" marL="0">
              <a:buNone/>
            </a:pPr>
            <a:r>
              <a:rPr lang="en-US" sz="2800" b="1" dirty="0">
                <a:solidFill>
                  <a:srgbClr val="F1F5F9"/>
                </a:solidFill>
                <a:latin typeface="Calibri" pitchFamily="34" charset="0"/>
                <a:ea typeface="Calibri" pitchFamily="34" charset="-122"/>
                <a:cs typeface="Calibri" pitchFamily="34" charset="-120"/>
              </a:rPr>
              <a:t>The plans exist. Finding the line in time is hard.</a:t>
            </a:r>
            <a:endParaRPr lang="en-US" sz="2800" dirty="0"/>
          </a:p>
        </p:txBody>
      </p:sp>
      <p:sp>
        <p:nvSpPr>
          <p:cNvPr id="4" name="Text 2"/>
          <p:cNvSpPr txBox="1"/>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SurgeGrid AI  ·  surgegrid.web.app</a:t>
            </a:r>
            <a:endParaRPr lang="en-US" sz="900" dirty="0"/>
          </a:p>
        </p:txBody>
      </p:sp>
      <p:sp>
        <p:nvSpPr>
          <p:cNvPr id="5" name="Text 3"/>
          <p:cNvSpPr txBox="1"/>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 / 16</a:t>
            </a:r>
            <a:endParaRPr lang="en-US" sz="900" dirty="0"/>
          </a:p>
        </p:txBody>
      </p:sp>
      <p:sp>
        <p:nvSpPr>
          <p:cNvPr id="6" name="Shape 4"/>
          <p:cNvSpPr/>
          <p:nvPr/>
        </p:nvSpPr>
        <p:spPr>
          <a:xfrm>
            <a:off x="457200" y="1508760"/>
            <a:ext cx="2606040" cy="2331720"/>
          </a:xfrm>
          <a:prstGeom prst="roundRect">
            <a:avLst>
              <a:gd name="adj" fmla="val 3137"/>
            </a:avLst>
          </a:prstGeom>
          <a:solidFill>
            <a:srgbClr val="131C31"/>
          </a:solidFill>
          <a:ln w="9525">
            <a:solidFill>
              <a:srgbClr val="26344F"/>
            </a:solidFill>
            <a:prstDash val="solid"/>
          </a:ln>
        </p:spPr>
      </p:sp>
      <p:sp>
        <p:nvSpPr>
          <p:cNvPr id="7" name="Text 5"/>
          <p:cNvSpPr txBox="1"/>
          <p:nvPr/>
        </p:nvSpPr>
        <p:spPr>
          <a:xfrm>
            <a:off x="640080" y="1645920"/>
            <a:ext cx="2240280" cy="731520"/>
          </a:xfrm>
          <a:prstGeom prst="rect">
            <a:avLst/>
          </a:prstGeom>
          <a:noFill/>
          <a:ln/>
        </p:spPr>
        <p:txBody>
          <a:bodyPr wrap="square" lIns="0" tIns="0" rIns="0" bIns="0" rtlCol="0" anchor="ctr"/>
          <a:lstStyle/>
          <a:p>
            <a:pPr indent="0" marL="0">
              <a:buNone/>
            </a:pPr>
            <a:r>
              <a:rPr lang="en-US" sz="3800" b="1" dirty="0">
                <a:solidFill>
                  <a:srgbClr val="2DD4BF"/>
                </a:solidFill>
                <a:latin typeface="Calibri" pitchFamily="34" charset="0"/>
                <a:ea typeface="Calibri" pitchFamily="34" charset="-122"/>
                <a:cs typeface="Calibri" pitchFamily="34" charset="-120"/>
              </a:rPr>
              <a:t>2.0 m</a:t>
            </a:r>
            <a:endParaRPr lang="en-US" sz="3800" dirty="0"/>
          </a:p>
        </p:txBody>
      </p:sp>
      <p:sp>
        <p:nvSpPr>
          <p:cNvPr id="8" name="Text 6"/>
          <p:cNvSpPr txBox="1"/>
          <p:nvPr/>
        </p:nvSpPr>
        <p:spPr>
          <a:xfrm>
            <a:off x="640080" y="2423160"/>
            <a:ext cx="2240280" cy="914400"/>
          </a:xfrm>
          <a:prstGeom prst="rect">
            <a:avLst/>
          </a:prstGeom>
          <a:noFill/>
          <a:ln/>
        </p:spPr>
        <p:txBody>
          <a:bodyPr wrap="square" lIns="0" tIns="0" rIns="0" bIns="0" rtlCol="0" anchor="t"/>
          <a:lstStyle/>
          <a:p>
            <a:pPr indent="0" marL="0">
              <a:buNone/>
            </a:pPr>
            <a:r>
              <a:rPr lang="en-US" sz="1300" dirty="0">
                <a:solidFill>
                  <a:srgbClr val="F1F5F9"/>
                </a:solidFill>
                <a:latin typeface="Calibri" pitchFamily="34" charset="0"/>
                <a:ea typeface="Calibri" pitchFamily="34" charset="-122"/>
                <a:cs typeface="Calibri" pitchFamily="34" charset="-120"/>
              </a:rPr>
              <a:t>Chennai averages "barely 2.0 m above mean sea level".</a:t>
            </a:r>
            <a:endParaRPr lang="en-US" sz="1300" dirty="0"/>
          </a:p>
        </p:txBody>
      </p:sp>
      <p:sp>
        <p:nvSpPr>
          <p:cNvPr id="9" name="Text 7"/>
          <p:cNvSpPr txBox="1"/>
          <p:nvPr/>
        </p:nvSpPr>
        <p:spPr>
          <a:xfrm>
            <a:off x="640080" y="3429000"/>
            <a:ext cx="2240280" cy="320040"/>
          </a:xfrm>
          <a:prstGeom prst="rect">
            <a:avLst/>
          </a:prstGeom>
          <a:noFill/>
          <a:ln/>
        </p:spPr>
        <p:txBody>
          <a:bodyPr wrap="square" lIns="0" tIns="0" rIns="0" bIns="0" rtlCol="0" anchor="t"/>
          <a:lstStyle/>
          <a:p>
            <a:pPr indent="0" marL="0">
              <a:buNone/>
            </a:pPr>
            <a:r>
              <a:rPr lang="en-US" sz="1000" i="1" dirty="0">
                <a:solidFill>
                  <a:srgbClr val="94A3B8"/>
                </a:solidFill>
                <a:latin typeface="Calibri" pitchFamily="34" charset="0"/>
                <a:ea typeface="Calibri" pitchFamily="34" charset="-122"/>
                <a:cs typeface="Calibri" pitchFamily="34" charset="-120"/>
              </a:rPr>
              <a:t>GCC City Disaster Management Plan</a:t>
            </a:r>
            <a:endParaRPr lang="en-US" sz="1000" dirty="0"/>
          </a:p>
        </p:txBody>
      </p:sp>
      <p:sp>
        <p:nvSpPr>
          <p:cNvPr id="10" name="Shape 8"/>
          <p:cNvSpPr/>
          <p:nvPr/>
        </p:nvSpPr>
        <p:spPr>
          <a:xfrm>
            <a:off x="3246120" y="1508760"/>
            <a:ext cx="2606040" cy="2331720"/>
          </a:xfrm>
          <a:prstGeom prst="roundRect">
            <a:avLst>
              <a:gd name="adj" fmla="val 3137"/>
            </a:avLst>
          </a:prstGeom>
          <a:solidFill>
            <a:srgbClr val="131C31"/>
          </a:solidFill>
          <a:ln w="9525">
            <a:solidFill>
              <a:srgbClr val="26344F"/>
            </a:solidFill>
            <a:prstDash val="solid"/>
          </a:ln>
        </p:spPr>
      </p:sp>
      <p:sp>
        <p:nvSpPr>
          <p:cNvPr id="11" name="Text 9"/>
          <p:cNvSpPr txBox="1"/>
          <p:nvPr/>
        </p:nvSpPr>
        <p:spPr>
          <a:xfrm>
            <a:off x="3429000" y="1645920"/>
            <a:ext cx="2240280" cy="731520"/>
          </a:xfrm>
          <a:prstGeom prst="rect">
            <a:avLst/>
          </a:prstGeom>
          <a:noFill/>
          <a:ln/>
        </p:spPr>
        <p:txBody>
          <a:bodyPr wrap="square" lIns="0" tIns="0" rIns="0" bIns="0" rtlCol="0" anchor="ctr"/>
          <a:lstStyle/>
          <a:p>
            <a:pPr indent="0" marL="0">
              <a:buNone/>
            </a:pPr>
            <a:r>
              <a:rPr lang="en-US" sz="3800" b="1" dirty="0">
                <a:solidFill>
                  <a:srgbClr val="F59E0B"/>
                </a:solidFill>
                <a:latin typeface="Calibri" pitchFamily="34" charset="0"/>
                <a:ea typeface="Calibri" pitchFamily="34" charset="-122"/>
                <a:cs typeface="Calibri" pitchFamily="34" charset="-120"/>
              </a:rPr>
              <a:t>6 ft · 41</a:t>
            </a:r>
            <a:endParaRPr lang="en-US" sz="3800" dirty="0"/>
          </a:p>
        </p:txBody>
      </p:sp>
      <p:sp>
        <p:nvSpPr>
          <p:cNvPr id="12" name="Text 10"/>
          <p:cNvSpPr txBox="1"/>
          <p:nvPr/>
        </p:nvSpPr>
        <p:spPr>
          <a:xfrm>
            <a:off x="3429000" y="2423160"/>
            <a:ext cx="2240280" cy="914400"/>
          </a:xfrm>
          <a:prstGeom prst="rect">
            <a:avLst/>
          </a:prstGeom>
          <a:noFill/>
          <a:ln/>
        </p:spPr>
        <p:txBody>
          <a:bodyPr wrap="square" lIns="0" tIns="0" rIns="0" bIns="0" rtlCol="0" anchor="t"/>
          <a:lstStyle/>
          <a:p>
            <a:pPr indent="0" marL="0">
              <a:buNone/>
            </a:pPr>
            <a:r>
              <a:rPr lang="en-US" sz="1300" dirty="0">
                <a:solidFill>
                  <a:srgbClr val="F1F5F9"/>
                </a:solidFill>
                <a:latin typeface="Calibri" pitchFamily="34" charset="0"/>
                <a:ea typeface="Calibri" pitchFamily="34" charset="-122"/>
                <a:cs typeface="Calibri" pitchFamily="34" charset="-120"/>
              </a:rPr>
              <a:t>2015 floods: water up to 6 feet in substations, and 41 substations kept off.</a:t>
            </a:r>
            <a:endParaRPr lang="en-US" sz="1300" dirty="0"/>
          </a:p>
        </p:txBody>
      </p:sp>
      <p:sp>
        <p:nvSpPr>
          <p:cNvPr id="13" name="Text 11"/>
          <p:cNvSpPr txBox="1"/>
          <p:nvPr/>
        </p:nvSpPr>
        <p:spPr>
          <a:xfrm>
            <a:off x="3429000" y="3429000"/>
            <a:ext cx="2240280" cy="320040"/>
          </a:xfrm>
          <a:prstGeom prst="rect">
            <a:avLst/>
          </a:prstGeom>
          <a:noFill/>
          <a:ln/>
        </p:spPr>
        <p:txBody>
          <a:bodyPr wrap="square" lIns="0" tIns="0" rIns="0" bIns="0" rtlCol="0" anchor="t"/>
          <a:lstStyle/>
          <a:p>
            <a:pPr indent="0" marL="0">
              <a:buNone/>
            </a:pPr>
            <a:r>
              <a:rPr lang="en-US" sz="1000" i="1" dirty="0">
                <a:solidFill>
                  <a:srgbClr val="94A3B8"/>
                </a:solidFill>
                <a:latin typeface="Calibri" pitchFamily="34" charset="0"/>
                <a:ea typeface="Calibri" pitchFamily="34" charset="-122"/>
                <a:cs typeface="Calibri" pitchFamily="34" charset="-120"/>
              </a:rPr>
              <a:t>TANGEDCO Disaster Management Plan</a:t>
            </a:r>
            <a:endParaRPr lang="en-US" sz="1000" dirty="0"/>
          </a:p>
        </p:txBody>
      </p:sp>
      <p:sp>
        <p:nvSpPr>
          <p:cNvPr id="14" name="Shape 12"/>
          <p:cNvSpPr/>
          <p:nvPr/>
        </p:nvSpPr>
        <p:spPr>
          <a:xfrm>
            <a:off x="6035040" y="1508760"/>
            <a:ext cx="2606040" cy="2331720"/>
          </a:xfrm>
          <a:prstGeom prst="roundRect">
            <a:avLst>
              <a:gd name="adj" fmla="val 3137"/>
            </a:avLst>
          </a:prstGeom>
          <a:solidFill>
            <a:srgbClr val="131C31"/>
          </a:solidFill>
          <a:ln w="9525">
            <a:solidFill>
              <a:srgbClr val="26344F"/>
            </a:solidFill>
            <a:prstDash val="solid"/>
          </a:ln>
        </p:spPr>
      </p:sp>
      <p:sp>
        <p:nvSpPr>
          <p:cNvPr id="15" name="Text 13"/>
          <p:cNvSpPr txBox="1"/>
          <p:nvPr/>
        </p:nvSpPr>
        <p:spPr>
          <a:xfrm>
            <a:off x="6217920" y="1645920"/>
            <a:ext cx="2240280" cy="731520"/>
          </a:xfrm>
          <a:prstGeom prst="rect">
            <a:avLst/>
          </a:prstGeom>
          <a:noFill/>
          <a:ln/>
        </p:spPr>
        <p:txBody>
          <a:bodyPr wrap="square" lIns="0" tIns="0" rIns="0" bIns="0" rtlCol="0" anchor="ctr"/>
          <a:lstStyle/>
          <a:p>
            <a:pPr indent="0" marL="0">
              <a:buNone/>
            </a:pPr>
            <a:r>
              <a:rPr lang="en-US" sz="3800" b="1" dirty="0">
                <a:solidFill>
                  <a:srgbClr val="FB7185"/>
                </a:solidFill>
                <a:latin typeface="Calibri" pitchFamily="34" charset="0"/>
                <a:ea typeface="Calibri" pitchFamily="34" charset="-122"/>
                <a:cs typeface="Calibri" pitchFamily="34" charset="-120"/>
              </a:rPr>
              <a:t>Vardah</a:t>
            </a:r>
            <a:endParaRPr lang="en-US" sz="3800" dirty="0"/>
          </a:p>
        </p:txBody>
      </p:sp>
      <p:sp>
        <p:nvSpPr>
          <p:cNvPr id="16" name="Text 14"/>
          <p:cNvSpPr txBox="1"/>
          <p:nvPr/>
        </p:nvSpPr>
        <p:spPr>
          <a:xfrm>
            <a:off x="6217920" y="2423160"/>
            <a:ext cx="2240280" cy="914400"/>
          </a:xfrm>
          <a:prstGeom prst="rect">
            <a:avLst/>
          </a:prstGeom>
          <a:noFill/>
          <a:ln/>
        </p:spPr>
        <p:txBody>
          <a:bodyPr wrap="square" lIns="0" tIns="0" rIns="0" bIns="0" rtlCol="0" anchor="t"/>
          <a:lstStyle/>
          <a:p>
            <a:pPr indent="0" marL="0">
              <a:buNone/>
            </a:pPr>
            <a:r>
              <a:rPr lang="en-US" sz="1300" dirty="0">
                <a:solidFill>
                  <a:srgbClr val="F1F5F9"/>
                </a:solidFill>
                <a:latin typeface="Calibri" pitchFamily="34" charset="0"/>
                <a:ea typeface="Calibri" pitchFamily="34" charset="-122"/>
                <a:cs typeface="Calibri" pitchFamily="34" charset="-120"/>
              </a:rPr>
              <a:t>2016 cyclone: supply cut in many parts; fallen trees delayed restoration.</a:t>
            </a:r>
            <a:endParaRPr lang="en-US" sz="1300" dirty="0"/>
          </a:p>
        </p:txBody>
      </p:sp>
      <p:sp>
        <p:nvSpPr>
          <p:cNvPr id="17" name="Text 15"/>
          <p:cNvSpPr txBox="1"/>
          <p:nvPr/>
        </p:nvSpPr>
        <p:spPr>
          <a:xfrm>
            <a:off x="6217920" y="3429000"/>
            <a:ext cx="2240280" cy="320040"/>
          </a:xfrm>
          <a:prstGeom prst="rect">
            <a:avLst/>
          </a:prstGeom>
          <a:noFill/>
          <a:ln/>
        </p:spPr>
        <p:txBody>
          <a:bodyPr wrap="square" lIns="0" tIns="0" rIns="0" bIns="0" rtlCol="0" anchor="t"/>
          <a:lstStyle/>
          <a:p>
            <a:pPr indent="0" marL="0">
              <a:buNone/>
            </a:pPr>
            <a:r>
              <a:rPr lang="en-US" sz="1000" i="1" dirty="0">
                <a:solidFill>
                  <a:srgbClr val="94A3B8"/>
                </a:solidFill>
                <a:latin typeface="Calibri" pitchFamily="34" charset="0"/>
                <a:ea typeface="Calibri" pitchFamily="34" charset="-122"/>
                <a:cs typeface="Calibri" pitchFamily="34" charset="-120"/>
              </a:rPr>
              <a:t>TANGEDCO and GCC plans</a:t>
            </a:r>
            <a:endParaRPr lang="en-US" sz="1000" dirty="0"/>
          </a:p>
        </p:txBody>
      </p:sp>
      <p:sp>
        <p:nvSpPr>
          <p:cNvPr id="18" name="Text 16"/>
          <p:cNvSpPr txBox="1"/>
          <p:nvPr/>
        </p:nvSpPr>
        <p:spPr>
          <a:xfrm>
            <a:off x="457200" y="4069080"/>
            <a:ext cx="8229600" cy="548640"/>
          </a:xfrm>
          <a:prstGeom prst="rect">
            <a:avLst/>
          </a:prstGeom>
          <a:noFill/>
          <a:ln/>
        </p:spPr>
        <p:txBody>
          <a:bodyPr wrap="square" lIns="0" tIns="0" rIns="0" bIns="0" rtlCol="0" anchor="ctr"/>
          <a:lstStyle/>
          <a:p>
            <a:pPr indent="0" marL="0">
              <a:buNone/>
            </a:pPr>
            <a:r>
              <a:rPr lang="en-US" sz="1600" b="1" dirty="0">
                <a:solidFill>
                  <a:srgbClr val="F1F5F9"/>
                </a:solidFill>
                <a:latin typeface="Calibri" pitchFamily="34" charset="0"/>
                <a:ea typeface="Calibri" pitchFamily="34" charset="-122"/>
                <a:cs typeface="Calibri" pitchFamily="34" charset="-120"/>
              </a:rPr>
              <a:t>A control room has minutes, not hours, to find the right line for the right substation, and the right person to call.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100" b="1" spc="100" kern="0" dirty="0">
                <a:solidFill>
                  <a:srgbClr val="2DD4BF"/>
                </a:solidFill>
                <a:latin typeface="Calibri" pitchFamily="34" charset="0"/>
                <a:ea typeface="Calibri" pitchFamily="34" charset="-122"/>
                <a:cs typeface="Calibri" pitchFamily="34" charset="-120"/>
              </a:rPr>
              <a:t>OUR INSIGHT</a:t>
            </a:r>
            <a:endParaRPr lang="en-US" sz="1100" dirty="0"/>
          </a:p>
        </p:txBody>
      </p:sp>
      <p:sp>
        <p:nvSpPr>
          <p:cNvPr id="3" name="Text 1"/>
          <p:cNvSpPr txBox="1"/>
          <p:nvPr/>
        </p:nvSpPr>
        <p:spPr>
          <a:xfrm>
            <a:off x="457200" y="530352"/>
            <a:ext cx="8229600" cy="777240"/>
          </a:xfrm>
          <a:prstGeom prst="rect">
            <a:avLst/>
          </a:prstGeom>
          <a:noFill/>
          <a:ln/>
        </p:spPr>
        <p:txBody>
          <a:bodyPr wrap="square" lIns="0" tIns="0" rIns="0" bIns="0" rtlCol="0" anchor="t"/>
          <a:lstStyle/>
          <a:p>
            <a:pPr indent="0" marL="0">
              <a:buNone/>
            </a:pPr>
            <a:r>
              <a:rPr lang="en-US" sz="2800" b="1" dirty="0">
                <a:solidFill>
                  <a:srgbClr val="F1F5F9"/>
                </a:solidFill>
                <a:latin typeface="Calibri" pitchFamily="34" charset="0"/>
                <a:ea typeface="Calibri" pitchFamily="34" charset="-122"/>
                <a:cs typeface="Calibri" pitchFamily="34" charset="-120"/>
              </a:rPr>
              <a:t>The plans never give a number that forces a shut-off. So we don't invent one.</a:t>
            </a:r>
            <a:endParaRPr lang="en-US" sz="2800" dirty="0"/>
          </a:p>
        </p:txBody>
      </p:sp>
      <p:sp>
        <p:nvSpPr>
          <p:cNvPr id="4" name="Text 2"/>
          <p:cNvSpPr txBox="1"/>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SurgeGrid AI  ·  surgegrid.web.app</a:t>
            </a:r>
            <a:endParaRPr lang="en-US" sz="900" dirty="0"/>
          </a:p>
        </p:txBody>
      </p:sp>
      <p:sp>
        <p:nvSpPr>
          <p:cNvPr id="5" name="Text 3"/>
          <p:cNvSpPr txBox="1"/>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 / 16</a:t>
            </a:r>
            <a:endParaRPr lang="en-US" sz="900" dirty="0"/>
          </a:p>
        </p:txBody>
      </p:sp>
      <p:sp>
        <p:nvSpPr>
          <p:cNvPr id="6" name="Text 4"/>
          <p:cNvSpPr txBox="1"/>
          <p:nvPr/>
        </p:nvSpPr>
        <p:spPr>
          <a:xfrm>
            <a:off x="457200" y="1417320"/>
            <a:ext cx="8229600" cy="365760"/>
          </a:xfrm>
          <a:prstGeom prst="rect">
            <a:avLst/>
          </a:prstGeom>
          <a:noFill/>
          <a:ln/>
        </p:spPr>
        <p:txBody>
          <a:bodyPr wrap="square" lIns="0" tIns="0" rIns="0" bIns="0" rtlCol="0" anchor="ctr"/>
          <a:lstStyle/>
          <a:p>
            <a:pPr indent="0" marL="0">
              <a:buNone/>
            </a:pPr>
            <a:r>
              <a:rPr lang="en-US" sz="1500" dirty="0">
                <a:solidFill>
                  <a:srgbClr val="94A3B8"/>
                </a:solidFill>
                <a:latin typeface="Calibri" pitchFamily="34" charset="0"/>
                <a:ea typeface="Calibri" pitchFamily="34" charset="-122"/>
                <a:cs typeface="Calibri" pitchFamily="34" charset="-120"/>
              </a:rPr>
              <a:t>Official plans: supply may be switched off </a:t>
            </a:r>
            <a:pPr indent="0" marL="0">
              <a:buNone/>
            </a:pPr>
            <a:r>
              <a:rPr lang="en-US" sz="1500" b="1" dirty="0">
                <a:solidFill>
                  <a:srgbClr val="F59E0B"/>
                </a:solidFill>
                <a:latin typeface="Calibri" pitchFamily="34" charset="0"/>
                <a:ea typeface="Calibri" pitchFamily="34" charset="-122"/>
                <a:cs typeface="Calibri" pitchFamily="34" charset="-120"/>
              </a:rPr>
              <a:t>"if required"</a:t>
            </a:r>
            <a:pPr indent="0" marL="0">
              <a:buNone/>
            </a:pPr>
            <a:r>
              <a:rPr lang="en-US" sz="1500" dirty="0">
                <a:solidFill>
                  <a:srgbClr val="94A3B8"/>
                </a:solidFill>
                <a:latin typeface="Calibri" pitchFamily="34" charset="0"/>
                <a:ea typeface="Calibri" pitchFamily="34" charset="-122"/>
                <a:cs typeface="Calibri" pitchFamily="34" charset="-120"/>
              </a:rPr>
              <a:t>. No wind speed or flood depth is given.</a:t>
            </a:r>
            <a:endParaRPr lang="en-US" sz="1500" dirty="0"/>
          </a:p>
        </p:txBody>
      </p:sp>
      <p:sp>
        <p:nvSpPr>
          <p:cNvPr id="7" name="Shape 5"/>
          <p:cNvSpPr/>
          <p:nvPr/>
        </p:nvSpPr>
        <p:spPr>
          <a:xfrm>
            <a:off x="457200" y="1965960"/>
            <a:ext cx="4023360" cy="2514600"/>
          </a:xfrm>
          <a:prstGeom prst="roundRect">
            <a:avLst>
              <a:gd name="adj" fmla="val 2909"/>
            </a:avLst>
          </a:prstGeom>
          <a:solidFill>
            <a:srgbClr val="131C31"/>
          </a:solidFill>
          <a:ln w="9525">
            <a:solidFill>
              <a:srgbClr val="26344F"/>
            </a:solidFill>
            <a:prstDash val="solid"/>
          </a:ln>
        </p:spPr>
      </p:sp>
      <p:sp>
        <p:nvSpPr>
          <p:cNvPr id="8" name="Shape 6"/>
          <p:cNvSpPr/>
          <p:nvPr/>
        </p:nvSpPr>
        <p:spPr>
          <a:xfrm>
            <a:off x="4663440" y="1965960"/>
            <a:ext cx="4023360" cy="2514600"/>
          </a:xfrm>
          <a:prstGeom prst="roundRect">
            <a:avLst>
              <a:gd name="adj" fmla="val 2909"/>
            </a:avLst>
          </a:prstGeom>
          <a:solidFill>
            <a:srgbClr val="131C31"/>
          </a:solidFill>
          <a:ln w="9525">
            <a:solidFill>
              <a:srgbClr val="26344F"/>
            </a:solidFill>
            <a:prstDash val="solid"/>
          </a:ln>
        </p:spPr>
      </p:sp>
      <p:sp>
        <p:nvSpPr>
          <p:cNvPr id="9" name="Text 7"/>
          <p:cNvSpPr txBox="1"/>
          <p:nvPr/>
        </p:nvSpPr>
        <p:spPr>
          <a:xfrm>
            <a:off x="685800" y="2103120"/>
            <a:ext cx="3566160" cy="365760"/>
          </a:xfrm>
          <a:prstGeom prst="rect">
            <a:avLst/>
          </a:prstGeom>
          <a:noFill/>
          <a:ln/>
        </p:spPr>
        <p:txBody>
          <a:bodyPr wrap="square" lIns="0" tIns="0" rIns="0" bIns="0" rtlCol="0" anchor="ctr"/>
          <a:lstStyle/>
          <a:p>
            <a:pPr indent="0" marL="0">
              <a:buNone/>
            </a:pPr>
            <a:r>
              <a:rPr lang="en-US" sz="1800" b="1" dirty="0">
                <a:solidFill>
                  <a:srgbClr val="FB7185"/>
                </a:solidFill>
                <a:latin typeface="Calibri" pitchFamily="34" charset="0"/>
                <a:ea typeface="Calibri" pitchFamily="34" charset="-122"/>
                <a:cs typeface="Calibri" pitchFamily="34" charset="-120"/>
              </a:rPr>
              <a:t>Many tools</a:t>
            </a:r>
            <a:endParaRPr lang="en-US" sz="1800" dirty="0"/>
          </a:p>
        </p:txBody>
      </p:sp>
      <p:sp>
        <p:nvSpPr>
          <p:cNvPr id="10" name="Text 8"/>
          <p:cNvSpPr txBox="1"/>
          <p:nvPr/>
        </p:nvSpPr>
        <p:spPr>
          <a:xfrm>
            <a:off x="685800" y="2560320"/>
            <a:ext cx="3566160" cy="17373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1F5F9"/>
                </a:solidFill>
                <a:latin typeface="Calibri" pitchFamily="34" charset="0"/>
                <a:ea typeface="Calibri" pitchFamily="34" charset="-122"/>
                <a:cs typeface="Calibri" pitchFamily="34" charset="-120"/>
              </a:rPr>
              <a:t>Invent thresholds and present them as rules.</a:t>
            </a:r>
            <a:endParaRPr lang="en-US" sz="1400" dirty="0"/>
          </a:p>
          <a:p>
            <a:pPr marL="342900" indent="-342900">
              <a:spcAft>
                <a:spcPts val="800"/>
              </a:spcAft>
              <a:buSzPct val="100000"/>
              <a:buChar char="•"/>
            </a:pPr>
            <a:r>
              <a:rPr lang="en-US" sz="1400" dirty="0">
                <a:solidFill>
                  <a:srgbClr val="F1F5F9"/>
                </a:solidFill>
                <a:latin typeface="Calibri" pitchFamily="34" charset="0"/>
                <a:ea typeface="Calibri" pitchFamily="34" charset="-122"/>
                <a:cs typeface="Calibri" pitchFamily="34" charset="-120"/>
              </a:rPr>
              <a:t>A control room cannot tell which numbers are official.</a:t>
            </a:r>
            <a:endParaRPr lang="en-US" sz="1400" dirty="0"/>
          </a:p>
          <a:p>
            <a:pPr marL="342900" indent="-342900">
              <a:spcAft>
                <a:spcPts val="800"/>
              </a:spcAft>
              <a:buSzPct val="100000"/>
              <a:buChar char="•"/>
            </a:pPr>
            <a:r>
              <a:rPr lang="en-US" sz="1400" dirty="0">
                <a:solidFill>
                  <a:srgbClr val="F1F5F9"/>
                </a:solidFill>
                <a:latin typeface="Calibri" pitchFamily="34" charset="0"/>
                <a:ea typeface="Calibri" pitchFamily="34" charset="-122"/>
                <a:cs typeface="Calibri" pitchFamily="34" charset="-120"/>
              </a:rPr>
              <a:t>A wrong trip level is worse than none.</a:t>
            </a:r>
            <a:endParaRPr lang="en-US" sz="1400" dirty="0"/>
          </a:p>
        </p:txBody>
      </p:sp>
      <p:sp>
        <p:nvSpPr>
          <p:cNvPr id="11" name="Text 9"/>
          <p:cNvSpPr txBox="1"/>
          <p:nvPr/>
        </p:nvSpPr>
        <p:spPr>
          <a:xfrm>
            <a:off x="4892040" y="2103120"/>
            <a:ext cx="3566160" cy="365760"/>
          </a:xfrm>
          <a:prstGeom prst="rect">
            <a:avLst/>
          </a:prstGeom>
          <a:noFill/>
          <a:ln/>
        </p:spPr>
        <p:txBody>
          <a:bodyPr wrap="square" lIns="0" tIns="0" rIns="0" bIns="0" rtlCol="0" anchor="ctr"/>
          <a:lstStyle/>
          <a:p>
            <a:pPr indent="0" marL="0">
              <a:buNone/>
            </a:pPr>
            <a:r>
              <a:rPr lang="en-US" sz="1800" b="1" dirty="0">
                <a:solidFill>
                  <a:srgbClr val="2DD4BF"/>
                </a:solidFill>
                <a:latin typeface="Calibri" pitchFamily="34" charset="0"/>
                <a:ea typeface="Calibri" pitchFamily="34" charset="-122"/>
                <a:cs typeface="Calibri" pitchFamily="34" charset="-120"/>
              </a:rPr>
              <a:t>SurgeGrid</a:t>
            </a:r>
            <a:endParaRPr lang="en-US" sz="1800" dirty="0"/>
          </a:p>
        </p:txBody>
      </p:sp>
      <p:sp>
        <p:nvSpPr>
          <p:cNvPr id="12" name="Text 10"/>
          <p:cNvSpPr txBox="1"/>
          <p:nvPr/>
        </p:nvSpPr>
        <p:spPr>
          <a:xfrm>
            <a:off x="4892040" y="2560320"/>
            <a:ext cx="3566160" cy="17373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1F5F9"/>
                </a:solidFill>
                <a:latin typeface="Calibri" pitchFamily="34" charset="0"/>
                <a:ea typeface="Calibri" pitchFamily="34" charset="-122"/>
                <a:cs typeface="Calibri" pitchFamily="34" charset="-120"/>
              </a:rPr>
              <a:t>We checked four plans and removed every rule they do not contain.</a:t>
            </a:r>
            <a:endParaRPr lang="en-US" sz="1400" dirty="0"/>
          </a:p>
          <a:p>
            <a:pPr marL="342900" indent="-342900">
              <a:spcAft>
                <a:spcPts val="800"/>
              </a:spcAft>
              <a:buSzPct val="100000"/>
              <a:buChar char="•"/>
            </a:pPr>
            <a:r>
              <a:rPr lang="en-US" sz="1400" dirty="0">
                <a:solidFill>
                  <a:srgbClr val="F1F5F9"/>
                </a:solidFill>
                <a:latin typeface="Calibri" pitchFamily="34" charset="0"/>
                <a:ea typeface="Calibri" pitchFamily="34" charset="-122"/>
                <a:cs typeface="Calibri" pitchFamily="34" charset="-120"/>
              </a:rPr>
              <a:t>The screen shows an operator decision, backed by the exact quote, with plan and page.</a:t>
            </a:r>
            <a:endParaRPr lang="en-US" sz="1400" dirty="0"/>
          </a:p>
          <a:p>
            <a:pPr marL="342900" indent="-342900">
              <a:spcAft>
                <a:spcPts val="800"/>
              </a:spcAft>
              <a:buSzPct val="100000"/>
              <a:buChar char="•"/>
            </a:pPr>
            <a:r>
              <a:rPr lang="en-US" sz="1400" dirty="0">
                <a:solidFill>
                  <a:srgbClr val="F1F5F9"/>
                </a:solidFill>
                <a:latin typeface="Calibri" pitchFamily="34" charset="0"/>
                <a:ea typeface="Calibri" pitchFamily="34" charset="-122"/>
                <a:cs typeface="Calibri" pitchFamily="34" charset="-120"/>
              </a:rPr>
              <a:t>Facts are labelled: official, real data with a source, or our own calculation.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100" b="1" spc="100" kern="0" dirty="0">
                <a:solidFill>
                  <a:srgbClr val="2DD4BF"/>
                </a:solidFill>
                <a:latin typeface="Calibri" pitchFamily="34" charset="0"/>
                <a:ea typeface="Calibri" pitchFamily="34" charset="-122"/>
                <a:cs typeface="Calibri" pitchFamily="34" charset="-120"/>
              </a:rPr>
              <a:t>WHAT SURGEGRID DOES</a:t>
            </a:r>
            <a:endParaRPr lang="en-US" sz="1100" dirty="0"/>
          </a:p>
        </p:txBody>
      </p:sp>
      <p:sp>
        <p:nvSpPr>
          <p:cNvPr id="3" name="Text 1"/>
          <p:cNvSpPr txBox="1"/>
          <p:nvPr/>
        </p:nvSpPr>
        <p:spPr>
          <a:xfrm>
            <a:off x="457200" y="530352"/>
            <a:ext cx="8229600" cy="777240"/>
          </a:xfrm>
          <a:prstGeom prst="rect">
            <a:avLst/>
          </a:prstGeom>
          <a:noFill/>
          <a:ln/>
        </p:spPr>
        <p:txBody>
          <a:bodyPr wrap="square" lIns="0" tIns="0" rIns="0" bIns="0" rtlCol="0" anchor="t"/>
          <a:lstStyle/>
          <a:p>
            <a:pPr indent="0" marL="0">
              <a:buNone/>
            </a:pPr>
            <a:r>
              <a:rPr lang="en-US" sz="2800" b="1" dirty="0">
                <a:solidFill>
                  <a:srgbClr val="F1F5F9"/>
                </a:solidFill>
                <a:latin typeface="Calibri" pitchFamily="34" charset="0"/>
                <a:ea typeface="Calibri" pitchFamily="34" charset="-122"/>
                <a:cs typeface="Calibri" pitchFamily="34" charset="-120"/>
              </a:rPr>
              <a:t>Four things, in the order a control room needs them.</a:t>
            </a:r>
            <a:endParaRPr lang="en-US" sz="2800" dirty="0"/>
          </a:p>
        </p:txBody>
      </p:sp>
      <p:sp>
        <p:nvSpPr>
          <p:cNvPr id="4" name="Text 2"/>
          <p:cNvSpPr txBox="1"/>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SurgeGrid AI  ·  surgegrid.web.app</a:t>
            </a:r>
            <a:endParaRPr lang="en-US" sz="900" dirty="0"/>
          </a:p>
        </p:txBody>
      </p:sp>
      <p:sp>
        <p:nvSpPr>
          <p:cNvPr id="5" name="Text 3"/>
          <p:cNvSpPr txBox="1"/>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 / 16</a:t>
            </a:r>
            <a:endParaRPr lang="en-US" sz="900" dirty="0"/>
          </a:p>
        </p:txBody>
      </p:sp>
      <p:sp>
        <p:nvSpPr>
          <p:cNvPr id="6" name="Shape 4"/>
          <p:cNvSpPr/>
          <p:nvPr/>
        </p:nvSpPr>
        <p:spPr>
          <a:xfrm>
            <a:off x="457200" y="1554480"/>
            <a:ext cx="329184" cy="329184"/>
          </a:xfrm>
          <a:prstGeom prst="ellipse">
            <a:avLst/>
          </a:prstGeom>
          <a:solidFill>
            <a:srgbClr val="2DD4BF"/>
          </a:solidFill>
          <a:ln w="12700">
            <a:solidFill>
              <a:srgbClr val="2DD4BF"/>
            </a:solidFill>
            <a:prstDash val="solid"/>
          </a:ln>
        </p:spPr>
      </p:sp>
      <p:sp>
        <p:nvSpPr>
          <p:cNvPr id="7" name="Text 5"/>
          <p:cNvSpPr txBox="1"/>
          <p:nvPr/>
        </p:nvSpPr>
        <p:spPr>
          <a:xfrm>
            <a:off x="457200" y="1554480"/>
            <a:ext cx="329184" cy="329184"/>
          </a:xfrm>
          <a:prstGeom prst="rect">
            <a:avLst/>
          </a:prstGeom>
          <a:noFill/>
          <a:ln/>
        </p:spPr>
        <p:txBody>
          <a:bodyPr wrap="square" lIns="0" tIns="0" rIns="0" bIns="0" rtlCol="0" anchor="ctr"/>
          <a:lstStyle/>
          <a:p>
            <a:pPr algn="ctr" indent="0" marL="0">
              <a:buNone/>
            </a:pPr>
            <a:r>
              <a:rPr lang="en-US" sz="1300" b="1" dirty="0">
                <a:solidFill>
                  <a:srgbClr val="0B1220"/>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914400" y="1463040"/>
            <a:ext cx="3291840" cy="27432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Live grid</a:t>
            </a:r>
            <a:endParaRPr lang="en-US" sz="1500" dirty="0"/>
          </a:p>
        </p:txBody>
      </p:sp>
      <p:sp>
        <p:nvSpPr>
          <p:cNvPr id="9" name="Text 7"/>
          <p:cNvSpPr txBox="1"/>
          <p:nvPr/>
        </p:nvSpPr>
        <p:spPr>
          <a:xfrm>
            <a:off x="914400" y="1737360"/>
            <a:ext cx="3291840" cy="50292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286 substations, 352 section offices, 2,678 feeders, with live notices, health grades and triage.</a:t>
            </a:r>
            <a:endParaRPr lang="en-US" sz="1100" dirty="0"/>
          </a:p>
        </p:txBody>
      </p:sp>
      <p:sp>
        <p:nvSpPr>
          <p:cNvPr id="10" name="Shape 8"/>
          <p:cNvSpPr/>
          <p:nvPr/>
        </p:nvSpPr>
        <p:spPr>
          <a:xfrm>
            <a:off x="457200" y="2395728"/>
            <a:ext cx="329184" cy="329184"/>
          </a:xfrm>
          <a:prstGeom prst="ellipse">
            <a:avLst/>
          </a:prstGeom>
          <a:solidFill>
            <a:srgbClr val="818CF8"/>
          </a:solidFill>
          <a:ln w="12700">
            <a:solidFill>
              <a:srgbClr val="818CF8"/>
            </a:solidFill>
            <a:prstDash val="solid"/>
          </a:ln>
        </p:spPr>
      </p:sp>
      <p:sp>
        <p:nvSpPr>
          <p:cNvPr id="11" name="Text 9"/>
          <p:cNvSpPr txBox="1"/>
          <p:nvPr/>
        </p:nvSpPr>
        <p:spPr>
          <a:xfrm>
            <a:off x="457200" y="2395728"/>
            <a:ext cx="329184" cy="329184"/>
          </a:xfrm>
          <a:prstGeom prst="rect">
            <a:avLst/>
          </a:prstGeom>
          <a:noFill/>
          <a:ln/>
        </p:spPr>
        <p:txBody>
          <a:bodyPr wrap="square" lIns="0" tIns="0" rIns="0" bIns="0" rtlCol="0" anchor="ctr"/>
          <a:lstStyle/>
          <a:p>
            <a:pPr algn="ctr" indent="0" marL="0">
              <a:buNone/>
            </a:pPr>
            <a:r>
              <a:rPr lang="en-US" sz="1300" b="1" dirty="0">
                <a:solidFill>
                  <a:srgbClr val="0B1220"/>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914400" y="2304288"/>
            <a:ext cx="3291840" cy="27432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Replay and exposure</a:t>
            </a:r>
            <a:endParaRPr lang="en-US" sz="1500" dirty="0"/>
          </a:p>
        </p:txBody>
      </p:sp>
      <p:sp>
        <p:nvSpPr>
          <p:cNvPr id="13" name="Text 11"/>
          <p:cNvSpPr txBox="1"/>
          <p:nvPr/>
        </p:nvSpPr>
        <p:spPr>
          <a:xfrm>
            <a:off x="914400" y="2578608"/>
            <a:ext cx="3291840" cy="50292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Cyclone Michaung in five steps: rain by area, official flood maps, a sites-to-check list at each step.</a:t>
            </a:r>
            <a:endParaRPr lang="en-US" sz="1100" dirty="0"/>
          </a:p>
        </p:txBody>
      </p:sp>
      <p:sp>
        <p:nvSpPr>
          <p:cNvPr id="14" name="Shape 12"/>
          <p:cNvSpPr/>
          <p:nvPr/>
        </p:nvSpPr>
        <p:spPr>
          <a:xfrm>
            <a:off x="457200" y="3236976"/>
            <a:ext cx="329184" cy="329184"/>
          </a:xfrm>
          <a:prstGeom prst="ellipse">
            <a:avLst/>
          </a:prstGeom>
          <a:solidFill>
            <a:srgbClr val="F59E0B"/>
          </a:solidFill>
          <a:ln w="12700">
            <a:solidFill>
              <a:srgbClr val="F59E0B"/>
            </a:solidFill>
            <a:prstDash val="solid"/>
          </a:ln>
        </p:spPr>
      </p:sp>
      <p:sp>
        <p:nvSpPr>
          <p:cNvPr id="15" name="Text 13"/>
          <p:cNvSpPr txBox="1"/>
          <p:nvPr/>
        </p:nvSpPr>
        <p:spPr>
          <a:xfrm>
            <a:off x="457200" y="3236976"/>
            <a:ext cx="329184" cy="329184"/>
          </a:xfrm>
          <a:prstGeom prst="rect">
            <a:avLst/>
          </a:prstGeom>
          <a:noFill/>
          <a:ln/>
        </p:spPr>
        <p:txBody>
          <a:bodyPr wrap="square" lIns="0" tIns="0" rIns="0" bIns="0" rtlCol="0" anchor="ctr"/>
          <a:lstStyle/>
          <a:p>
            <a:pPr algn="ctr" indent="0" marL="0">
              <a:buNone/>
            </a:pPr>
            <a:r>
              <a:rPr lang="en-US" sz="1300" b="1" dirty="0">
                <a:solidFill>
                  <a:srgbClr val="0B1220"/>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914400" y="3145536"/>
            <a:ext cx="3291840" cy="27432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AI Directive</a:t>
            </a:r>
            <a:endParaRPr lang="en-US" sz="1500" dirty="0"/>
          </a:p>
        </p:txBody>
      </p:sp>
      <p:sp>
        <p:nvSpPr>
          <p:cNvPr id="17" name="Text 15"/>
          <p:cNvSpPr txBox="1"/>
          <p:nvPr/>
        </p:nvSpPr>
        <p:spPr>
          <a:xfrm>
            <a:off x="914400" y="3419856"/>
            <a:ext cx="3291840" cy="50292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The official actions for this hour, each a quote with plan and page, and the substations they apply to.</a:t>
            </a:r>
            <a:endParaRPr lang="en-US" sz="1100" dirty="0"/>
          </a:p>
        </p:txBody>
      </p:sp>
      <p:sp>
        <p:nvSpPr>
          <p:cNvPr id="18" name="Shape 16"/>
          <p:cNvSpPr/>
          <p:nvPr/>
        </p:nvSpPr>
        <p:spPr>
          <a:xfrm>
            <a:off x="457200" y="4078224"/>
            <a:ext cx="329184" cy="329184"/>
          </a:xfrm>
          <a:prstGeom prst="ellipse">
            <a:avLst/>
          </a:prstGeom>
          <a:solidFill>
            <a:srgbClr val="FB7185"/>
          </a:solidFill>
          <a:ln w="12700">
            <a:solidFill>
              <a:srgbClr val="FB7185"/>
            </a:solidFill>
            <a:prstDash val="solid"/>
          </a:ln>
        </p:spPr>
      </p:sp>
      <p:sp>
        <p:nvSpPr>
          <p:cNvPr id="19" name="Text 17"/>
          <p:cNvSpPr txBox="1"/>
          <p:nvPr/>
        </p:nvSpPr>
        <p:spPr>
          <a:xfrm>
            <a:off x="457200" y="4078224"/>
            <a:ext cx="329184" cy="329184"/>
          </a:xfrm>
          <a:prstGeom prst="rect">
            <a:avLst/>
          </a:prstGeom>
          <a:noFill/>
          <a:ln/>
        </p:spPr>
        <p:txBody>
          <a:bodyPr wrap="square" lIns="0" tIns="0" rIns="0" bIns="0" rtlCol="0" anchor="ctr"/>
          <a:lstStyle/>
          <a:p>
            <a:pPr algn="ctr" indent="0" marL="0">
              <a:buNone/>
            </a:pPr>
            <a:r>
              <a:rPr lang="en-US" sz="1300" b="1" dirty="0">
                <a:solidFill>
                  <a:srgbClr val="0B1220"/>
                </a:solidFill>
                <a:latin typeface="Calibri" pitchFamily="34" charset="0"/>
                <a:ea typeface="Calibri" pitchFamily="34" charset="-122"/>
                <a:cs typeface="Calibri" pitchFamily="34" charset="-120"/>
              </a:rPr>
              <a:t>4</a:t>
            </a:r>
            <a:endParaRPr lang="en-US" sz="1300" dirty="0"/>
          </a:p>
        </p:txBody>
      </p:sp>
      <p:sp>
        <p:nvSpPr>
          <p:cNvPr id="20" name="Text 18"/>
          <p:cNvSpPr txBox="1"/>
          <p:nvPr/>
        </p:nvSpPr>
        <p:spPr>
          <a:xfrm>
            <a:off x="914400" y="3986784"/>
            <a:ext cx="3291840" cy="27432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Responder hub</a:t>
            </a:r>
            <a:endParaRPr lang="en-US" sz="1500" dirty="0"/>
          </a:p>
        </p:txBody>
      </p:sp>
      <p:sp>
        <p:nvSpPr>
          <p:cNvPr id="21" name="Text 19"/>
          <p:cNvSpPr txBox="1"/>
          <p:nvPr/>
        </p:nvSpPr>
        <p:spPr>
          <a:xfrm>
            <a:off x="914400" y="4261104"/>
            <a:ext cx="3291840" cy="50292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Circuit quotes, relief centres, backup, pumping station, one-tap call and email.</a:t>
            </a:r>
            <a:endParaRPr lang="en-US" sz="1100" dirty="0"/>
          </a:p>
        </p:txBody>
      </p:sp>
      <p:sp>
        <p:nvSpPr>
          <p:cNvPr id="22" name="Shape 20"/>
          <p:cNvSpPr/>
          <p:nvPr/>
        </p:nvSpPr>
        <p:spPr>
          <a:xfrm>
            <a:off x="4471416" y="1545336"/>
            <a:ext cx="4270248" cy="2162471"/>
          </a:xfrm>
          <a:prstGeom prst="roundRect">
            <a:avLst>
              <a:gd name="adj" fmla="val 3383"/>
            </a:avLst>
          </a:prstGeom>
          <a:solidFill>
            <a:srgbClr val="131C31"/>
          </a:solidFill>
          <a:ln w="9525">
            <a:solidFill>
              <a:srgbClr val="26344F"/>
            </a:solidFill>
            <a:prstDash val="solid"/>
          </a:ln>
        </p:spPr>
      </p:sp>
      <p:pic>
        <p:nvPicPr>
          <p:cNvPr id="23" name="Image 0" descr="C:\Users\rsiva\AppData\Local\Temp\claude\C--projects-surgegrid-ai\9e4d0c6c-264c-4265-bd49-1c2fd7b1a4ca\scratchpad\shots\c_live.jpg">    </p:cNvPr>
          <p:cNvPicPr>
            <a:picLocks noChangeAspect="1"/>
          </p:cNvPicPr>
          <p:nvPr/>
        </p:nvPicPr>
        <p:blipFill>
          <a:blip r:embed="rId1"/>
          <a:stretch>
            <a:fillRect/>
          </a:stretch>
        </p:blipFill>
        <p:spPr>
          <a:xfrm>
            <a:off x="4526280" y="1600200"/>
            <a:ext cx="4160520" cy="2052743"/>
          </a:xfrm>
          <a:prstGeom prst="rect">
            <a:avLst/>
          </a:prstGeom>
        </p:spPr>
      </p:pic>
      <p:sp>
        <p:nvSpPr>
          <p:cNvPr id="24" name="Text 21"/>
          <p:cNvSpPr txBox="1"/>
          <p:nvPr/>
        </p:nvSpPr>
        <p:spPr>
          <a:xfrm>
            <a:off x="4526280" y="3794760"/>
            <a:ext cx="4160520" cy="365760"/>
          </a:xfrm>
          <a:prstGeom prst="rect">
            <a:avLst/>
          </a:prstGeom>
          <a:noFill/>
          <a:ln/>
        </p:spPr>
        <p:txBody>
          <a:bodyPr wrap="square" lIns="0" tIns="0" rIns="0" bIns="0" rtlCol="0" anchor="t"/>
          <a:lstStyle/>
          <a:p>
            <a:pPr indent="0" marL="0">
              <a:buNone/>
            </a:pPr>
            <a:r>
              <a:rPr lang="en-US" sz="1000" i="1" dirty="0">
                <a:solidFill>
                  <a:srgbClr val="94A3B8"/>
                </a:solidFill>
                <a:latin typeface="Calibri" pitchFamily="34" charset="0"/>
                <a:ea typeface="Calibri" pitchFamily="34" charset="-122"/>
                <a:cs typeface="Calibri" pitchFamily="34" charset="-120"/>
              </a:rPr>
              <a:t>The live console: Poor Stability list and a substation card.</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100" b="1" spc="100" kern="0" dirty="0">
                <a:solidFill>
                  <a:srgbClr val="2DD4BF"/>
                </a:solidFill>
                <a:latin typeface="Calibri" pitchFamily="34" charset="0"/>
                <a:ea typeface="Calibri" pitchFamily="34" charset="-122"/>
                <a:cs typeface="Calibri" pitchFamily="34" charset="-120"/>
              </a:rPr>
              <a:t>LIVE GRID</a:t>
            </a:r>
            <a:endParaRPr lang="en-US" sz="1100" dirty="0"/>
          </a:p>
        </p:txBody>
      </p:sp>
      <p:sp>
        <p:nvSpPr>
          <p:cNvPr id="3" name="Text 1"/>
          <p:cNvSpPr txBox="1"/>
          <p:nvPr/>
        </p:nvSpPr>
        <p:spPr>
          <a:xfrm>
            <a:off x="457200" y="530352"/>
            <a:ext cx="8229600" cy="777240"/>
          </a:xfrm>
          <a:prstGeom prst="rect">
            <a:avLst/>
          </a:prstGeom>
          <a:noFill/>
          <a:ln/>
        </p:spPr>
        <p:txBody>
          <a:bodyPr wrap="square" lIns="0" tIns="0" rIns="0" bIns="0" rtlCol="0" anchor="t"/>
          <a:lstStyle/>
          <a:p>
            <a:pPr indent="0" marL="0">
              <a:buNone/>
            </a:pPr>
            <a:r>
              <a:rPr lang="en-US" sz="2800" b="1" dirty="0">
                <a:solidFill>
                  <a:srgbClr val="F1F5F9"/>
                </a:solidFill>
                <a:latin typeface="Calibri" pitchFamily="34" charset="0"/>
                <a:ea typeface="Calibri" pitchFamily="34" charset="-122"/>
                <a:cs typeface="Calibri" pitchFamily="34" charset="-120"/>
              </a:rPr>
              <a:t>Triage the whole grid in one click, live.</a:t>
            </a:r>
            <a:endParaRPr lang="en-US" sz="2800" dirty="0"/>
          </a:p>
        </p:txBody>
      </p:sp>
      <p:sp>
        <p:nvSpPr>
          <p:cNvPr id="4" name="Text 2"/>
          <p:cNvSpPr txBox="1"/>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SurgeGrid AI  ·  surgegrid.web.app</a:t>
            </a:r>
            <a:endParaRPr lang="en-US" sz="900" dirty="0"/>
          </a:p>
        </p:txBody>
      </p:sp>
      <p:sp>
        <p:nvSpPr>
          <p:cNvPr id="5" name="Text 3"/>
          <p:cNvSpPr txBox="1"/>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 / 16</a:t>
            </a:r>
            <a:endParaRPr lang="en-US" sz="900" dirty="0"/>
          </a:p>
        </p:txBody>
      </p:sp>
      <p:sp>
        <p:nvSpPr>
          <p:cNvPr id="6" name="Shape 4"/>
          <p:cNvSpPr/>
          <p:nvPr/>
        </p:nvSpPr>
        <p:spPr>
          <a:xfrm>
            <a:off x="457200" y="1508760"/>
            <a:ext cx="1005840" cy="868680"/>
          </a:xfrm>
          <a:prstGeom prst="roundRect">
            <a:avLst>
              <a:gd name="adj" fmla="val 8421"/>
            </a:avLst>
          </a:prstGeom>
          <a:solidFill>
            <a:srgbClr val="131C31"/>
          </a:solidFill>
          <a:ln w="9525">
            <a:solidFill>
              <a:srgbClr val="26344F"/>
            </a:solidFill>
            <a:prstDash val="solid"/>
          </a:ln>
        </p:spPr>
      </p:sp>
      <p:sp>
        <p:nvSpPr>
          <p:cNvPr id="7" name="Text 5"/>
          <p:cNvSpPr txBox="1"/>
          <p:nvPr/>
        </p:nvSpPr>
        <p:spPr>
          <a:xfrm>
            <a:off x="457200" y="1572768"/>
            <a:ext cx="1005840" cy="457200"/>
          </a:xfrm>
          <a:prstGeom prst="rect">
            <a:avLst/>
          </a:prstGeom>
          <a:noFill/>
          <a:ln/>
        </p:spPr>
        <p:txBody>
          <a:bodyPr wrap="square" lIns="0" tIns="0" rIns="0" bIns="0" rtlCol="0" anchor="ctr"/>
          <a:lstStyle/>
          <a:p>
            <a:pPr algn="ctr" indent="0" marL="0">
              <a:buNone/>
            </a:pPr>
            <a:r>
              <a:rPr lang="en-US" sz="2400" b="1" dirty="0">
                <a:solidFill>
                  <a:srgbClr val="2DD4BF"/>
                </a:solidFill>
                <a:latin typeface="Calibri" pitchFamily="34" charset="0"/>
                <a:ea typeface="Calibri" pitchFamily="34" charset="-122"/>
                <a:cs typeface="Calibri" pitchFamily="34" charset="-120"/>
              </a:rPr>
              <a:t>286</a:t>
            </a:r>
            <a:endParaRPr lang="en-US" sz="2400" dirty="0"/>
          </a:p>
        </p:txBody>
      </p:sp>
      <p:sp>
        <p:nvSpPr>
          <p:cNvPr id="8" name="Text 6"/>
          <p:cNvSpPr txBox="1"/>
          <p:nvPr/>
        </p:nvSpPr>
        <p:spPr>
          <a:xfrm>
            <a:off x="457200" y="2011680"/>
            <a:ext cx="1005840" cy="27432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substations</a:t>
            </a:r>
            <a:endParaRPr lang="en-US" sz="950" dirty="0"/>
          </a:p>
        </p:txBody>
      </p:sp>
      <p:sp>
        <p:nvSpPr>
          <p:cNvPr id="9" name="Shape 7"/>
          <p:cNvSpPr/>
          <p:nvPr/>
        </p:nvSpPr>
        <p:spPr>
          <a:xfrm>
            <a:off x="1554480" y="1508760"/>
            <a:ext cx="1005840" cy="868680"/>
          </a:xfrm>
          <a:prstGeom prst="roundRect">
            <a:avLst>
              <a:gd name="adj" fmla="val 8421"/>
            </a:avLst>
          </a:prstGeom>
          <a:solidFill>
            <a:srgbClr val="131C31"/>
          </a:solidFill>
          <a:ln w="9525">
            <a:solidFill>
              <a:srgbClr val="26344F"/>
            </a:solidFill>
            <a:prstDash val="solid"/>
          </a:ln>
        </p:spPr>
      </p:sp>
      <p:sp>
        <p:nvSpPr>
          <p:cNvPr id="10" name="Text 8"/>
          <p:cNvSpPr txBox="1"/>
          <p:nvPr/>
        </p:nvSpPr>
        <p:spPr>
          <a:xfrm>
            <a:off x="1554480" y="1572768"/>
            <a:ext cx="1005840" cy="457200"/>
          </a:xfrm>
          <a:prstGeom prst="rect">
            <a:avLst/>
          </a:prstGeom>
          <a:noFill/>
          <a:ln/>
        </p:spPr>
        <p:txBody>
          <a:bodyPr wrap="square" lIns="0" tIns="0" rIns="0" bIns="0" rtlCol="0" anchor="ctr"/>
          <a:lstStyle/>
          <a:p>
            <a:pPr algn="ctr" indent="0" marL="0">
              <a:buNone/>
            </a:pPr>
            <a:r>
              <a:rPr lang="en-US" sz="2400" b="1" dirty="0">
                <a:solidFill>
                  <a:srgbClr val="2DD4BF"/>
                </a:solidFill>
                <a:latin typeface="Calibri" pitchFamily="34" charset="0"/>
                <a:ea typeface="Calibri" pitchFamily="34" charset="-122"/>
                <a:cs typeface="Calibri" pitchFamily="34" charset="-120"/>
              </a:rPr>
              <a:t>352</a:t>
            </a:r>
            <a:endParaRPr lang="en-US" sz="2400" dirty="0"/>
          </a:p>
        </p:txBody>
      </p:sp>
      <p:sp>
        <p:nvSpPr>
          <p:cNvPr id="11" name="Text 9"/>
          <p:cNvSpPr txBox="1"/>
          <p:nvPr/>
        </p:nvSpPr>
        <p:spPr>
          <a:xfrm>
            <a:off x="1554480" y="2011680"/>
            <a:ext cx="1005840" cy="27432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section offices</a:t>
            </a:r>
            <a:endParaRPr lang="en-US" sz="950" dirty="0"/>
          </a:p>
        </p:txBody>
      </p:sp>
      <p:sp>
        <p:nvSpPr>
          <p:cNvPr id="12" name="Shape 10"/>
          <p:cNvSpPr/>
          <p:nvPr/>
        </p:nvSpPr>
        <p:spPr>
          <a:xfrm>
            <a:off x="2651760" y="1508760"/>
            <a:ext cx="1005840" cy="868680"/>
          </a:xfrm>
          <a:prstGeom prst="roundRect">
            <a:avLst>
              <a:gd name="adj" fmla="val 8421"/>
            </a:avLst>
          </a:prstGeom>
          <a:solidFill>
            <a:srgbClr val="131C31"/>
          </a:solidFill>
          <a:ln w="9525">
            <a:solidFill>
              <a:srgbClr val="26344F"/>
            </a:solidFill>
            <a:prstDash val="solid"/>
          </a:ln>
        </p:spPr>
      </p:sp>
      <p:sp>
        <p:nvSpPr>
          <p:cNvPr id="13" name="Text 11"/>
          <p:cNvSpPr txBox="1"/>
          <p:nvPr/>
        </p:nvSpPr>
        <p:spPr>
          <a:xfrm>
            <a:off x="2651760" y="1572768"/>
            <a:ext cx="1005840" cy="457200"/>
          </a:xfrm>
          <a:prstGeom prst="rect">
            <a:avLst/>
          </a:prstGeom>
          <a:noFill/>
          <a:ln/>
        </p:spPr>
        <p:txBody>
          <a:bodyPr wrap="square" lIns="0" tIns="0" rIns="0" bIns="0" rtlCol="0" anchor="ctr"/>
          <a:lstStyle/>
          <a:p>
            <a:pPr algn="ctr" indent="0" marL="0">
              <a:buNone/>
            </a:pPr>
            <a:r>
              <a:rPr lang="en-US" sz="2400" b="1" dirty="0">
                <a:solidFill>
                  <a:srgbClr val="2DD4BF"/>
                </a:solidFill>
                <a:latin typeface="Calibri" pitchFamily="34" charset="0"/>
                <a:ea typeface="Calibri" pitchFamily="34" charset="-122"/>
                <a:cs typeface="Calibri" pitchFamily="34" charset="-120"/>
              </a:rPr>
              <a:t>2,678</a:t>
            </a:r>
            <a:endParaRPr lang="en-US" sz="2400" dirty="0"/>
          </a:p>
        </p:txBody>
      </p:sp>
      <p:sp>
        <p:nvSpPr>
          <p:cNvPr id="14" name="Text 12"/>
          <p:cNvSpPr txBox="1"/>
          <p:nvPr/>
        </p:nvSpPr>
        <p:spPr>
          <a:xfrm>
            <a:off x="2651760" y="2011680"/>
            <a:ext cx="1005840" cy="27432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feeders</a:t>
            </a:r>
            <a:endParaRPr lang="en-US" sz="950" dirty="0"/>
          </a:p>
        </p:txBody>
      </p:sp>
      <p:sp>
        <p:nvSpPr>
          <p:cNvPr id="15" name="Text 13"/>
          <p:cNvSpPr txBox="1"/>
          <p:nvPr/>
        </p:nvSpPr>
        <p:spPr>
          <a:xfrm>
            <a:off x="457200" y="2560320"/>
            <a:ext cx="3566160" cy="1828800"/>
          </a:xfrm>
          <a:prstGeom prst="rect">
            <a:avLst/>
          </a:prstGeom>
          <a:noFill/>
          <a:ln/>
        </p:spPr>
        <p:txBody>
          <a:bodyPr wrap="square" lIns="0" tIns="0" rIns="0" bIns="0" rtlCol="0" anchor="t"/>
          <a:lstStyle/>
          <a:p>
            <a:pPr indent="0" marL="0">
              <a:spcAft>
                <a:spcPts val="800"/>
              </a:spcAft>
              <a:buNone/>
            </a:pPr>
            <a:r>
              <a:rPr lang="en-US" sz="1150" b="1" dirty="0">
                <a:solidFill>
                  <a:srgbClr val="F59E0B"/>
                </a:solidFill>
                <a:latin typeface="Calibri" pitchFamily="34" charset="0"/>
                <a:ea typeface="Calibri" pitchFamily="34" charset="-122"/>
                <a:cs typeface="Calibri" pitchFamily="34" charset="-120"/>
              </a:rPr>
              <a:t>Poor Stability (21): </a:t>
            </a:r>
            <a:pPr indent="0" marL="0">
              <a:spcAft>
                <a:spcPts val="800"/>
              </a:spcAft>
              <a:buNone/>
            </a:pPr>
            <a:r>
              <a:rPr lang="en-US" sz="1150" dirty="0">
                <a:solidFill>
                  <a:srgbClr val="F1F5F9"/>
                </a:solidFill>
                <a:latin typeface="Calibri" pitchFamily="34" charset="0"/>
                <a:ea typeface="Calibri" pitchFamily="34" charset="-122"/>
                <a:cs typeface="Calibri" pitchFamily="34" charset="-120"/>
              </a:rPr>
              <a:t>health score below 75, from forced trips and maintenance record.</a:t>
            </a:r>
            <a:endParaRPr lang="en-US" sz="1150" dirty="0"/>
          </a:p>
          <a:p>
            <a:pPr indent="0" marL="0">
              <a:spcAft>
                <a:spcPts val="800"/>
              </a:spcAft>
              <a:buNone/>
            </a:pPr>
            <a:r>
              <a:rPr lang="en-US" sz="1150" b="1" dirty="0">
                <a:solidFill>
                  <a:srgbClr val="818CF8"/>
                </a:solidFill>
                <a:latin typeface="Calibri" pitchFamily="34" charset="0"/>
                <a:ea typeface="Calibri" pitchFamily="34" charset="-122"/>
                <a:cs typeface="Calibri" pitchFamily="34" charset="-120"/>
              </a:rPr>
              <a:t>Waterlogging risk (87): </a:t>
            </a:r>
            <a:pPr indent="0" marL="0">
              <a:spcAft>
                <a:spcPts val="800"/>
              </a:spcAft>
              <a:buNone/>
            </a:pPr>
            <a:r>
              <a:rPr lang="en-US" sz="1150" dirty="0">
                <a:solidFill>
                  <a:srgbClr val="F1F5F9"/>
                </a:solidFill>
                <a:latin typeface="Calibri" pitchFamily="34" charset="0"/>
                <a:ea typeface="Calibri" pitchFamily="34" charset="-122"/>
                <a:cs typeface="Calibri" pitchFamily="34" charset="-120"/>
              </a:rPr>
              <a:t>yard at or below 2.0 m, inside the 2015 flood extent, or Moderate or High on the official hazard maps.</a:t>
            </a:r>
            <a:endParaRPr lang="en-US" sz="1150" dirty="0"/>
          </a:p>
          <a:p>
            <a:pPr indent="0" marL="0">
              <a:spcAft>
                <a:spcPts val="800"/>
              </a:spcAft>
              <a:buNone/>
            </a:pPr>
            <a:r>
              <a:rPr lang="en-US" sz="1150" b="1" dirty="0">
                <a:solidFill>
                  <a:srgbClr val="FB7185"/>
                </a:solidFill>
                <a:latin typeface="Calibri" pitchFamily="34" charset="0"/>
                <a:ea typeface="Calibri" pitchFamily="34" charset="-122"/>
                <a:cs typeface="Calibri" pitchFamily="34" charset="-120"/>
              </a:rPr>
              <a:t>Live outages (42): </a:t>
            </a:r>
            <a:pPr indent="0" marL="0">
              <a:spcAft>
                <a:spcPts val="800"/>
              </a:spcAft>
              <a:buNone/>
            </a:pPr>
            <a:r>
              <a:rPr lang="en-US" sz="1150" dirty="0">
                <a:solidFill>
                  <a:srgbClr val="F1F5F9"/>
                </a:solidFill>
                <a:latin typeface="Calibri" pitchFamily="34" charset="0"/>
                <a:ea typeface="Calibri" pitchFamily="34" charset="-122"/>
                <a:cs typeface="Calibri" pitchFamily="34" charset="-120"/>
              </a:rPr>
              <a:t>today's utility notices matched to substations, with cause and time window.</a:t>
            </a:r>
            <a:endParaRPr lang="en-US" sz="1150" dirty="0"/>
          </a:p>
        </p:txBody>
      </p:sp>
      <p:sp>
        <p:nvSpPr>
          <p:cNvPr id="16" name="Shape 14"/>
          <p:cNvSpPr/>
          <p:nvPr/>
        </p:nvSpPr>
        <p:spPr>
          <a:xfrm>
            <a:off x="4288536" y="1453896"/>
            <a:ext cx="4453128" cy="2252702"/>
          </a:xfrm>
          <a:prstGeom prst="roundRect">
            <a:avLst>
              <a:gd name="adj" fmla="val 3247"/>
            </a:avLst>
          </a:prstGeom>
          <a:solidFill>
            <a:srgbClr val="131C31"/>
          </a:solidFill>
          <a:ln w="9525">
            <a:solidFill>
              <a:srgbClr val="26344F"/>
            </a:solidFill>
            <a:prstDash val="solid"/>
          </a:ln>
        </p:spPr>
      </p:sp>
      <p:pic>
        <p:nvPicPr>
          <p:cNvPr id="17" name="Image 0" descr="C:\Users\rsiva\AppData\Local\Temp\claude\C--projects-surgegrid-ai\9e4d0c6c-264c-4265-bd49-1c2fd7b1a4ca\scratchpad\shots\c_live.jpg">    </p:cNvPr>
          <p:cNvPicPr>
            <a:picLocks noChangeAspect="1"/>
          </p:cNvPicPr>
          <p:nvPr/>
        </p:nvPicPr>
        <p:blipFill>
          <a:blip r:embed="rId1"/>
          <a:stretch>
            <a:fillRect/>
          </a:stretch>
        </p:blipFill>
        <p:spPr>
          <a:xfrm>
            <a:off x="4343400" y="1508760"/>
            <a:ext cx="4343400" cy="2142974"/>
          </a:xfrm>
          <a:prstGeom prst="rect">
            <a:avLst/>
          </a:prstGeom>
        </p:spPr>
      </p:pic>
      <p:sp>
        <p:nvSpPr>
          <p:cNvPr id="18" name="Text 15"/>
          <p:cNvSpPr txBox="1"/>
          <p:nvPr/>
        </p:nvSpPr>
        <p:spPr>
          <a:xfrm>
            <a:off x="4343400" y="3794760"/>
            <a:ext cx="4343400" cy="365760"/>
          </a:xfrm>
          <a:prstGeom prst="rect">
            <a:avLst/>
          </a:prstGeom>
          <a:noFill/>
          <a:ln/>
        </p:spPr>
        <p:txBody>
          <a:bodyPr wrap="square" lIns="0" tIns="0" rIns="0" bIns="0" rtlCol="0" anchor="t"/>
          <a:lstStyle/>
          <a:p>
            <a:pPr indent="0" marL="0">
              <a:buNone/>
            </a:pPr>
            <a:r>
              <a:rPr lang="en-US" sz="1000" i="1" dirty="0">
                <a:solidFill>
                  <a:srgbClr val="94A3B8"/>
                </a:solidFill>
                <a:latin typeface="Calibri" pitchFamily="34" charset="0"/>
                <a:ea typeface="Calibri" pitchFamily="34" charset="-122"/>
                <a:cs typeface="Calibri" pitchFamily="34" charset="-120"/>
              </a:rPr>
              <a:t>Velacherry SS: Grade D, 15/100, three live outage notices, inside the 2015 flood extent. Counts as of 30 Sep 2026.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100" b="1" spc="100" kern="0" dirty="0">
                <a:solidFill>
                  <a:srgbClr val="2DD4BF"/>
                </a:solidFill>
                <a:latin typeface="Calibri" pitchFamily="34" charset="0"/>
                <a:ea typeface="Calibri" pitchFamily="34" charset="-122"/>
                <a:cs typeface="Calibri" pitchFamily="34" charset="-120"/>
              </a:rPr>
              <a:t>REPLAY A REAL STORM</a:t>
            </a:r>
            <a:endParaRPr lang="en-US" sz="1100" dirty="0"/>
          </a:p>
        </p:txBody>
      </p:sp>
      <p:sp>
        <p:nvSpPr>
          <p:cNvPr id="3" name="Text 1"/>
          <p:cNvSpPr txBox="1"/>
          <p:nvPr/>
        </p:nvSpPr>
        <p:spPr>
          <a:xfrm>
            <a:off x="457200" y="530352"/>
            <a:ext cx="8229600" cy="777240"/>
          </a:xfrm>
          <a:prstGeom prst="rect">
            <a:avLst/>
          </a:prstGeom>
          <a:noFill/>
          <a:ln/>
        </p:spPr>
        <p:txBody>
          <a:bodyPr wrap="square" lIns="0" tIns="0" rIns="0" bIns="0" rtlCol="0" anchor="t"/>
          <a:lstStyle/>
          <a:p>
            <a:pPr indent="0" marL="0">
              <a:buNone/>
            </a:pPr>
            <a:r>
              <a:rPr lang="en-US" sz="2800" b="1" dirty="0">
                <a:solidFill>
                  <a:srgbClr val="F1F5F9"/>
                </a:solidFill>
                <a:latin typeface="Calibri" pitchFamily="34" charset="0"/>
                <a:ea typeface="Calibri" pitchFamily="34" charset="-122"/>
                <a:cs typeface="Calibri" pitchFamily="34" charset="-120"/>
              </a:rPr>
              <a:t>Cyclone Michaung: sites to check at each step.</a:t>
            </a:r>
            <a:endParaRPr lang="en-US" sz="2800" dirty="0"/>
          </a:p>
        </p:txBody>
      </p:sp>
      <p:sp>
        <p:nvSpPr>
          <p:cNvPr id="4" name="Text 2"/>
          <p:cNvSpPr txBox="1"/>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SurgeGrid AI  ·  surgegrid.web.app</a:t>
            </a:r>
            <a:endParaRPr lang="en-US" sz="900" dirty="0"/>
          </a:p>
        </p:txBody>
      </p:sp>
      <p:sp>
        <p:nvSpPr>
          <p:cNvPr id="5" name="Text 3"/>
          <p:cNvSpPr txBox="1"/>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 / 16</a:t>
            </a:r>
            <a:endParaRPr lang="en-US" sz="900" dirty="0"/>
          </a:p>
        </p:txBody>
      </p:sp>
      <p:graphicFrame>
        <p:nvGraphicFramePr>
          <p:cNvPr id="6" name="Chart 0" descr=""/>
          <p:cNvGraphicFramePr/>
          <p:nvPr/>
        </p:nvGraphicFramePr>
        <p:xfrm>
          <a:off x="365760" y="1417320"/>
          <a:ext cx="4114800" cy="27432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4791456" y="1453896"/>
            <a:ext cx="3858768" cy="2515634"/>
          </a:xfrm>
          <a:prstGeom prst="roundRect">
            <a:avLst>
              <a:gd name="adj" fmla="val 2908"/>
            </a:avLst>
          </a:prstGeom>
          <a:solidFill>
            <a:srgbClr val="131C31"/>
          </a:solidFill>
          <a:ln w="9525">
            <a:solidFill>
              <a:srgbClr val="26344F"/>
            </a:solidFill>
            <a:prstDash val="solid"/>
          </a:ln>
        </p:spPr>
      </p:sp>
      <p:pic>
        <p:nvPicPr>
          <p:cNvPr id="8" name="Image 0" descr="C:\Users\rsiva\AppData\Local\Temp\claude\C--projects-surgegrid-ai\9e4d0c6c-264c-4265-bd49-1c2fd7b1a4ca\scratchpad\shots\c_peak.jpg">    </p:cNvPr>
          <p:cNvPicPr>
            <a:picLocks noChangeAspect="1"/>
          </p:cNvPicPr>
          <p:nvPr/>
        </p:nvPicPr>
        <p:blipFill>
          <a:blip r:embed="rId2"/>
          <a:stretch>
            <a:fillRect/>
          </a:stretch>
        </p:blipFill>
        <p:spPr>
          <a:xfrm>
            <a:off x="4846320" y="1508760"/>
            <a:ext cx="3749040" cy="2405906"/>
          </a:xfrm>
          <a:prstGeom prst="rect">
            <a:avLst/>
          </a:prstGeom>
        </p:spPr>
      </p:pic>
      <p:sp>
        <p:nvSpPr>
          <p:cNvPr id="9" name="Text 5"/>
          <p:cNvSpPr txBox="1"/>
          <p:nvPr/>
        </p:nvSpPr>
        <p:spPr>
          <a:xfrm>
            <a:off x="4846320" y="4023360"/>
            <a:ext cx="3749040" cy="365760"/>
          </a:xfrm>
          <a:prstGeom prst="rect">
            <a:avLst/>
          </a:prstGeom>
          <a:noFill/>
          <a:ln/>
        </p:spPr>
        <p:txBody>
          <a:bodyPr wrap="square" lIns="0" tIns="0" rIns="0" bIns="0" rtlCol="0" anchor="t"/>
          <a:lstStyle/>
          <a:p>
            <a:pPr indent="0" marL="0">
              <a:buNone/>
            </a:pPr>
            <a:r>
              <a:rPr lang="en-US" sz="1000" i="1" dirty="0">
                <a:solidFill>
                  <a:srgbClr val="94A3B8"/>
                </a:solidFill>
                <a:latin typeface="Calibri" pitchFamily="34" charset="0"/>
                <a:ea typeface="Calibri" pitchFamily="34" charset="-122"/>
                <a:cs typeface="Calibri" pitchFamily="34" charset="-120"/>
              </a:rPr>
              <a:t>Peak rain, 02:30 IST 4 Dec: 111 sites listed, 94 check first.</a:t>
            </a:r>
            <a:endParaRPr lang="en-US" sz="1000" dirty="0"/>
          </a:p>
        </p:txBody>
      </p:sp>
      <p:sp>
        <p:nvSpPr>
          <p:cNvPr id="10" name="Text 6"/>
          <p:cNvSpPr txBox="1"/>
          <p:nvPr/>
        </p:nvSpPr>
        <p:spPr>
          <a:xfrm>
            <a:off x="457200" y="4343400"/>
            <a:ext cx="8229600" cy="457200"/>
          </a:xfrm>
          <a:prstGeom prst="rect">
            <a:avLst/>
          </a:prstGeom>
          <a:noFill/>
          <a:ln/>
        </p:spPr>
        <p:txBody>
          <a:bodyPr wrap="square" lIns="0" tIns="0" rIns="0" bIns="0" rtlCol="0" anchor="t"/>
          <a:lstStyle/>
          <a:p>
            <a:pPr indent="0" marL="0">
              <a:buNone/>
            </a:pPr>
            <a:r>
              <a:rPr lang="en-US" sz="1050" i="1" dirty="0">
                <a:solidFill>
                  <a:srgbClr val="94A3B8"/>
                </a:solidFill>
                <a:latin typeface="Calibri" pitchFamily="34" charset="0"/>
                <a:ea typeface="Calibri" pitchFamily="34" charset="-122"/>
                <a:cs typeface="Calibri" pitchFamily="34" charset="-120"/>
              </a:rPr>
              <a:t>A site is listed when it has a flood fact and its 24-hour rain is at IMD's Heavy class or worse (satellite or the nearest IMD gauge). The order is ours, not an official rule.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100" b="1" spc="100" kern="0" dirty="0">
                <a:solidFill>
                  <a:srgbClr val="2DD4BF"/>
                </a:solidFill>
                <a:latin typeface="Calibri" pitchFamily="34" charset="0"/>
                <a:ea typeface="Calibri" pitchFamily="34" charset="-122"/>
                <a:cs typeface="Calibri" pitchFamily="34" charset="-120"/>
              </a:rPr>
              <a:t>REAL DATA</a:t>
            </a:r>
            <a:endParaRPr lang="en-US" sz="1100" dirty="0"/>
          </a:p>
        </p:txBody>
      </p:sp>
      <p:sp>
        <p:nvSpPr>
          <p:cNvPr id="3" name="Text 1"/>
          <p:cNvSpPr txBox="1"/>
          <p:nvPr/>
        </p:nvSpPr>
        <p:spPr>
          <a:xfrm>
            <a:off x="457200" y="530352"/>
            <a:ext cx="8229600" cy="777240"/>
          </a:xfrm>
          <a:prstGeom prst="rect">
            <a:avLst/>
          </a:prstGeom>
          <a:noFill/>
          <a:ln/>
        </p:spPr>
        <p:txBody>
          <a:bodyPr wrap="square" lIns="0" tIns="0" rIns="0" bIns="0" rtlCol="0" anchor="t"/>
          <a:lstStyle/>
          <a:p>
            <a:pPr indent="0" marL="0">
              <a:buNone/>
            </a:pPr>
            <a:r>
              <a:rPr lang="en-US" sz="2800" b="1" dirty="0">
                <a:solidFill>
                  <a:srgbClr val="F1F5F9"/>
                </a:solidFill>
                <a:latin typeface="Calibri" pitchFamily="34" charset="0"/>
                <a:ea typeface="Calibri" pitchFamily="34" charset="-122"/>
                <a:cs typeface="Calibri" pitchFamily="34" charset="-120"/>
              </a:rPr>
              <a:t>Real rain and wind, checked against IMD's own gauges.</a:t>
            </a:r>
            <a:endParaRPr lang="en-US" sz="2800" dirty="0"/>
          </a:p>
        </p:txBody>
      </p:sp>
      <p:sp>
        <p:nvSpPr>
          <p:cNvPr id="4" name="Text 2"/>
          <p:cNvSpPr txBox="1"/>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SurgeGrid AI  ·  surgegrid.web.app</a:t>
            </a:r>
            <a:endParaRPr lang="en-US" sz="900" dirty="0"/>
          </a:p>
        </p:txBody>
      </p:sp>
      <p:sp>
        <p:nvSpPr>
          <p:cNvPr id="5" name="Text 3"/>
          <p:cNvSpPr txBox="1"/>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 / 16</a:t>
            </a:r>
            <a:endParaRPr lang="en-US" sz="900" dirty="0"/>
          </a:p>
        </p:txBody>
      </p:sp>
      <p:graphicFrame>
        <p:nvGraphicFramePr>
          <p:cNvPr id="6" name="Chart 0" descr=""/>
          <p:cNvGraphicFramePr/>
          <p:nvPr/>
        </p:nvGraphicFramePr>
        <p:xfrm>
          <a:off x="365760" y="1417320"/>
          <a:ext cx="4572000" cy="2788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212080" y="1463040"/>
            <a:ext cx="3474720" cy="822960"/>
          </a:xfrm>
          <a:prstGeom prst="roundRect">
            <a:avLst>
              <a:gd name="adj" fmla="val 8889"/>
            </a:avLst>
          </a:prstGeom>
          <a:solidFill>
            <a:srgbClr val="131C31"/>
          </a:solidFill>
          <a:ln w="9525">
            <a:solidFill>
              <a:srgbClr val="26344F"/>
            </a:solidFill>
            <a:prstDash val="solid"/>
          </a:ln>
        </p:spPr>
      </p:sp>
      <p:sp>
        <p:nvSpPr>
          <p:cNvPr id="8" name="Text 5"/>
          <p:cNvSpPr txBox="1"/>
          <p:nvPr/>
        </p:nvSpPr>
        <p:spPr>
          <a:xfrm>
            <a:off x="5349240" y="1536192"/>
            <a:ext cx="1325880" cy="676656"/>
          </a:xfrm>
          <a:prstGeom prst="rect">
            <a:avLst/>
          </a:prstGeom>
          <a:noFill/>
          <a:ln/>
        </p:spPr>
        <p:txBody>
          <a:bodyPr wrap="square" lIns="0" tIns="0" rIns="0" bIns="0" rtlCol="0" anchor="ctr"/>
          <a:lstStyle/>
          <a:p>
            <a:pPr indent="0" marL="0">
              <a:buNone/>
            </a:pPr>
            <a:r>
              <a:rPr lang="en-US" sz="2000" b="1" dirty="0">
                <a:solidFill>
                  <a:srgbClr val="F59E0B"/>
                </a:solidFill>
                <a:latin typeface="Calibri" pitchFamily="34" charset="0"/>
                <a:ea typeface="Calibri" pitchFamily="34" charset="-122"/>
                <a:cs typeface="Calibri" pitchFamily="34" charset="-120"/>
              </a:rPr>
              <a:t>48 · 114</a:t>
            </a:r>
            <a:endParaRPr lang="en-US" sz="2000" dirty="0"/>
          </a:p>
        </p:txBody>
      </p:sp>
      <p:sp>
        <p:nvSpPr>
          <p:cNvPr id="9" name="Text 6"/>
          <p:cNvSpPr txBox="1"/>
          <p:nvPr/>
        </p:nvSpPr>
        <p:spPr>
          <a:xfrm>
            <a:off x="6675120" y="1536192"/>
            <a:ext cx="1920240" cy="676656"/>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substations inside the 2015 flood extent · inside the 100-year hazard map</a:t>
            </a:r>
            <a:endParaRPr lang="en-US" sz="1000" dirty="0"/>
          </a:p>
        </p:txBody>
      </p:sp>
      <p:sp>
        <p:nvSpPr>
          <p:cNvPr id="10" name="Shape 7"/>
          <p:cNvSpPr/>
          <p:nvPr/>
        </p:nvSpPr>
        <p:spPr>
          <a:xfrm>
            <a:off x="5212080" y="2395728"/>
            <a:ext cx="3474720" cy="822960"/>
          </a:xfrm>
          <a:prstGeom prst="roundRect">
            <a:avLst>
              <a:gd name="adj" fmla="val 8889"/>
            </a:avLst>
          </a:prstGeom>
          <a:solidFill>
            <a:srgbClr val="131C31"/>
          </a:solidFill>
          <a:ln w="9525">
            <a:solidFill>
              <a:srgbClr val="26344F"/>
            </a:solidFill>
            <a:prstDash val="solid"/>
          </a:ln>
        </p:spPr>
      </p:sp>
      <p:sp>
        <p:nvSpPr>
          <p:cNvPr id="11" name="Text 8"/>
          <p:cNvSpPr txBox="1"/>
          <p:nvPr/>
        </p:nvSpPr>
        <p:spPr>
          <a:xfrm>
            <a:off x="5349240" y="2468880"/>
            <a:ext cx="1325880" cy="676656"/>
          </a:xfrm>
          <a:prstGeom prst="rect">
            <a:avLst/>
          </a:prstGeom>
          <a:noFill/>
          <a:ln/>
        </p:spPr>
        <p:txBody>
          <a:bodyPr wrap="square" lIns="0" tIns="0" rIns="0" bIns="0" rtlCol="0" anchor="ctr"/>
          <a:lstStyle/>
          <a:p>
            <a:pPr indent="0" marL="0">
              <a:buNone/>
            </a:pPr>
            <a:r>
              <a:rPr lang="en-US" sz="2000" b="1" dirty="0">
                <a:solidFill>
                  <a:srgbClr val="FB7185"/>
                </a:solidFill>
                <a:latin typeface="Calibri" pitchFamily="34" charset="0"/>
                <a:ea typeface="Calibri" pitchFamily="34" charset="-122"/>
                <a:cs typeface="Calibri" pitchFamily="34" charset="-120"/>
              </a:rPr>
              <a:t>162 · 120</a:t>
            </a:r>
            <a:endParaRPr lang="en-US" sz="2000" dirty="0"/>
          </a:p>
        </p:txBody>
      </p:sp>
      <p:sp>
        <p:nvSpPr>
          <p:cNvPr id="12" name="Text 9"/>
          <p:cNvSpPr txBox="1"/>
          <p:nvPr/>
        </p:nvSpPr>
        <p:spPr>
          <a:xfrm>
            <a:off x="6675120" y="2468880"/>
            <a:ext cx="1920240" cy="676656"/>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GCC relief centres · wards they cover. Plus 124 sewerage pumping stations.</a:t>
            </a:r>
            <a:endParaRPr lang="en-US" sz="1000" dirty="0"/>
          </a:p>
        </p:txBody>
      </p:sp>
      <p:sp>
        <p:nvSpPr>
          <p:cNvPr id="13" name="Shape 10"/>
          <p:cNvSpPr/>
          <p:nvPr/>
        </p:nvSpPr>
        <p:spPr>
          <a:xfrm>
            <a:off x="5212080" y="3328416"/>
            <a:ext cx="3474720" cy="822960"/>
          </a:xfrm>
          <a:prstGeom prst="roundRect">
            <a:avLst>
              <a:gd name="adj" fmla="val 8889"/>
            </a:avLst>
          </a:prstGeom>
          <a:solidFill>
            <a:srgbClr val="131C31"/>
          </a:solidFill>
          <a:ln w="9525">
            <a:solidFill>
              <a:srgbClr val="26344F"/>
            </a:solidFill>
            <a:prstDash val="solid"/>
          </a:ln>
        </p:spPr>
      </p:sp>
      <p:sp>
        <p:nvSpPr>
          <p:cNvPr id="14" name="Text 11"/>
          <p:cNvSpPr txBox="1"/>
          <p:nvPr/>
        </p:nvSpPr>
        <p:spPr>
          <a:xfrm>
            <a:off x="5349240" y="3401568"/>
            <a:ext cx="1325880" cy="676656"/>
          </a:xfrm>
          <a:prstGeom prst="rect">
            <a:avLst/>
          </a:prstGeom>
          <a:noFill/>
          <a:ln/>
        </p:spPr>
        <p:txBody>
          <a:bodyPr wrap="square" lIns="0" tIns="0" rIns="0" bIns="0" rtlCol="0" anchor="ctr"/>
          <a:lstStyle/>
          <a:p>
            <a:pPr indent="0" marL="0">
              <a:buNone/>
            </a:pPr>
            <a:r>
              <a:rPr lang="en-US" sz="2000" b="1" dirty="0">
                <a:solidFill>
                  <a:srgbClr val="818CF8"/>
                </a:solidFill>
                <a:latin typeface="Calibri" pitchFamily="34" charset="0"/>
                <a:ea typeface="Calibri" pitchFamily="34" charset="-122"/>
                <a:cs typeface="Calibri" pitchFamily="34" charset="-120"/>
              </a:rPr>
              <a:t>65,557</a:t>
            </a:r>
            <a:endParaRPr lang="en-US" sz="2000" dirty="0"/>
          </a:p>
        </p:txBody>
      </p:sp>
      <p:sp>
        <p:nvSpPr>
          <p:cNvPr id="15" name="Text 12"/>
          <p:cNvSpPr txBox="1"/>
          <p:nvPr/>
        </p:nvSpPr>
        <p:spPr>
          <a:xfrm>
            <a:off x="6675120" y="3401568"/>
            <a:ext cx="1920240" cy="676656"/>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transformers, about 4.9 million consumers on mapped transformers</a:t>
            </a:r>
            <a:endParaRPr lang="en-US" sz="1000" dirty="0"/>
          </a:p>
        </p:txBody>
      </p:sp>
      <p:sp>
        <p:nvSpPr>
          <p:cNvPr id="16" name="Text 13"/>
          <p:cNvSpPr txBox="1"/>
          <p:nvPr/>
        </p:nvSpPr>
        <p:spPr>
          <a:xfrm>
            <a:off x="457200" y="4297680"/>
            <a:ext cx="8229600" cy="457200"/>
          </a:xfrm>
          <a:prstGeom prst="rect">
            <a:avLst/>
          </a:prstGeom>
          <a:noFill/>
          <a:ln/>
        </p:spPr>
        <p:txBody>
          <a:bodyPr wrap="square" lIns="0" tIns="0" rIns="0" bIns="0" rtlCol="0" anchor="t"/>
          <a:lstStyle/>
          <a:p>
            <a:pPr indent="0" marL="0">
              <a:buNone/>
            </a:pPr>
            <a:r>
              <a:rPr lang="en-US" sz="1100" b="1" dirty="0">
                <a:solidFill>
                  <a:srgbClr val="F1F5F9"/>
                </a:solidFill>
                <a:latin typeface="Calibri" pitchFamily="34" charset="0"/>
                <a:ea typeface="Calibri" pitchFamily="34" charset="-122"/>
                <a:cs typeface="Calibri" pitchFamily="34" charset="-120"/>
              </a:rPr>
              <a:t>The satellite reads lower than IMD's gauges on every day. We show both side by side and do not scale the satellite up: what you see is what NASA measured.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100" b="1" spc="100" kern="0" dirty="0">
                <a:solidFill>
                  <a:srgbClr val="2DD4BF"/>
                </a:solidFill>
                <a:latin typeface="Calibri" pitchFamily="34" charset="0"/>
                <a:ea typeface="Calibri" pitchFamily="34" charset="-122"/>
                <a:cs typeface="Calibri" pitchFamily="34" charset="-120"/>
              </a:rPr>
              <a:t>AI DIRECTIVE</a:t>
            </a:r>
            <a:endParaRPr lang="en-US" sz="1100" dirty="0"/>
          </a:p>
        </p:txBody>
      </p:sp>
      <p:sp>
        <p:nvSpPr>
          <p:cNvPr id="3" name="Text 1"/>
          <p:cNvSpPr txBox="1"/>
          <p:nvPr/>
        </p:nvSpPr>
        <p:spPr>
          <a:xfrm>
            <a:off x="457200" y="530352"/>
            <a:ext cx="8229600" cy="777240"/>
          </a:xfrm>
          <a:prstGeom prst="rect">
            <a:avLst/>
          </a:prstGeom>
          <a:noFill/>
          <a:ln/>
        </p:spPr>
        <p:txBody>
          <a:bodyPr wrap="square" lIns="0" tIns="0" rIns="0" bIns="0" rtlCol="0" anchor="t"/>
          <a:lstStyle/>
          <a:p>
            <a:pPr indent="0" marL="0">
              <a:buNone/>
            </a:pPr>
            <a:r>
              <a:rPr lang="en-US" sz="2800" b="1" dirty="0">
                <a:solidFill>
                  <a:srgbClr val="F1F5F9"/>
                </a:solidFill>
                <a:latin typeface="Calibri" pitchFamily="34" charset="0"/>
                <a:ea typeface="Calibri" pitchFamily="34" charset="-122"/>
                <a:cs typeface="Calibri" pitchFamily="34" charset="-120"/>
              </a:rPr>
              <a:t>The official actions for this hour, each one a quote.</a:t>
            </a:r>
            <a:endParaRPr lang="en-US" sz="2800" dirty="0"/>
          </a:p>
        </p:txBody>
      </p:sp>
      <p:sp>
        <p:nvSpPr>
          <p:cNvPr id="4" name="Text 2"/>
          <p:cNvSpPr txBox="1"/>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SurgeGrid AI  ·  surgegrid.web.app</a:t>
            </a:r>
            <a:endParaRPr lang="en-US" sz="900" dirty="0"/>
          </a:p>
        </p:txBody>
      </p:sp>
      <p:sp>
        <p:nvSpPr>
          <p:cNvPr id="5" name="Text 3"/>
          <p:cNvSpPr txBox="1"/>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8 / 16</a:t>
            </a:r>
            <a:endParaRPr lang="en-US" sz="900" dirty="0"/>
          </a:p>
        </p:txBody>
      </p:sp>
      <p:sp>
        <p:nvSpPr>
          <p:cNvPr id="6" name="Shape 4"/>
          <p:cNvSpPr/>
          <p:nvPr/>
        </p:nvSpPr>
        <p:spPr>
          <a:xfrm>
            <a:off x="457200" y="1554480"/>
            <a:ext cx="329184" cy="329184"/>
          </a:xfrm>
          <a:prstGeom prst="ellipse">
            <a:avLst/>
          </a:prstGeom>
          <a:solidFill>
            <a:srgbClr val="2DD4BF"/>
          </a:solidFill>
          <a:ln w="12700">
            <a:solidFill>
              <a:srgbClr val="2DD4BF"/>
            </a:solidFill>
            <a:prstDash val="solid"/>
          </a:ln>
        </p:spPr>
      </p:sp>
      <p:sp>
        <p:nvSpPr>
          <p:cNvPr id="7" name="Text 5"/>
          <p:cNvSpPr txBox="1"/>
          <p:nvPr/>
        </p:nvSpPr>
        <p:spPr>
          <a:xfrm>
            <a:off x="457200" y="1554480"/>
            <a:ext cx="329184" cy="329184"/>
          </a:xfrm>
          <a:prstGeom prst="rect">
            <a:avLst/>
          </a:prstGeom>
          <a:noFill/>
          <a:ln/>
        </p:spPr>
        <p:txBody>
          <a:bodyPr wrap="square" lIns="0" tIns="0" rIns="0" bIns="0" rtlCol="0" anchor="ctr"/>
          <a:lstStyle/>
          <a:p>
            <a:pPr algn="ctr" indent="0" marL="0">
              <a:buNone/>
            </a:pPr>
            <a:r>
              <a:rPr lang="en-US" sz="1300" b="1" dirty="0">
                <a:solidFill>
                  <a:srgbClr val="0B1220"/>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914400" y="1508760"/>
            <a:ext cx="2377440" cy="27432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Quote</a:t>
            </a:r>
            <a:endParaRPr lang="en-US" sz="1500" dirty="0"/>
          </a:p>
        </p:txBody>
      </p:sp>
      <p:sp>
        <p:nvSpPr>
          <p:cNvPr id="9" name="Text 7"/>
          <p:cNvSpPr txBox="1"/>
          <p:nvPr/>
        </p:nvSpPr>
        <p:spPr>
          <a:xfrm>
            <a:off x="914400" y="1801368"/>
            <a:ext cx="2377440" cy="548640"/>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Word for word from the plan, never reworded.</a:t>
            </a:r>
            <a:endParaRPr lang="en-US" sz="1150" dirty="0"/>
          </a:p>
        </p:txBody>
      </p:sp>
      <p:sp>
        <p:nvSpPr>
          <p:cNvPr id="10" name="Shape 8"/>
          <p:cNvSpPr/>
          <p:nvPr/>
        </p:nvSpPr>
        <p:spPr>
          <a:xfrm>
            <a:off x="457200" y="2514600"/>
            <a:ext cx="329184" cy="329184"/>
          </a:xfrm>
          <a:prstGeom prst="ellipse">
            <a:avLst/>
          </a:prstGeom>
          <a:solidFill>
            <a:srgbClr val="F59E0B"/>
          </a:solidFill>
          <a:ln w="12700">
            <a:solidFill>
              <a:srgbClr val="F59E0B"/>
            </a:solidFill>
            <a:prstDash val="solid"/>
          </a:ln>
        </p:spPr>
      </p:sp>
      <p:sp>
        <p:nvSpPr>
          <p:cNvPr id="11" name="Text 9"/>
          <p:cNvSpPr txBox="1"/>
          <p:nvPr/>
        </p:nvSpPr>
        <p:spPr>
          <a:xfrm>
            <a:off x="457200" y="2514600"/>
            <a:ext cx="329184" cy="329184"/>
          </a:xfrm>
          <a:prstGeom prst="rect">
            <a:avLst/>
          </a:prstGeom>
          <a:noFill/>
          <a:ln/>
        </p:spPr>
        <p:txBody>
          <a:bodyPr wrap="square" lIns="0" tIns="0" rIns="0" bIns="0" rtlCol="0" anchor="ctr"/>
          <a:lstStyle/>
          <a:p>
            <a:pPr algn="ctr" indent="0" marL="0">
              <a:buNone/>
            </a:pPr>
            <a:r>
              <a:rPr lang="en-US" sz="1300" b="1" dirty="0">
                <a:solidFill>
                  <a:srgbClr val="0B1220"/>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914400" y="2468880"/>
            <a:ext cx="2377440" cy="27432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Plan and page</a:t>
            </a:r>
            <a:endParaRPr lang="en-US" sz="1500" dirty="0"/>
          </a:p>
        </p:txBody>
      </p:sp>
      <p:sp>
        <p:nvSpPr>
          <p:cNvPr id="13" name="Text 11"/>
          <p:cNvSpPr txBox="1"/>
          <p:nvPr/>
        </p:nvSpPr>
        <p:spPr>
          <a:xfrm>
            <a:off x="914400" y="2761488"/>
            <a:ext cx="2377440" cy="548640"/>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Plan name, PDF page and printed page on every action.</a:t>
            </a:r>
            <a:endParaRPr lang="en-US" sz="1150" dirty="0"/>
          </a:p>
        </p:txBody>
      </p:sp>
      <p:sp>
        <p:nvSpPr>
          <p:cNvPr id="14" name="Shape 12"/>
          <p:cNvSpPr/>
          <p:nvPr/>
        </p:nvSpPr>
        <p:spPr>
          <a:xfrm>
            <a:off x="457200" y="3474720"/>
            <a:ext cx="329184" cy="329184"/>
          </a:xfrm>
          <a:prstGeom prst="ellipse">
            <a:avLst/>
          </a:prstGeom>
          <a:solidFill>
            <a:srgbClr val="818CF8"/>
          </a:solidFill>
          <a:ln w="12700">
            <a:solidFill>
              <a:srgbClr val="818CF8"/>
            </a:solidFill>
            <a:prstDash val="solid"/>
          </a:ln>
        </p:spPr>
      </p:sp>
      <p:sp>
        <p:nvSpPr>
          <p:cNvPr id="15" name="Text 13"/>
          <p:cNvSpPr txBox="1"/>
          <p:nvPr/>
        </p:nvSpPr>
        <p:spPr>
          <a:xfrm>
            <a:off x="457200" y="3474720"/>
            <a:ext cx="329184" cy="329184"/>
          </a:xfrm>
          <a:prstGeom prst="rect">
            <a:avLst/>
          </a:prstGeom>
          <a:noFill/>
          <a:ln/>
        </p:spPr>
        <p:txBody>
          <a:bodyPr wrap="square" lIns="0" tIns="0" rIns="0" bIns="0" rtlCol="0" anchor="ctr"/>
          <a:lstStyle/>
          <a:p>
            <a:pPr algn="ctr" indent="0" marL="0">
              <a:buNone/>
            </a:pPr>
            <a:r>
              <a:rPr lang="en-US" sz="1300" b="1" dirty="0">
                <a:solidFill>
                  <a:srgbClr val="0B1220"/>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914400" y="3429000"/>
            <a:ext cx="2377440" cy="27432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Targets</a:t>
            </a:r>
            <a:endParaRPr lang="en-US" sz="1500" dirty="0"/>
          </a:p>
        </p:txBody>
      </p:sp>
      <p:sp>
        <p:nvSpPr>
          <p:cNvPr id="17" name="Text 15"/>
          <p:cNvSpPr txBox="1"/>
          <p:nvPr/>
        </p:nvSpPr>
        <p:spPr>
          <a:xfrm>
            <a:off x="914400" y="3721608"/>
            <a:ext cx="2377440" cy="548640"/>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The substations it applies to, chosen from our grid data.</a:t>
            </a:r>
            <a:endParaRPr lang="en-US" sz="1150" dirty="0"/>
          </a:p>
        </p:txBody>
      </p:sp>
      <p:sp>
        <p:nvSpPr>
          <p:cNvPr id="18" name="Text 16"/>
          <p:cNvSpPr txBox="1"/>
          <p:nvPr/>
        </p:nvSpPr>
        <p:spPr>
          <a:xfrm>
            <a:off x="457200" y="4343400"/>
            <a:ext cx="2926080" cy="411480"/>
          </a:xfrm>
          <a:prstGeom prst="rect">
            <a:avLst/>
          </a:prstGeom>
          <a:noFill/>
          <a:ln/>
        </p:spPr>
        <p:txBody>
          <a:bodyPr wrap="square" lIns="0" tIns="0" rIns="0" bIns="0" rtlCol="0" anchor="t"/>
          <a:lstStyle/>
          <a:p>
            <a:pPr indent="0" marL="0">
              <a:buNone/>
            </a:pPr>
            <a:r>
              <a:rPr lang="en-US" sz="1050" i="1" dirty="0">
                <a:solidFill>
                  <a:srgbClr val="94A3B8"/>
                </a:solidFill>
                <a:latin typeface="Calibri" pitchFamily="34" charset="0"/>
                <a:ea typeface="Calibri" pitchFamily="34" charset="-122"/>
                <a:cs typeface="Calibri" pitchFamily="34" charset="-120"/>
              </a:rPr>
              <a:t>The phase changes from watch to impact to restoration, and the actions change with it.</a:t>
            </a:r>
            <a:endParaRPr lang="en-US" sz="1050" dirty="0"/>
          </a:p>
        </p:txBody>
      </p:sp>
      <p:sp>
        <p:nvSpPr>
          <p:cNvPr id="19" name="Shape 17"/>
          <p:cNvSpPr/>
          <p:nvPr/>
        </p:nvSpPr>
        <p:spPr>
          <a:xfrm>
            <a:off x="3557016" y="1362456"/>
            <a:ext cx="2487168" cy="3267753"/>
          </a:xfrm>
          <a:prstGeom prst="roundRect">
            <a:avLst>
              <a:gd name="adj" fmla="val 2941"/>
            </a:avLst>
          </a:prstGeom>
          <a:solidFill>
            <a:srgbClr val="131C31"/>
          </a:solidFill>
          <a:ln w="9525">
            <a:solidFill>
              <a:srgbClr val="26344F"/>
            </a:solidFill>
            <a:prstDash val="solid"/>
          </a:ln>
        </p:spPr>
      </p:sp>
      <p:pic>
        <p:nvPicPr>
          <p:cNvPr id="20" name="Image 0" descr="C:\Users\rsiva\AppData\Local\Temp\claude\C--projects-surgegrid-ai\9e4d0c6c-264c-4265-bd49-1c2fd7b1a4ca\scratchpad\shots\c_directive.jpg">    </p:cNvPr>
          <p:cNvPicPr>
            <a:picLocks noChangeAspect="1"/>
          </p:cNvPicPr>
          <p:nvPr/>
        </p:nvPicPr>
        <p:blipFill>
          <a:blip r:embed="rId1"/>
          <a:stretch>
            <a:fillRect/>
          </a:stretch>
        </p:blipFill>
        <p:spPr>
          <a:xfrm>
            <a:off x="3611880" y="1417320"/>
            <a:ext cx="2377440" cy="3158025"/>
          </a:xfrm>
          <a:prstGeom prst="rect">
            <a:avLst/>
          </a:prstGeom>
        </p:spPr>
      </p:pic>
      <p:sp>
        <p:nvSpPr>
          <p:cNvPr id="21" name="Shape 18"/>
          <p:cNvSpPr/>
          <p:nvPr/>
        </p:nvSpPr>
        <p:spPr>
          <a:xfrm>
            <a:off x="6208776" y="1362456"/>
            <a:ext cx="2487168" cy="3267753"/>
          </a:xfrm>
          <a:prstGeom prst="roundRect">
            <a:avLst>
              <a:gd name="adj" fmla="val 2941"/>
            </a:avLst>
          </a:prstGeom>
          <a:solidFill>
            <a:srgbClr val="131C31"/>
          </a:solidFill>
          <a:ln w="9525">
            <a:solidFill>
              <a:srgbClr val="26344F"/>
            </a:solidFill>
            <a:prstDash val="solid"/>
          </a:ln>
        </p:spPr>
      </p:sp>
      <p:pic>
        <p:nvPicPr>
          <p:cNvPr id="22" name="Image 1" descr="C:\Users\rsiva\AppData\Local\Temp\claude\C--projects-surgegrid-ai\9e4d0c6c-264c-4265-bd49-1c2fd7b1a4ca\scratchpad\shots\c_directive_quotes.jpg">    </p:cNvPr>
          <p:cNvPicPr>
            <a:picLocks noChangeAspect="1"/>
          </p:cNvPicPr>
          <p:nvPr/>
        </p:nvPicPr>
        <p:blipFill>
          <a:blip r:embed="rId2"/>
          <a:stretch>
            <a:fillRect/>
          </a:stretch>
        </p:blipFill>
        <p:spPr>
          <a:xfrm>
            <a:off x="6263640" y="1417320"/>
            <a:ext cx="2377440" cy="31580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100" b="1" spc="100" kern="0" dirty="0">
                <a:solidFill>
                  <a:srgbClr val="2DD4BF"/>
                </a:solidFill>
                <a:latin typeface="Calibri" pitchFamily="34" charset="0"/>
                <a:ea typeface="Calibri" pitchFamily="34" charset="-122"/>
                <a:cs typeface="Calibri" pitchFamily="34" charset="-120"/>
              </a:rPr>
              <a:t>ONE SUBSTATION</a:t>
            </a:r>
            <a:endParaRPr lang="en-US" sz="1100" dirty="0"/>
          </a:p>
        </p:txBody>
      </p:sp>
      <p:sp>
        <p:nvSpPr>
          <p:cNvPr id="3" name="Text 1"/>
          <p:cNvSpPr txBox="1"/>
          <p:nvPr/>
        </p:nvSpPr>
        <p:spPr>
          <a:xfrm>
            <a:off x="457200" y="530352"/>
            <a:ext cx="8229600" cy="777240"/>
          </a:xfrm>
          <a:prstGeom prst="rect">
            <a:avLst/>
          </a:prstGeom>
          <a:noFill/>
          <a:ln/>
        </p:spPr>
        <p:txBody>
          <a:bodyPr wrap="square" lIns="0" tIns="0" rIns="0" bIns="0" rtlCol="0" anchor="t"/>
          <a:lstStyle/>
          <a:p>
            <a:pPr indent="0" marL="0">
              <a:buNone/>
            </a:pPr>
            <a:r>
              <a:rPr lang="en-US" sz="2800" b="1" dirty="0">
                <a:solidFill>
                  <a:srgbClr val="F1F5F9"/>
                </a:solidFill>
                <a:latin typeface="Calibri" pitchFamily="34" charset="0"/>
                <a:ea typeface="Calibri" pitchFamily="34" charset="-122"/>
                <a:cs typeface="Calibri" pitchFamily="34" charset="-120"/>
              </a:rPr>
              <a:t>One substation: Gemini's note, quotes, circuits.</a:t>
            </a:r>
            <a:endParaRPr lang="en-US" sz="2800" dirty="0"/>
          </a:p>
        </p:txBody>
      </p:sp>
      <p:sp>
        <p:nvSpPr>
          <p:cNvPr id="4" name="Text 2"/>
          <p:cNvSpPr txBox="1"/>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SurgeGrid AI  ·  surgegrid.web.app</a:t>
            </a:r>
            <a:endParaRPr lang="en-US" sz="900" dirty="0"/>
          </a:p>
        </p:txBody>
      </p:sp>
      <p:sp>
        <p:nvSpPr>
          <p:cNvPr id="5" name="Text 3"/>
          <p:cNvSpPr txBox="1"/>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 / 16</a:t>
            </a:r>
            <a:endParaRPr lang="en-US" sz="900" dirty="0"/>
          </a:p>
        </p:txBody>
      </p:sp>
      <p:sp>
        <p:nvSpPr>
          <p:cNvPr id="6" name="Text 4"/>
          <p:cNvSpPr txBox="1"/>
          <p:nvPr/>
        </p:nvSpPr>
        <p:spPr>
          <a:xfrm>
            <a:off x="457200" y="1463040"/>
            <a:ext cx="3657600" cy="3200400"/>
          </a:xfrm>
          <a:prstGeom prst="rect">
            <a:avLst/>
          </a:prstGeom>
          <a:noFill/>
          <a:ln/>
        </p:spPr>
        <p:txBody>
          <a:bodyPr wrap="square" lIns="0" tIns="0" rIns="0" bIns="0" rtlCol="0" anchor="t"/>
          <a:lstStyle/>
          <a:p>
            <a:pPr indent="0" marL="0">
              <a:buNone/>
            </a:pPr>
            <a:r>
              <a:rPr lang="en-US" sz="1200" b="1" dirty="0">
                <a:solidFill>
                  <a:srgbClr val="2DD4BF"/>
                </a:solidFill>
                <a:latin typeface="Calibri" pitchFamily="34" charset="0"/>
                <a:ea typeface="Calibri" pitchFamily="34" charset="-122"/>
                <a:cs typeface="Calibri" pitchFamily="34" charset="-120"/>
              </a:rPr>
              <a:t>ETL SS, yard at -1 m</a:t>
            </a:r>
            <a:endParaRPr lang="en-US" sz="1200" dirty="0"/>
          </a:p>
          <a:p>
            <a:pPr indent="0" marL="0">
              <a:buNone/>
            </a:pPr>
            <a:r>
              <a:rPr lang="en-US" sz="1200" dirty="0">
                <a:solidFill>
                  <a:srgbClr val="94A3B8"/>
                </a:solidFill>
                <a:latin typeface="Calibri" pitchFamily="34" charset="0"/>
                <a:ea typeface="Calibri" pitchFamily="34" charset="-122"/>
                <a:cs typeface="Calibri" pitchFamily="34" charset="-120"/>
              </a:rPr>
              <a:t>against Chennai's official 2 m average.</a:t>
            </a:r>
            <a:endParaRPr lang="en-US" sz="1200" dirty="0"/>
          </a:p>
          <a:p>
            <a:pPr indent="0" marL="0">
              <a:buNone/>
            </a:pPr>
            <a:r>
              <a:rPr lang="en-US" sz="600" dirty="0">
                <a:solidFill>
                  <a:srgbClr val="000000"/>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F1F5F9"/>
                </a:solidFill>
                <a:latin typeface="Calibri" pitchFamily="34" charset="0"/>
                <a:ea typeface="Calibri" pitchFamily="34" charset="-122"/>
                <a:cs typeface="Calibri" pitchFamily="34" charset="-120"/>
              </a:rPr>
              <a:t>Gemini words one short note </a:t>
            </a:r>
            <a:pPr indent="0" marL="0">
              <a:buNone/>
            </a:pPr>
            <a:r>
              <a:rPr lang="en-US" sz="1200" dirty="0">
                <a:solidFill>
                  <a:srgbClr val="94A3B8"/>
                </a:solidFill>
                <a:latin typeface="Calibri" pitchFamily="34" charset="0"/>
                <a:ea typeface="Calibri" pitchFamily="34" charset="-122"/>
                <a:cs typeface="Calibri" pitchFamily="34" charset="-120"/>
              </a:rPr>
              <a:t>from facts we send. It sits above the quoted actions and never changes them.</a:t>
            </a:r>
            <a:endParaRPr lang="en-US" sz="1200" dirty="0"/>
          </a:p>
          <a:p>
            <a:pPr indent="0" marL="0">
              <a:buNone/>
            </a:pPr>
            <a:r>
              <a:rPr lang="en-US" sz="600" dirty="0">
                <a:solidFill>
                  <a:srgbClr val="000000"/>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F1F5F9"/>
                </a:solidFill>
                <a:latin typeface="Calibri" pitchFamily="34" charset="0"/>
                <a:ea typeface="Calibri" pitchFamily="34" charset="-122"/>
                <a:cs typeface="Calibri" pitchFamily="34" charset="-120"/>
              </a:rPr>
              <a:t>Circuit policy </a:t>
            </a:r>
            <a:pPr indent="0" marL="0">
              <a:buNone/>
            </a:pPr>
            <a:r>
              <a:rPr lang="en-US" sz="1200" dirty="0">
                <a:solidFill>
                  <a:srgbClr val="94A3B8"/>
                </a:solidFill>
                <a:latin typeface="Calibri" pitchFamily="34" charset="0"/>
                <a:ea typeface="Calibri" pitchFamily="34" charset="-122"/>
                <a:cs typeface="Calibri" pitchFamily="34" charset="-120"/>
              </a:rPr>
              <a:t>splits its 11 circuits: 6 underground (MoP DMP 2021, p. 112) and 5 overhead or mixed (TANGEDCO DMP 2017, p. 77), each with its quote.</a:t>
            </a:r>
            <a:endParaRPr lang="en-US" sz="1200" dirty="0"/>
          </a:p>
          <a:p>
            <a:pPr indent="0" marL="0">
              <a:buNone/>
            </a:pPr>
            <a:r>
              <a:rPr lang="en-US" sz="600" dirty="0">
                <a:solidFill>
                  <a:srgbClr val="000000"/>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F1F5F9"/>
                </a:solidFill>
                <a:latin typeface="Calibri" pitchFamily="34" charset="0"/>
                <a:ea typeface="Calibri" pitchFamily="34" charset="-122"/>
                <a:cs typeface="Calibri" pitchFamily="34" charset="-120"/>
              </a:rPr>
              <a:t>View on Map </a:t>
            </a:r>
            <a:pPr indent="0" marL="0">
              <a:buNone/>
            </a:pPr>
            <a:r>
              <a:rPr lang="en-US" sz="1200" dirty="0">
                <a:solidFill>
                  <a:srgbClr val="94A3B8"/>
                </a:solidFill>
                <a:latin typeface="Calibri" pitchFamily="34" charset="0"/>
                <a:ea typeface="Calibri" pitchFamily="34" charset="-122"/>
                <a:cs typeface="Calibri" pitchFamily="34" charset="-120"/>
              </a:rPr>
              <a:t>draws a circuit on the grid, like the 33 kV trunk to Madipakkam.</a:t>
            </a:r>
            <a:endParaRPr lang="en-US" sz="1200" dirty="0"/>
          </a:p>
        </p:txBody>
      </p:sp>
      <p:sp>
        <p:nvSpPr>
          <p:cNvPr id="7" name="Shape 5"/>
          <p:cNvSpPr/>
          <p:nvPr/>
        </p:nvSpPr>
        <p:spPr>
          <a:xfrm>
            <a:off x="4517136" y="1408176"/>
            <a:ext cx="1801368" cy="2945012"/>
          </a:xfrm>
          <a:prstGeom prst="roundRect">
            <a:avLst>
              <a:gd name="adj" fmla="val 4061"/>
            </a:avLst>
          </a:prstGeom>
          <a:solidFill>
            <a:srgbClr val="131C31"/>
          </a:solidFill>
          <a:ln w="9525">
            <a:solidFill>
              <a:srgbClr val="26344F"/>
            </a:solidFill>
            <a:prstDash val="solid"/>
          </a:ln>
        </p:spPr>
      </p:sp>
      <p:pic>
        <p:nvPicPr>
          <p:cNvPr id="8" name="Image 0" descr="C:\Users\rsiva\AppData\Local\Temp\claude\C--projects-surgegrid-ai\9e4d0c6c-264c-4265-bd49-1c2fd7b1a4ca\scratchpad\shots\c_etl_gemini.jpg">    </p:cNvPr>
          <p:cNvPicPr>
            <a:picLocks noChangeAspect="1"/>
          </p:cNvPicPr>
          <p:nvPr/>
        </p:nvPicPr>
        <p:blipFill>
          <a:blip r:embed="rId1"/>
          <a:stretch>
            <a:fillRect/>
          </a:stretch>
        </p:blipFill>
        <p:spPr>
          <a:xfrm>
            <a:off x="4572000" y="1463040"/>
            <a:ext cx="1691640" cy="2835284"/>
          </a:xfrm>
          <a:prstGeom prst="rect">
            <a:avLst/>
          </a:prstGeom>
        </p:spPr>
      </p:pic>
      <p:sp>
        <p:nvSpPr>
          <p:cNvPr id="9" name="Shape 6"/>
          <p:cNvSpPr/>
          <p:nvPr/>
        </p:nvSpPr>
        <p:spPr>
          <a:xfrm>
            <a:off x="6803136" y="1408176"/>
            <a:ext cx="1801368" cy="2945012"/>
          </a:xfrm>
          <a:prstGeom prst="roundRect">
            <a:avLst>
              <a:gd name="adj" fmla="val 4061"/>
            </a:avLst>
          </a:prstGeom>
          <a:solidFill>
            <a:srgbClr val="131C31"/>
          </a:solidFill>
          <a:ln w="9525">
            <a:solidFill>
              <a:srgbClr val="26344F"/>
            </a:solidFill>
            <a:prstDash val="solid"/>
          </a:ln>
        </p:spPr>
      </p:sp>
      <p:pic>
        <p:nvPicPr>
          <p:cNvPr id="10" name="Image 1" descr="C:\Users\rsiva\AppData\Local\Temp\claude\C--projects-surgegrid-ai\9e4d0c6c-264c-4265-bd49-1c2fd7b1a4ca\scratchpad\shots\c_etl_feeders.jpg">    </p:cNvPr>
          <p:cNvPicPr>
            <a:picLocks noChangeAspect="1"/>
          </p:cNvPicPr>
          <p:nvPr/>
        </p:nvPicPr>
        <p:blipFill>
          <a:blip r:embed="rId2"/>
          <a:stretch>
            <a:fillRect/>
          </a:stretch>
        </p:blipFill>
        <p:spPr>
          <a:xfrm>
            <a:off x="6858000" y="1463040"/>
            <a:ext cx="1691640" cy="2835284"/>
          </a:xfrm>
          <a:prstGeom prst="rect">
            <a:avLst/>
          </a:prstGeom>
        </p:spPr>
      </p:pic>
      <p:sp>
        <p:nvSpPr>
          <p:cNvPr id="11" name="Text 7"/>
          <p:cNvSpPr txBox="1"/>
          <p:nvPr/>
        </p:nvSpPr>
        <p:spPr>
          <a:xfrm>
            <a:off x="4572000" y="4434840"/>
            <a:ext cx="1691640" cy="365760"/>
          </a:xfrm>
          <a:prstGeom prst="rect">
            <a:avLst/>
          </a:prstGeom>
          <a:noFill/>
          <a:ln/>
        </p:spPr>
        <p:txBody>
          <a:bodyPr wrap="square" lIns="0" tIns="0" rIns="0" bIns="0" rtlCol="0" anchor="t"/>
          <a:lstStyle/>
          <a:p>
            <a:pPr indent="0" marL="0">
              <a:buNone/>
            </a:pPr>
            <a:r>
              <a:rPr lang="en-US" sz="1000" i="1" dirty="0">
                <a:solidFill>
                  <a:srgbClr val="94A3B8"/>
                </a:solidFill>
                <a:latin typeface="Calibri" pitchFamily="34" charset="0"/>
                <a:ea typeface="Calibri" pitchFamily="34" charset="-122"/>
                <a:cs typeface="Calibri" pitchFamily="34" charset="-120"/>
              </a:rPr>
              <a:t>Overview: Gemini note, then quoted actions.</a:t>
            </a:r>
            <a:endParaRPr lang="en-US" sz="1000" dirty="0"/>
          </a:p>
        </p:txBody>
      </p:sp>
      <p:sp>
        <p:nvSpPr>
          <p:cNvPr id="12" name="Text 8"/>
          <p:cNvSpPr txBox="1"/>
          <p:nvPr/>
        </p:nvSpPr>
        <p:spPr>
          <a:xfrm>
            <a:off x="6858000" y="4434840"/>
            <a:ext cx="1691640" cy="365760"/>
          </a:xfrm>
          <a:prstGeom prst="rect">
            <a:avLst/>
          </a:prstGeom>
          <a:noFill/>
          <a:ln/>
        </p:spPr>
        <p:txBody>
          <a:bodyPr wrap="square" lIns="0" tIns="0" rIns="0" bIns="0" rtlCol="0" anchor="t"/>
          <a:lstStyle/>
          <a:p>
            <a:pPr indent="0" marL="0">
              <a:buNone/>
            </a:pPr>
            <a:r>
              <a:rPr lang="en-US" sz="1000" i="1" dirty="0">
                <a:solidFill>
                  <a:srgbClr val="94A3B8"/>
                </a:solidFill>
                <a:latin typeface="Calibri" pitchFamily="34" charset="0"/>
                <a:ea typeface="Calibri" pitchFamily="34" charset="-122"/>
                <a:cs typeface="Calibri" pitchFamily="34" charset="-120"/>
              </a:rPr>
              <a:t>Feeders: circuit policy with quotes.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100" b="1" spc="100" kern="0" dirty="0">
                <a:solidFill>
                  <a:srgbClr val="2DD4BF"/>
                </a:solidFill>
                <a:latin typeface="Calibri" pitchFamily="34" charset="0"/>
                <a:ea typeface="Calibri" pitchFamily="34" charset="-122"/>
                <a:cs typeface="Calibri" pitchFamily="34" charset="-120"/>
              </a:rPr>
              <a:t>RESPONDER HUB</a:t>
            </a:r>
            <a:endParaRPr lang="en-US" sz="1100" dirty="0"/>
          </a:p>
        </p:txBody>
      </p:sp>
      <p:sp>
        <p:nvSpPr>
          <p:cNvPr id="3" name="Text 1"/>
          <p:cNvSpPr txBox="1"/>
          <p:nvPr/>
        </p:nvSpPr>
        <p:spPr>
          <a:xfrm>
            <a:off x="457200" y="530352"/>
            <a:ext cx="8229600" cy="777240"/>
          </a:xfrm>
          <a:prstGeom prst="rect">
            <a:avLst/>
          </a:prstGeom>
          <a:noFill/>
          <a:ln/>
        </p:spPr>
        <p:txBody>
          <a:bodyPr wrap="square" lIns="0" tIns="0" rIns="0" bIns="0" rtlCol="0" anchor="t"/>
          <a:lstStyle/>
          <a:p>
            <a:pPr indent="0" marL="0">
              <a:buNone/>
            </a:pPr>
            <a:r>
              <a:rPr lang="en-US" sz="2800" b="1" dirty="0">
                <a:solidFill>
                  <a:srgbClr val="F1F5F9"/>
                </a:solidFill>
                <a:latin typeface="Calibri" pitchFamily="34" charset="0"/>
                <a:ea typeface="Calibri" pitchFamily="34" charset="-122"/>
                <a:cs typeface="Calibri" pitchFamily="34" charset="-120"/>
              </a:rPr>
              <a:t>From the plan to the phone call.</a:t>
            </a:r>
            <a:endParaRPr lang="en-US" sz="2800" dirty="0"/>
          </a:p>
        </p:txBody>
      </p:sp>
      <p:sp>
        <p:nvSpPr>
          <p:cNvPr id="4" name="Text 2"/>
          <p:cNvSpPr txBox="1"/>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SurgeGrid AI  ·  surgegrid.web.app</a:t>
            </a:r>
            <a:endParaRPr lang="en-US" sz="900" dirty="0"/>
          </a:p>
        </p:txBody>
      </p:sp>
      <p:sp>
        <p:nvSpPr>
          <p:cNvPr id="5" name="Text 3"/>
          <p:cNvSpPr txBox="1"/>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10 / 16</a:t>
            </a:r>
            <a:endParaRPr lang="en-US" sz="900" dirty="0"/>
          </a:p>
        </p:txBody>
      </p:sp>
      <p:sp>
        <p:nvSpPr>
          <p:cNvPr id="6" name="Shape 4"/>
          <p:cNvSpPr/>
          <p:nvPr/>
        </p:nvSpPr>
        <p:spPr>
          <a:xfrm>
            <a:off x="457200" y="1508760"/>
            <a:ext cx="329184" cy="329184"/>
          </a:xfrm>
          <a:prstGeom prst="ellipse">
            <a:avLst/>
          </a:prstGeom>
          <a:solidFill>
            <a:srgbClr val="FB7185"/>
          </a:solidFill>
          <a:ln w="12700">
            <a:solidFill>
              <a:srgbClr val="FB7185"/>
            </a:solidFill>
            <a:prstDash val="solid"/>
          </a:ln>
        </p:spPr>
      </p:sp>
      <p:sp>
        <p:nvSpPr>
          <p:cNvPr id="7" name="Text 5"/>
          <p:cNvSpPr txBox="1"/>
          <p:nvPr/>
        </p:nvSpPr>
        <p:spPr>
          <a:xfrm>
            <a:off x="457200" y="1508760"/>
            <a:ext cx="329184" cy="329184"/>
          </a:xfrm>
          <a:prstGeom prst="rect">
            <a:avLst/>
          </a:prstGeom>
          <a:noFill/>
          <a:ln/>
        </p:spPr>
        <p:txBody>
          <a:bodyPr wrap="square" lIns="0" tIns="0" rIns="0" bIns="0" rtlCol="0" anchor="ctr"/>
          <a:lstStyle/>
          <a:p>
            <a:pPr algn="ctr" indent="0" marL="0">
              <a:buNone/>
            </a:pPr>
            <a:r>
              <a:rPr lang="en-US" sz="1300" b="1" dirty="0">
                <a:solidFill>
                  <a:srgbClr val="0B1220"/>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914400" y="1463040"/>
            <a:ext cx="3108960" cy="274320"/>
          </a:xfrm>
          <a:prstGeom prst="rect">
            <a:avLst/>
          </a:prstGeom>
          <a:noFill/>
          <a:ln/>
        </p:spPr>
        <p:txBody>
          <a:bodyPr wrap="square" lIns="0" tIns="0" rIns="0" bIns="0" rtlCol="0" anchor="ctr"/>
          <a:lstStyle/>
          <a:p>
            <a:pPr indent="0" marL="0">
              <a:buNone/>
            </a:pPr>
            <a:r>
              <a:rPr lang="en-US" sz="1400" b="1" dirty="0">
                <a:solidFill>
                  <a:srgbClr val="F1F5F9"/>
                </a:solidFill>
                <a:latin typeface="Calibri" pitchFamily="34" charset="0"/>
                <a:ea typeface="Calibri" pitchFamily="34" charset="-122"/>
                <a:cs typeface="Calibri" pitchFamily="34" charset="-120"/>
              </a:rPr>
              <a:t>Relief centre</a:t>
            </a:r>
            <a:endParaRPr lang="en-US" sz="1400" dirty="0"/>
          </a:p>
        </p:txBody>
      </p:sp>
      <p:sp>
        <p:nvSpPr>
          <p:cNvPr id="9" name="Text 7"/>
          <p:cNvSpPr txBox="1"/>
          <p:nvPr/>
        </p:nvSpPr>
        <p:spPr>
          <a:xfrm>
            <a:off x="914400" y="1737360"/>
            <a:ext cx="3108960" cy="457200"/>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St Antony School, Ward 189, with the officer and a phone number.</a:t>
            </a:r>
            <a:endParaRPr lang="en-US" sz="1050" dirty="0"/>
          </a:p>
        </p:txBody>
      </p:sp>
      <p:sp>
        <p:nvSpPr>
          <p:cNvPr id="10" name="Shape 8"/>
          <p:cNvSpPr/>
          <p:nvPr/>
        </p:nvSpPr>
        <p:spPr>
          <a:xfrm>
            <a:off x="457200" y="2313432"/>
            <a:ext cx="329184" cy="329184"/>
          </a:xfrm>
          <a:prstGeom prst="ellipse">
            <a:avLst/>
          </a:prstGeom>
          <a:solidFill>
            <a:srgbClr val="F59E0B"/>
          </a:solidFill>
          <a:ln w="12700">
            <a:solidFill>
              <a:srgbClr val="F59E0B"/>
            </a:solidFill>
            <a:prstDash val="solid"/>
          </a:ln>
        </p:spPr>
      </p:sp>
      <p:sp>
        <p:nvSpPr>
          <p:cNvPr id="11" name="Text 9"/>
          <p:cNvSpPr txBox="1"/>
          <p:nvPr/>
        </p:nvSpPr>
        <p:spPr>
          <a:xfrm>
            <a:off x="457200" y="2313432"/>
            <a:ext cx="329184" cy="329184"/>
          </a:xfrm>
          <a:prstGeom prst="rect">
            <a:avLst/>
          </a:prstGeom>
          <a:noFill/>
          <a:ln/>
        </p:spPr>
        <p:txBody>
          <a:bodyPr wrap="square" lIns="0" tIns="0" rIns="0" bIns="0" rtlCol="0" anchor="ctr"/>
          <a:lstStyle/>
          <a:p>
            <a:pPr algn="ctr" indent="0" marL="0">
              <a:buNone/>
            </a:pPr>
            <a:r>
              <a:rPr lang="en-US" sz="1300" b="1" dirty="0">
                <a:solidFill>
                  <a:srgbClr val="0B1220"/>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914400" y="2267712"/>
            <a:ext cx="3108960" cy="274320"/>
          </a:xfrm>
          <a:prstGeom prst="rect">
            <a:avLst/>
          </a:prstGeom>
          <a:noFill/>
          <a:ln/>
        </p:spPr>
        <p:txBody>
          <a:bodyPr wrap="square" lIns="0" tIns="0" rIns="0" bIns="0" rtlCol="0" anchor="ctr"/>
          <a:lstStyle/>
          <a:p>
            <a:pPr indent="0" marL="0">
              <a:buNone/>
            </a:pPr>
            <a:r>
              <a:rPr lang="en-US" sz="1400" b="1" dirty="0">
                <a:solidFill>
                  <a:srgbClr val="F1F5F9"/>
                </a:solidFill>
                <a:latin typeface="Calibri" pitchFamily="34" charset="0"/>
                <a:ea typeface="Calibri" pitchFamily="34" charset="-122"/>
                <a:cs typeface="Calibri" pitchFamily="34" charset="-120"/>
              </a:rPr>
              <a:t>Backup substation</a:t>
            </a:r>
            <a:endParaRPr lang="en-US" sz="1400" dirty="0"/>
          </a:p>
        </p:txBody>
      </p:sp>
      <p:sp>
        <p:nvSpPr>
          <p:cNvPr id="13" name="Text 11"/>
          <p:cNvSpPr txBox="1"/>
          <p:nvPr/>
        </p:nvSpPr>
        <p:spPr>
          <a:xfrm>
            <a:off x="914400" y="2542032"/>
            <a:ext cx="3108960" cy="457200"/>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Tharamani, 3.5 km. Our straight-line calculation; load transfer is not checked.</a:t>
            </a:r>
            <a:endParaRPr lang="en-US" sz="1050" dirty="0"/>
          </a:p>
        </p:txBody>
      </p:sp>
      <p:sp>
        <p:nvSpPr>
          <p:cNvPr id="14" name="Shape 12"/>
          <p:cNvSpPr/>
          <p:nvPr/>
        </p:nvSpPr>
        <p:spPr>
          <a:xfrm>
            <a:off x="457200" y="3118104"/>
            <a:ext cx="329184" cy="329184"/>
          </a:xfrm>
          <a:prstGeom prst="ellipse">
            <a:avLst/>
          </a:prstGeom>
          <a:solidFill>
            <a:srgbClr val="818CF8"/>
          </a:solidFill>
          <a:ln w="12700">
            <a:solidFill>
              <a:srgbClr val="818CF8"/>
            </a:solidFill>
            <a:prstDash val="solid"/>
          </a:ln>
        </p:spPr>
      </p:sp>
      <p:sp>
        <p:nvSpPr>
          <p:cNvPr id="15" name="Text 13"/>
          <p:cNvSpPr txBox="1"/>
          <p:nvPr/>
        </p:nvSpPr>
        <p:spPr>
          <a:xfrm>
            <a:off x="457200" y="3118104"/>
            <a:ext cx="329184" cy="329184"/>
          </a:xfrm>
          <a:prstGeom prst="rect">
            <a:avLst/>
          </a:prstGeom>
          <a:noFill/>
          <a:ln/>
        </p:spPr>
        <p:txBody>
          <a:bodyPr wrap="square" lIns="0" tIns="0" rIns="0" bIns="0" rtlCol="0" anchor="ctr"/>
          <a:lstStyle/>
          <a:p>
            <a:pPr algn="ctr" indent="0" marL="0">
              <a:buNone/>
            </a:pPr>
            <a:r>
              <a:rPr lang="en-US" sz="1300" b="1" dirty="0">
                <a:solidFill>
                  <a:srgbClr val="0B1220"/>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914400" y="3072384"/>
            <a:ext cx="3108960" cy="274320"/>
          </a:xfrm>
          <a:prstGeom prst="rect">
            <a:avLst/>
          </a:prstGeom>
          <a:noFill/>
          <a:ln/>
        </p:spPr>
        <p:txBody>
          <a:bodyPr wrap="square" lIns="0" tIns="0" rIns="0" bIns="0" rtlCol="0" anchor="ctr"/>
          <a:lstStyle/>
          <a:p>
            <a:pPr indent="0" marL="0">
              <a:buNone/>
            </a:pPr>
            <a:r>
              <a:rPr lang="en-US" sz="1400" b="1" dirty="0">
                <a:solidFill>
                  <a:srgbClr val="F1F5F9"/>
                </a:solidFill>
                <a:latin typeface="Calibri" pitchFamily="34" charset="0"/>
                <a:ea typeface="Calibri" pitchFamily="34" charset="-122"/>
                <a:cs typeface="Calibri" pitchFamily="34" charset="-120"/>
              </a:rPr>
              <a:t>Pumping station</a:t>
            </a:r>
            <a:endParaRPr lang="en-US" sz="1400" dirty="0"/>
          </a:p>
        </p:txBody>
      </p:sp>
      <p:sp>
        <p:nvSpPr>
          <p:cNvPr id="17" name="Text 15"/>
          <p:cNvSpPr txBox="1"/>
          <p:nvPr/>
        </p:nvSpPr>
        <p:spPr>
          <a:xfrm>
            <a:off x="914400" y="3346704"/>
            <a:ext cx="3108960" cy="457200"/>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Murugu Nagar, 3.4 km, beside the MoP line to restore pumping stations on a priority basis (p. 240).</a:t>
            </a:r>
            <a:endParaRPr lang="en-US" sz="1050" dirty="0"/>
          </a:p>
        </p:txBody>
      </p:sp>
      <p:sp>
        <p:nvSpPr>
          <p:cNvPr id="18" name="Shape 16"/>
          <p:cNvSpPr/>
          <p:nvPr/>
        </p:nvSpPr>
        <p:spPr>
          <a:xfrm>
            <a:off x="457200" y="3922776"/>
            <a:ext cx="329184" cy="329184"/>
          </a:xfrm>
          <a:prstGeom prst="ellipse">
            <a:avLst/>
          </a:prstGeom>
          <a:solidFill>
            <a:srgbClr val="2DD4BF"/>
          </a:solidFill>
          <a:ln w="12700">
            <a:solidFill>
              <a:srgbClr val="2DD4BF"/>
            </a:solidFill>
            <a:prstDash val="solid"/>
          </a:ln>
        </p:spPr>
      </p:sp>
      <p:sp>
        <p:nvSpPr>
          <p:cNvPr id="19" name="Text 17"/>
          <p:cNvSpPr txBox="1"/>
          <p:nvPr/>
        </p:nvSpPr>
        <p:spPr>
          <a:xfrm>
            <a:off x="457200" y="3922776"/>
            <a:ext cx="329184" cy="329184"/>
          </a:xfrm>
          <a:prstGeom prst="rect">
            <a:avLst/>
          </a:prstGeom>
          <a:noFill/>
          <a:ln/>
        </p:spPr>
        <p:txBody>
          <a:bodyPr wrap="square" lIns="0" tIns="0" rIns="0" bIns="0" rtlCol="0" anchor="ctr"/>
          <a:lstStyle/>
          <a:p>
            <a:pPr algn="ctr" indent="0" marL="0">
              <a:buNone/>
            </a:pPr>
            <a:r>
              <a:rPr lang="en-US" sz="1300" b="1" dirty="0">
                <a:solidFill>
                  <a:srgbClr val="0B1220"/>
                </a:solidFill>
                <a:latin typeface="Calibri" pitchFamily="34" charset="0"/>
                <a:ea typeface="Calibri" pitchFamily="34" charset="-122"/>
                <a:cs typeface="Calibri" pitchFamily="34" charset="-120"/>
              </a:rPr>
              <a:t>4</a:t>
            </a:r>
            <a:endParaRPr lang="en-US" sz="1300" dirty="0"/>
          </a:p>
        </p:txBody>
      </p:sp>
      <p:sp>
        <p:nvSpPr>
          <p:cNvPr id="20" name="Text 18"/>
          <p:cNvSpPr txBox="1"/>
          <p:nvPr/>
        </p:nvSpPr>
        <p:spPr>
          <a:xfrm>
            <a:off x="914400" y="3877056"/>
            <a:ext cx="3108960" cy="274320"/>
          </a:xfrm>
          <a:prstGeom prst="rect">
            <a:avLst/>
          </a:prstGeom>
          <a:noFill/>
          <a:ln/>
        </p:spPr>
        <p:txBody>
          <a:bodyPr wrap="square" lIns="0" tIns="0" rIns="0" bIns="0" rtlCol="0" anchor="ctr"/>
          <a:lstStyle/>
          <a:p>
            <a:pPr indent="0" marL="0">
              <a:buNone/>
            </a:pPr>
            <a:r>
              <a:rPr lang="en-US" sz="1400" b="1" dirty="0">
                <a:solidFill>
                  <a:srgbClr val="F1F5F9"/>
                </a:solidFill>
                <a:latin typeface="Calibri" pitchFamily="34" charset="0"/>
                <a:ea typeface="Calibri" pitchFamily="34" charset="-122"/>
                <a:cs typeface="Calibri" pitchFamily="34" charset="-120"/>
              </a:rPr>
              <a:t>Section office</a:t>
            </a:r>
            <a:endParaRPr lang="en-US" sz="1400" dirty="0"/>
          </a:p>
        </p:txBody>
      </p:sp>
      <p:sp>
        <p:nvSpPr>
          <p:cNvPr id="21" name="Text 19"/>
          <p:cNvSpPr txBox="1"/>
          <p:nvPr/>
        </p:nvSpPr>
        <p:spPr>
          <a:xfrm>
            <a:off x="914400" y="4151376"/>
            <a:ext cx="3108960" cy="457200"/>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Call the section engineer, email the office, open it on the map. With feeding substations and ward shelters.</a:t>
            </a:r>
            <a:endParaRPr lang="en-US" sz="1050" dirty="0"/>
          </a:p>
        </p:txBody>
      </p:sp>
      <p:sp>
        <p:nvSpPr>
          <p:cNvPr id="22" name="Shape 20"/>
          <p:cNvSpPr/>
          <p:nvPr/>
        </p:nvSpPr>
        <p:spPr>
          <a:xfrm>
            <a:off x="4517136" y="1408176"/>
            <a:ext cx="1801368" cy="2945012"/>
          </a:xfrm>
          <a:prstGeom prst="roundRect">
            <a:avLst>
              <a:gd name="adj" fmla="val 4061"/>
            </a:avLst>
          </a:prstGeom>
          <a:solidFill>
            <a:srgbClr val="131C31"/>
          </a:solidFill>
          <a:ln w="9525">
            <a:solidFill>
              <a:srgbClr val="26344F"/>
            </a:solidFill>
            <a:prstDash val="solid"/>
          </a:ln>
        </p:spPr>
      </p:sp>
      <p:pic>
        <p:nvPicPr>
          <p:cNvPr id="23" name="Image 0" descr="C:\Users\rsiva\AppData\Local\Temp\claude\C--projects-surgegrid-ai\9e4d0c6c-264c-4265-bd49-1c2fd7b1a4ca\scratchpad\shots\c_etl_respond.jpg">    </p:cNvPr>
          <p:cNvPicPr>
            <a:picLocks noChangeAspect="1"/>
          </p:cNvPicPr>
          <p:nvPr/>
        </p:nvPicPr>
        <p:blipFill>
          <a:blip r:embed="rId1"/>
          <a:stretch>
            <a:fillRect/>
          </a:stretch>
        </p:blipFill>
        <p:spPr>
          <a:xfrm>
            <a:off x="4572000" y="1463040"/>
            <a:ext cx="1691640" cy="2835284"/>
          </a:xfrm>
          <a:prstGeom prst="rect">
            <a:avLst/>
          </a:prstGeom>
        </p:spPr>
      </p:pic>
      <p:sp>
        <p:nvSpPr>
          <p:cNvPr id="24" name="Shape 21"/>
          <p:cNvSpPr/>
          <p:nvPr/>
        </p:nvSpPr>
        <p:spPr>
          <a:xfrm>
            <a:off x="6803136" y="1408176"/>
            <a:ext cx="1801368" cy="2945012"/>
          </a:xfrm>
          <a:prstGeom prst="roundRect">
            <a:avLst>
              <a:gd name="adj" fmla="val 4061"/>
            </a:avLst>
          </a:prstGeom>
          <a:solidFill>
            <a:srgbClr val="131C31"/>
          </a:solidFill>
          <a:ln w="9525">
            <a:solidFill>
              <a:srgbClr val="26344F"/>
            </a:solidFill>
            <a:prstDash val="solid"/>
          </a:ln>
        </p:spPr>
      </p:sp>
      <p:pic>
        <p:nvPicPr>
          <p:cNvPr id="25" name="Image 1" descr="C:\Users\rsiva\AppData\Local\Temp\claude\C--projects-surgegrid-ai\9e4d0c6c-264c-4265-bd49-1c2fd7b1a4ca\scratchpad\shots\c_section_office.jpg">    </p:cNvPr>
          <p:cNvPicPr>
            <a:picLocks noChangeAspect="1"/>
          </p:cNvPicPr>
          <p:nvPr/>
        </p:nvPicPr>
        <p:blipFill>
          <a:blip r:embed="rId2"/>
          <a:stretch>
            <a:fillRect/>
          </a:stretch>
        </p:blipFill>
        <p:spPr>
          <a:xfrm>
            <a:off x="6858000" y="1463040"/>
            <a:ext cx="1691640" cy="2835284"/>
          </a:xfrm>
          <a:prstGeom prst="rect">
            <a:avLst/>
          </a:prstGeom>
        </p:spPr>
      </p:pic>
      <p:sp>
        <p:nvSpPr>
          <p:cNvPr id="26" name="Text 22"/>
          <p:cNvSpPr txBox="1"/>
          <p:nvPr/>
        </p:nvSpPr>
        <p:spPr>
          <a:xfrm>
            <a:off x="4572000" y="4434840"/>
            <a:ext cx="1691640" cy="365760"/>
          </a:xfrm>
          <a:prstGeom prst="rect">
            <a:avLst/>
          </a:prstGeom>
          <a:noFill/>
          <a:ln/>
        </p:spPr>
        <p:txBody>
          <a:bodyPr wrap="square" lIns="0" tIns="0" rIns="0" bIns="0" rtlCol="0" anchor="t"/>
          <a:lstStyle/>
          <a:p>
            <a:pPr indent="0" marL="0">
              <a:buNone/>
            </a:pPr>
            <a:r>
              <a:rPr lang="en-US" sz="1000" i="1" dirty="0">
                <a:solidFill>
                  <a:srgbClr val="94A3B8"/>
                </a:solidFill>
                <a:latin typeface="Calibri" pitchFamily="34" charset="0"/>
                <a:ea typeface="Calibri" pitchFamily="34" charset="-122"/>
                <a:cs typeface="Calibri" pitchFamily="34" charset="-120"/>
              </a:rPr>
              <a:t>Respond tab for ETL SS.</a:t>
            </a:r>
            <a:endParaRPr lang="en-US" sz="1000" dirty="0"/>
          </a:p>
        </p:txBody>
      </p:sp>
      <p:sp>
        <p:nvSpPr>
          <p:cNvPr id="27" name="Text 23"/>
          <p:cNvSpPr txBox="1"/>
          <p:nvPr/>
        </p:nvSpPr>
        <p:spPr>
          <a:xfrm>
            <a:off x="6858000" y="4434840"/>
            <a:ext cx="1691640" cy="365760"/>
          </a:xfrm>
          <a:prstGeom prst="rect">
            <a:avLst/>
          </a:prstGeom>
          <a:noFill/>
          <a:ln/>
        </p:spPr>
        <p:txBody>
          <a:bodyPr wrap="square" lIns="0" tIns="0" rIns="0" bIns="0" rtlCol="0" anchor="t"/>
          <a:lstStyle/>
          <a:p>
            <a:pPr indent="0" marL="0">
              <a:buNone/>
            </a:pPr>
            <a:r>
              <a:rPr lang="en-US" sz="1000" i="1" dirty="0">
                <a:solidFill>
                  <a:srgbClr val="94A3B8"/>
                </a:solidFill>
                <a:latin typeface="Calibri" pitchFamily="34" charset="0"/>
                <a:ea typeface="Calibri" pitchFamily="34" charset="-122"/>
                <a:cs typeface="Calibri" pitchFamily="34" charset="-120"/>
              </a:rPr>
              <a:t>Neelankara section office.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100" b="1" spc="100" kern="0" dirty="0">
                <a:solidFill>
                  <a:srgbClr val="2DD4BF"/>
                </a:solidFill>
                <a:latin typeface="Calibri" pitchFamily="34" charset="0"/>
                <a:ea typeface="Calibri" pitchFamily="34" charset="-122"/>
                <a:cs typeface="Calibri" pitchFamily="34" charset="-120"/>
              </a:rPr>
              <a:t>HOW IT WORKS</a:t>
            </a:r>
            <a:endParaRPr lang="en-US" sz="1100" dirty="0"/>
          </a:p>
        </p:txBody>
      </p:sp>
      <p:sp>
        <p:nvSpPr>
          <p:cNvPr id="3" name="Text 1"/>
          <p:cNvSpPr txBox="1"/>
          <p:nvPr/>
        </p:nvSpPr>
        <p:spPr>
          <a:xfrm>
            <a:off x="457200" y="530352"/>
            <a:ext cx="8229600" cy="777240"/>
          </a:xfrm>
          <a:prstGeom prst="rect">
            <a:avLst/>
          </a:prstGeom>
          <a:noFill/>
          <a:ln/>
        </p:spPr>
        <p:txBody>
          <a:bodyPr wrap="square" lIns="0" tIns="0" rIns="0" bIns="0" rtlCol="0" anchor="t"/>
          <a:lstStyle/>
          <a:p>
            <a:pPr indent="0" marL="0">
              <a:buNone/>
            </a:pPr>
            <a:r>
              <a:rPr lang="en-US" sz="2800" b="1" dirty="0">
                <a:solidFill>
                  <a:srgbClr val="F1F5F9"/>
                </a:solidFill>
                <a:latin typeface="Calibri" pitchFamily="34" charset="0"/>
                <a:ea typeface="Calibri" pitchFamily="34" charset="-122"/>
                <a:cs typeface="Calibri" pitchFamily="34" charset="-120"/>
              </a:rPr>
              <a:t>Real data in. Rules choose. Quotes speak.</a:t>
            </a:r>
            <a:endParaRPr lang="en-US" sz="2800" dirty="0"/>
          </a:p>
        </p:txBody>
      </p:sp>
      <p:sp>
        <p:nvSpPr>
          <p:cNvPr id="4" name="Text 2"/>
          <p:cNvSpPr txBox="1"/>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SurgeGrid AI  ·  surgegrid.web.app</a:t>
            </a:r>
            <a:endParaRPr lang="en-US" sz="900" dirty="0"/>
          </a:p>
        </p:txBody>
      </p:sp>
      <p:sp>
        <p:nvSpPr>
          <p:cNvPr id="5" name="Text 3"/>
          <p:cNvSpPr txBox="1"/>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11 / 16</a:t>
            </a:r>
            <a:endParaRPr lang="en-US" sz="900" dirty="0"/>
          </a:p>
        </p:txBody>
      </p:sp>
      <p:sp>
        <p:nvSpPr>
          <p:cNvPr id="6" name="Shape 4"/>
          <p:cNvSpPr/>
          <p:nvPr/>
        </p:nvSpPr>
        <p:spPr>
          <a:xfrm>
            <a:off x="457200" y="1508760"/>
            <a:ext cx="1463040" cy="2194560"/>
          </a:xfrm>
          <a:prstGeom prst="roundRect">
            <a:avLst>
              <a:gd name="adj" fmla="val 5000"/>
            </a:avLst>
          </a:prstGeom>
          <a:solidFill>
            <a:srgbClr val="131C31"/>
          </a:solidFill>
          <a:ln w="9525">
            <a:solidFill>
              <a:srgbClr val="26344F"/>
            </a:solidFill>
            <a:prstDash val="solid"/>
          </a:ln>
        </p:spPr>
      </p:sp>
      <p:sp>
        <p:nvSpPr>
          <p:cNvPr id="7" name="Text 5"/>
          <p:cNvSpPr txBox="1"/>
          <p:nvPr/>
        </p:nvSpPr>
        <p:spPr>
          <a:xfrm>
            <a:off x="566928" y="1627632"/>
            <a:ext cx="1243584" cy="365760"/>
          </a:xfrm>
          <a:prstGeom prst="rect">
            <a:avLst/>
          </a:prstGeom>
          <a:noFill/>
          <a:ln/>
        </p:spPr>
        <p:txBody>
          <a:bodyPr wrap="square" lIns="0" tIns="0" rIns="0" bIns="0" rtlCol="0" anchor="ctr"/>
          <a:lstStyle/>
          <a:p>
            <a:pPr indent="0" marL="0">
              <a:buNone/>
            </a:pPr>
            <a:r>
              <a:rPr lang="en-US" sz="1350" b="1" dirty="0">
                <a:solidFill>
                  <a:srgbClr val="818CF8"/>
                </a:solidFill>
                <a:latin typeface="Calibri" pitchFamily="34" charset="0"/>
                <a:ea typeface="Calibri" pitchFamily="34" charset="-122"/>
                <a:cs typeface="Calibri" pitchFamily="34" charset="-120"/>
              </a:rPr>
              <a:t>Real data</a:t>
            </a:r>
            <a:endParaRPr lang="en-US" sz="1350" dirty="0"/>
          </a:p>
        </p:txBody>
      </p:sp>
      <p:sp>
        <p:nvSpPr>
          <p:cNvPr id="8" name="Text 6"/>
          <p:cNvSpPr txBox="1"/>
          <p:nvPr/>
        </p:nvSpPr>
        <p:spPr>
          <a:xfrm>
            <a:off x="566928" y="2057400"/>
            <a:ext cx="1243584" cy="1554480"/>
          </a:xfrm>
          <a:prstGeom prst="rect">
            <a:avLst/>
          </a:prstGeom>
          <a:noFill/>
          <a:ln/>
        </p:spPr>
        <p:txBody>
          <a:bodyPr wrap="square" lIns="0" tIns="0" rIns="0" bIns="0" rtlCol="0" anchor="t"/>
          <a:lstStyle/>
          <a:p>
            <a:pPr indent="0" marL="0">
              <a:buNone/>
            </a:pPr>
            <a:r>
              <a:rPr lang="en-US" sz="1050" dirty="0">
                <a:solidFill>
                  <a:srgbClr val="F1F5F9"/>
                </a:solidFill>
                <a:latin typeface="Calibri" pitchFamily="34" charset="0"/>
                <a:ea typeface="Calibri" pitchFamily="34" charset="-122"/>
                <a:cs typeface="Calibri" pitchFamily="34" charset="-120"/>
              </a:rPr>
              <a:t>NASA IMERG rain</a:t>
            </a:r>
            <a:endParaRPr lang="en-US" sz="1050" dirty="0"/>
          </a:p>
          <a:p>
            <a:pPr indent="0" marL="0">
              <a:buNone/>
            </a:pPr>
            <a:r>
              <a:rPr lang="en-US" sz="1050" dirty="0">
                <a:solidFill>
                  <a:srgbClr val="F1F5F9"/>
                </a:solidFill>
                <a:latin typeface="Calibri" pitchFamily="34" charset="0"/>
                <a:ea typeface="Calibri" pitchFamily="34" charset="-122"/>
                <a:cs typeface="Calibri" pitchFamily="34" charset="-120"/>
              </a:rPr>
              <a:t>ERA5-Land wind</a:t>
            </a:r>
            <a:endParaRPr lang="en-US" sz="1050" dirty="0"/>
          </a:p>
          <a:p>
            <a:pPr indent="0" marL="0">
              <a:buNone/>
            </a:pPr>
            <a:r>
              <a:rPr lang="en-US" sz="1050" dirty="0">
                <a:solidFill>
                  <a:srgbClr val="F1F5F9"/>
                </a:solidFill>
                <a:latin typeface="Calibri" pitchFamily="34" charset="0"/>
                <a:ea typeface="Calibri" pitchFamily="34" charset="-122"/>
                <a:cs typeface="Calibri" pitchFamily="34" charset="-120"/>
              </a:rPr>
              <a:t>SRTM terrain</a:t>
            </a:r>
            <a:endParaRPr lang="en-US" sz="1050" dirty="0"/>
          </a:p>
          <a:p>
            <a:pPr indent="0" marL="0">
              <a:buNone/>
            </a:pPr>
            <a:r>
              <a:rPr lang="en-US" sz="1050" dirty="0">
                <a:solidFill>
                  <a:srgbClr val="F1F5F9"/>
                </a:solidFill>
                <a:latin typeface="Calibri" pitchFamily="34" charset="0"/>
                <a:ea typeface="Calibri" pitchFamily="34" charset="-122"/>
                <a:cs typeface="Calibri" pitchFamily="34" charset="-120"/>
              </a:rPr>
              <a:t>OpenCity flood maps</a:t>
            </a:r>
            <a:endParaRPr lang="en-US" sz="1050" dirty="0"/>
          </a:p>
          <a:p>
            <a:pPr indent="0" marL="0">
              <a:buNone/>
            </a:pPr>
            <a:r>
              <a:rPr lang="en-US" sz="1050" dirty="0">
                <a:solidFill>
                  <a:srgbClr val="F1F5F9"/>
                </a:solidFill>
                <a:latin typeface="Calibri" pitchFamily="34" charset="0"/>
                <a:ea typeface="Calibri" pitchFamily="34" charset="-122"/>
                <a:cs typeface="Calibri" pitchFamily="34" charset="-120"/>
              </a:rPr>
              <a:t>TNEB grid, live notices</a:t>
            </a:r>
            <a:endParaRPr lang="en-US" sz="1050" dirty="0"/>
          </a:p>
          <a:p>
            <a:pPr indent="0" marL="0">
              <a:buNone/>
            </a:pPr>
            <a:r>
              <a:rPr lang="en-US" sz="1050" dirty="0">
                <a:solidFill>
                  <a:srgbClr val="F1F5F9"/>
                </a:solidFill>
                <a:latin typeface="Calibri" pitchFamily="34" charset="0"/>
                <a:ea typeface="Calibri" pitchFamily="34" charset="-122"/>
                <a:cs typeface="Calibri" pitchFamily="34" charset="-120"/>
              </a:rPr>
              <a:t>CMWSSB, TNGIS, IMD</a:t>
            </a:r>
            <a:endParaRPr lang="en-US" sz="1050" dirty="0"/>
          </a:p>
        </p:txBody>
      </p:sp>
      <p:sp>
        <p:nvSpPr>
          <p:cNvPr id="9" name="Text 7"/>
          <p:cNvSpPr txBox="1"/>
          <p:nvPr/>
        </p:nvSpPr>
        <p:spPr>
          <a:xfrm>
            <a:off x="1920240" y="2331720"/>
            <a:ext cx="228600" cy="457200"/>
          </a:xfrm>
          <a:prstGeom prst="rect">
            <a:avLst/>
          </a:prstGeom>
          <a:noFill/>
          <a:ln/>
        </p:spPr>
        <p:txBody>
          <a:bodyPr wrap="square" lIns="0" tIns="0" rIns="0" bIns="0" rtlCol="0" anchor="ctr"/>
          <a:lstStyle/>
          <a:p>
            <a:pPr algn="ctr" indent="0" marL="0">
              <a:buNone/>
            </a:pPr>
            <a:r>
              <a:rPr lang="en-US" sz="2400" b="1" dirty="0">
                <a:solidFill>
                  <a:srgbClr val="64748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2148840" y="1508760"/>
            <a:ext cx="1463040" cy="2194560"/>
          </a:xfrm>
          <a:prstGeom prst="roundRect">
            <a:avLst>
              <a:gd name="adj" fmla="val 5000"/>
            </a:avLst>
          </a:prstGeom>
          <a:solidFill>
            <a:srgbClr val="131C31"/>
          </a:solidFill>
          <a:ln w="9525">
            <a:solidFill>
              <a:srgbClr val="26344F"/>
            </a:solidFill>
            <a:prstDash val="solid"/>
          </a:ln>
        </p:spPr>
      </p:sp>
      <p:sp>
        <p:nvSpPr>
          <p:cNvPr id="11" name="Text 9"/>
          <p:cNvSpPr txBox="1"/>
          <p:nvPr/>
        </p:nvSpPr>
        <p:spPr>
          <a:xfrm>
            <a:off x="2258568" y="1627632"/>
            <a:ext cx="1243584" cy="365760"/>
          </a:xfrm>
          <a:prstGeom prst="rect">
            <a:avLst/>
          </a:prstGeom>
          <a:noFill/>
          <a:ln/>
        </p:spPr>
        <p:txBody>
          <a:bodyPr wrap="square" lIns="0" tIns="0" rIns="0" bIns="0" rtlCol="0" anchor="ctr"/>
          <a:lstStyle/>
          <a:p>
            <a:pPr indent="0" marL="0">
              <a:buNone/>
            </a:pPr>
            <a:r>
              <a:rPr lang="en-US" sz="1350" b="1" dirty="0">
                <a:solidFill>
                  <a:srgbClr val="2DD4BF"/>
                </a:solidFill>
                <a:latin typeface="Calibri" pitchFamily="34" charset="0"/>
                <a:ea typeface="Calibri" pitchFamily="34" charset="-122"/>
                <a:cs typeface="Calibri" pitchFamily="34" charset="-120"/>
              </a:rPr>
              <a:t>Rules</a:t>
            </a:r>
            <a:endParaRPr lang="en-US" sz="1350" dirty="0"/>
          </a:p>
        </p:txBody>
      </p:sp>
      <p:sp>
        <p:nvSpPr>
          <p:cNvPr id="12" name="Text 10"/>
          <p:cNvSpPr txBox="1"/>
          <p:nvPr/>
        </p:nvSpPr>
        <p:spPr>
          <a:xfrm>
            <a:off x="2258568" y="2057400"/>
            <a:ext cx="1243584" cy="1554480"/>
          </a:xfrm>
          <a:prstGeom prst="rect">
            <a:avLst/>
          </a:prstGeom>
          <a:noFill/>
          <a:ln/>
        </p:spPr>
        <p:txBody>
          <a:bodyPr wrap="square" lIns="0" tIns="0" rIns="0" bIns="0" rtlCol="0" anchor="t"/>
          <a:lstStyle/>
          <a:p>
            <a:pPr indent="0" marL="0">
              <a:buNone/>
            </a:pPr>
            <a:r>
              <a:rPr lang="en-US" sz="1050" dirty="0">
                <a:solidFill>
                  <a:srgbClr val="F1F5F9"/>
                </a:solidFill>
                <a:latin typeface="Calibri" pitchFamily="34" charset="0"/>
                <a:ea typeface="Calibri" pitchFamily="34" charset="-122"/>
                <a:cs typeface="Calibri" pitchFamily="34" charset="-120"/>
              </a:rPr>
              <a:t>Phase from the data:</a:t>
            </a:r>
            <a:endParaRPr lang="en-US" sz="1050" dirty="0"/>
          </a:p>
          <a:p>
            <a:pPr indent="0" marL="0">
              <a:buNone/>
            </a:pPr>
            <a:r>
              <a:rPr lang="en-US" sz="1050" dirty="0">
                <a:solidFill>
                  <a:srgbClr val="F1F5F9"/>
                </a:solidFill>
                <a:latin typeface="Calibri" pitchFamily="34" charset="0"/>
                <a:ea typeface="Calibri" pitchFamily="34" charset="-122"/>
                <a:cs typeface="Calibri" pitchFamily="34" charset="-120"/>
              </a:rPr>
              <a:t>watch, impact,</a:t>
            </a:r>
            <a:endParaRPr lang="en-US" sz="1050" dirty="0"/>
          </a:p>
          <a:p>
            <a:pPr indent="0" marL="0">
              <a:buNone/>
            </a:pPr>
            <a:r>
              <a:rPr lang="en-US" sz="1050" dirty="0">
                <a:solidFill>
                  <a:srgbClr val="F1F5F9"/>
                </a:solidFill>
                <a:latin typeface="Calibri" pitchFamily="34" charset="0"/>
                <a:ea typeface="Calibri" pitchFamily="34" charset="-122"/>
                <a:cs typeface="Calibri" pitchFamily="34" charset="-120"/>
              </a:rPr>
              <a:t>restoration.</a:t>
            </a:r>
            <a:endParaRPr lang="en-US" sz="1050" dirty="0"/>
          </a:p>
          <a:p>
            <a:pPr indent="0" marL="0">
              <a:buNone/>
            </a:pPr>
            <a:r>
              <a:rPr lang="en-US" sz="1050" dirty="0">
                <a:solidFill>
                  <a:srgbClr val="F1F5F9"/>
                </a:solidFill>
                <a:latin typeface="Calibri" pitchFamily="34" charset="0"/>
                <a:ea typeface="Calibri" pitchFamily="34" charset="-122"/>
                <a:cs typeface="Calibri" pitchFamily="34" charset="-120"/>
              </a:rPr>
              <a:t>Pick the substations.</a:t>
            </a:r>
            <a:endParaRPr lang="en-US" sz="1050" dirty="0"/>
          </a:p>
        </p:txBody>
      </p:sp>
      <p:sp>
        <p:nvSpPr>
          <p:cNvPr id="13" name="Text 11"/>
          <p:cNvSpPr txBox="1"/>
          <p:nvPr/>
        </p:nvSpPr>
        <p:spPr>
          <a:xfrm>
            <a:off x="3611880" y="2331720"/>
            <a:ext cx="228600" cy="457200"/>
          </a:xfrm>
          <a:prstGeom prst="rect">
            <a:avLst/>
          </a:prstGeom>
          <a:noFill/>
          <a:ln/>
        </p:spPr>
        <p:txBody>
          <a:bodyPr wrap="square" lIns="0" tIns="0" rIns="0" bIns="0" rtlCol="0" anchor="ctr"/>
          <a:lstStyle/>
          <a:p>
            <a:pPr algn="ctr" indent="0" marL="0">
              <a:buNone/>
            </a:pPr>
            <a:r>
              <a:rPr lang="en-US" sz="2400" b="1" dirty="0">
                <a:solidFill>
                  <a:srgbClr val="64748B"/>
                </a:solidFill>
                <a:latin typeface="Calibri" pitchFamily="34" charset="0"/>
                <a:ea typeface="Calibri" pitchFamily="34" charset="-122"/>
                <a:cs typeface="Calibri" pitchFamily="34" charset="-120"/>
              </a:rPr>
              <a:t>›</a:t>
            </a:r>
            <a:endParaRPr lang="en-US" sz="2400" dirty="0"/>
          </a:p>
        </p:txBody>
      </p:sp>
      <p:sp>
        <p:nvSpPr>
          <p:cNvPr id="14" name="Shape 12"/>
          <p:cNvSpPr/>
          <p:nvPr/>
        </p:nvSpPr>
        <p:spPr>
          <a:xfrm>
            <a:off x="3840480" y="1508760"/>
            <a:ext cx="1463040" cy="2194560"/>
          </a:xfrm>
          <a:prstGeom prst="roundRect">
            <a:avLst>
              <a:gd name="adj" fmla="val 5000"/>
            </a:avLst>
          </a:prstGeom>
          <a:solidFill>
            <a:srgbClr val="131C31"/>
          </a:solidFill>
          <a:ln w="9525">
            <a:solidFill>
              <a:srgbClr val="26344F"/>
            </a:solidFill>
            <a:prstDash val="solid"/>
          </a:ln>
        </p:spPr>
      </p:sp>
      <p:sp>
        <p:nvSpPr>
          <p:cNvPr id="15" name="Text 13"/>
          <p:cNvSpPr txBox="1"/>
          <p:nvPr/>
        </p:nvSpPr>
        <p:spPr>
          <a:xfrm>
            <a:off x="3950208" y="1627632"/>
            <a:ext cx="1243584" cy="365760"/>
          </a:xfrm>
          <a:prstGeom prst="rect">
            <a:avLst/>
          </a:prstGeom>
          <a:noFill/>
          <a:ln/>
        </p:spPr>
        <p:txBody>
          <a:bodyPr wrap="square" lIns="0" tIns="0" rIns="0" bIns="0" rtlCol="0" anchor="ctr"/>
          <a:lstStyle/>
          <a:p>
            <a:pPr indent="0" marL="0">
              <a:buNone/>
            </a:pPr>
            <a:r>
              <a:rPr lang="en-US" sz="1350" b="1" dirty="0">
                <a:solidFill>
                  <a:srgbClr val="F59E0B"/>
                </a:solidFill>
                <a:latin typeface="Calibri" pitchFamily="34" charset="0"/>
                <a:ea typeface="Calibri" pitchFamily="34" charset="-122"/>
                <a:cs typeface="Calibri" pitchFamily="34" charset="-120"/>
              </a:rPr>
              <a:t>37 quotes</a:t>
            </a:r>
            <a:endParaRPr lang="en-US" sz="1350" dirty="0"/>
          </a:p>
        </p:txBody>
      </p:sp>
      <p:sp>
        <p:nvSpPr>
          <p:cNvPr id="16" name="Text 14"/>
          <p:cNvSpPr txBox="1"/>
          <p:nvPr/>
        </p:nvSpPr>
        <p:spPr>
          <a:xfrm>
            <a:off x="3950208" y="2057400"/>
            <a:ext cx="1243584" cy="1554480"/>
          </a:xfrm>
          <a:prstGeom prst="rect">
            <a:avLst/>
          </a:prstGeom>
          <a:noFill/>
          <a:ln/>
        </p:spPr>
        <p:txBody>
          <a:bodyPr wrap="square" lIns="0" tIns="0" rIns="0" bIns="0" rtlCol="0" anchor="t"/>
          <a:lstStyle/>
          <a:p>
            <a:pPr indent="0" marL="0">
              <a:buNone/>
            </a:pPr>
            <a:r>
              <a:rPr lang="en-US" sz="1050" dirty="0">
                <a:solidFill>
                  <a:srgbClr val="F1F5F9"/>
                </a:solidFill>
                <a:latin typeface="Calibri" pitchFamily="34" charset="0"/>
                <a:ea typeface="Calibri" pitchFamily="34" charset="-122"/>
                <a:cs typeface="Calibri" pitchFamily="34" charset="-120"/>
              </a:rPr>
              <a:t>Word for word,</a:t>
            </a:r>
            <a:endParaRPr lang="en-US" sz="1050" dirty="0"/>
          </a:p>
          <a:p>
            <a:pPr indent="0" marL="0">
              <a:buNone/>
            </a:pPr>
            <a:r>
              <a:rPr lang="en-US" sz="1050" dirty="0">
                <a:solidFill>
                  <a:srgbClr val="F1F5F9"/>
                </a:solidFill>
                <a:latin typeface="Calibri" pitchFamily="34" charset="0"/>
                <a:ea typeface="Calibri" pitchFamily="34" charset="-122"/>
                <a:cs typeface="Calibri" pitchFamily="34" charset="-120"/>
              </a:rPr>
              <a:t>with plan and page,</a:t>
            </a:r>
            <a:endParaRPr lang="en-US" sz="1050" dirty="0"/>
          </a:p>
          <a:p>
            <a:pPr indent="0" marL="0">
              <a:buNone/>
            </a:pPr>
            <a:r>
              <a:rPr lang="en-US" sz="1050" dirty="0">
                <a:solidFill>
                  <a:srgbClr val="F1F5F9"/>
                </a:solidFill>
                <a:latin typeface="Calibri" pitchFamily="34" charset="0"/>
                <a:ea typeface="Calibri" pitchFamily="34" charset="-122"/>
                <a:cs typeface="Calibri" pitchFamily="34" charset="-120"/>
              </a:rPr>
              <a:t>from four official</a:t>
            </a:r>
            <a:endParaRPr lang="en-US" sz="1050" dirty="0"/>
          </a:p>
          <a:p>
            <a:pPr indent="0" marL="0">
              <a:buNone/>
            </a:pPr>
            <a:r>
              <a:rPr lang="en-US" sz="1050" dirty="0">
                <a:solidFill>
                  <a:srgbClr val="F1F5F9"/>
                </a:solidFill>
                <a:latin typeface="Calibri" pitchFamily="34" charset="0"/>
                <a:ea typeface="Calibri" pitchFamily="34" charset="-122"/>
                <a:cs typeface="Calibri" pitchFamily="34" charset="-120"/>
              </a:rPr>
              <a:t>plans.</a:t>
            </a:r>
            <a:endParaRPr lang="en-US" sz="1050" dirty="0"/>
          </a:p>
        </p:txBody>
      </p:sp>
      <p:sp>
        <p:nvSpPr>
          <p:cNvPr id="17" name="Text 15"/>
          <p:cNvSpPr txBox="1"/>
          <p:nvPr/>
        </p:nvSpPr>
        <p:spPr>
          <a:xfrm>
            <a:off x="5303520" y="2331720"/>
            <a:ext cx="228600" cy="457200"/>
          </a:xfrm>
          <a:prstGeom prst="rect">
            <a:avLst/>
          </a:prstGeom>
          <a:noFill/>
          <a:ln/>
        </p:spPr>
        <p:txBody>
          <a:bodyPr wrap="square" lIns="0" tIns="0" rIns="0" bIns="0" rtlCol="0" anchor="ctr"/>
          <a:lstStyle/>
          <a:p>
            <a:pPr algn="ctr" indent="0" marL="0">
              <a:buNone/>
            </a:pPr>
            <a:r>
              <a:rPr lang="en-US" sz="2400" b="1" dirty="0">
                <a:solidFill>
                  <a:srgbClr val="64748B"/>
                </a:solidFill>
                <a:latin typeface="Calibri" pitchFamily="34" charset="0"/>
                <a:ea typeface="Calibri" pitchFamily="34" charset="-122"/>
                <a:cs typeface="Calibri" pitchFamily="34" charset="-120"/>
              </a:rPr>
              <a:t>›</a:t>
            </a:r>
            <a:endParaRPr lang="en-US" sz="2400" dirty="0"/>
          </a:p>
        </p:txBody>
      </p:sp>
      <p:sp>
        <p:nvSpPr>
          <p:cNvPr id="18" name="Shape 16"/>
          <p:cNvSpPr/>
          <p:nvPr/>
        </p:nvSpPr>
        <p:spPr>
          <a:xfrm>
            <a:off x="5532120" y="1508760"/>
            <a:ext cx="1463040" cy="2194560"/>
          </a:xfrm>
          <a:prstGeom prst="roundRect">
            <a:avLst>
              <a:gd name="adj" fmla="val 5000"/>
            </a:avLst>
          </a:prstGeom>
          <a:solidFill>
            <a:srgbClr val="131C31"/>
          </a:solidFill>
          <a:ln w="9525">
            <a:solidFill>
              <a:srgbClr val="26344F"/>
            </a:solidFill>
            <a:prstDash val="solid"/>
          </a:ln>
        </p:spPr>
      </p:sp>
      <p:sp>
        <p:nvSpPr>
          <p:cNvPr id="19" name="Text 17"/>
          <p:cNvSpPr txBox="1"/>
          <p:nvPr/>
        </p:nvSpPr>
        <p:spPr>
          <a:xfrm>
            <a:off x="5641848" y="1627632"/>
            <a:ext cx="1243584" cy="365760"/>
          </a:xfrm>
          <a:prstGeom prst="rect">
            <a:avLst/>
          </a:prstGeom>
          <a:noFill/>
          <a:ln/>
        </p:spPr>
        <p:txBody>
          <a:bodyPr wrap="square" lIns="0" tIns="0" rIns="0" bIns="0" rtlCol="0" anchor="ctr"/>
          <a:lstStyle/>
          <a:p>
            <a:pPr indent="0" marL="0">
              <a:buNone/>
            </a:pPr>
            <a:r>
              <a:rPr lang="en-US" sz="1350" b="1" dirty="0">
                <a:solidFill>
                  <a:srgbClr val="FB7185"/>
                </a:solidFill>
                <a:latin typeface="Calibri" pitchFamily="34" charset="0"/>
                <a:ea typeface="Calibri" pitchFamily="34" charset="-122"/>
                <a:cs typeface="Calibri" pitchFamily="34" charset="-120"/>
              </a:rPr>
              <a:t>Gemini 2.5 Flash</a:t>
            </a:r>
            <a:endParaRPr lang="en-US" sz="1350" dirty="0"/>
          </a:p>
        </p:txBody>
      </p:sp>
      <p:sp>
        <p:nvSpPr>
          <p:cNvPr id="20" name="Text 18"/>
          <p:cNvSpPr txBox="1"/>
          <p:nvPr/>
        </p:nvSpPr>
        <p:spPr>
          <a:xfrm>
            <a:off x="5641848" y="2057400"/>
            <a:ext cx="1243584" cy="1554480"/>
          </a:xfrm>
          <a:prstGeom prst="rect">
            <a:avLst/>
          </a:prstGeom>
          <a:noFill/>
          <a:ln/>
        </p:spPr>
        <p:txBody>
          <a:bodyPr wrap="square" lIns="0" tIns="0" rIns="0" bIns="0" rtlCol="0" anchor="t"/>
          <a:lstStyle/>
          <a:p>
            <a:pPr indent="0" marL="0">
              <a:buNone/>
            </a:pPr>
            <a:r>
              <a:rPr lang="en-US" sz="1050" dirty="0">
                <a:solidFill>
                  <a:srgbClr val="F1F5F9"/>
                </a:solidFill>
                <a:latin typeface="Calibri" pitchFamily="34" charset="0"/>
                <a:ea typeface="Calibri" pitchFamily="34" charset="-122"/>
                <a:cs typeface="Calibri" pitchFamily="34" charset="-120"/>
              </a:rPr>
              <a:t>Words one short</a:t>
            </a:r>
            <a:endParaRPr lang="en-US" sz="1050" dirty="0"/>
          </a:p>
          <a:p>
            <a:pPr indent="0" marL="0">
              <a:buNone/>
            </a:pPr>
            <a:r>
              <a:rPr lang="en-US" sz="1050" dirty="0">
                <a:solidFill>
                  <a:srgbClr val="F1F5F9"/>
                </a:solidFill>
                <a:latin typeface="Calibri" pitchFamily="34" charset="0"/>
                <a:ea typeface="Calibri" pitchFamily="34" charset="-122"/>
                <a:cs typeface="Calibri" pitchFamily="34" charset="-120"/>
              </a:rPr>
              <a:t>note. Cannot write</a:t>
            </a:r>
            <a:endParaRPr lang="en-US" sz="1050" dirty="0"/>
          </a:p>
          <a:p>
            <a:pPr indent="0" marL="0">
              <a:buNone/>
            </a:pPr>
            <a:r>
              <a:rPr lang="en-US" sz="1050" dirty="0">
                <a:solidFill>
                  <a:srgbClr val="F1F5F9"/>
                </a:solidFill>
                <a:latin typeface="Calibri" pitchFamily="34" charset="0"/>
                <a:ea typeface="Calibri" pitchFamily="34" charset="-122"/>
                <a:cs typeface="Calibri" pitchFamily="34" charset="-120"/>
              </a:rPr>
              <a:t>or change a quote.</a:t>
            </a:r>
            <a:endParaRPr lang="en-US" sz="1050" dirty="0"/>
          </a:p>
        </p:txBody>
      </p:sp>
      <p:sp>
        <p:nvSpPr>
          <p:cNvPr id="21" name="Text 19"/>
          <p:cNvSpPr txBox="1"/>
          <p:nvPr/>
        </p:nvSpPr>
        <p:spPr>
          <a:xfrm>
            <a:off x="6995160" y="2331720"/>
            <a:ext cx="228600" cy="457200"/>
          </a:xfrm>
          <a:prstGeom prst="rect">
            <a:avLst/>
          </a:prstGeom>
          <a:noFill/>
          <a:ln/>
        </p:spPr>
        <p:txBody>
          <a:bodyPr wrap="square" lIns="0" tIns="0" rIns="0" bIns="0" rtlCol="0" anchor="ctr"/>
          <a:lstStyle/>
          <a:p>
            <a:pPr algn="ctr" indent="0" marL="0">
              <a:buNone/>
            </a:pPr>
            <a:r>
              <a:rPr lang="en-US" sz="2400" b="1" dirty="0">
                <a:solidFill>
                  <a:srgbClr val="64748B"/>
                </a:solidFill>
                <a:latin typeface="Calibri" pitchFamily="34" charset="0"/>
                <a:ea typeface="Calibri" pitchFamily="34" charset="-122"/>
                <a:cs typeface="Calibri" pitchFamily="34" charset="-120"/>
              </a:rPr>
              <a:t>›</a:t>
            </a:r>
            <a:endParaRPr lang="en-US" sz="2400" dirty="0"/>
          </a:p>
        </p:txBody>
      </p:sp>
      <p:sp>
        <p:nvSpPr>
          <p:cNvPr id="22" name="Shape 20"/>
          <p:cNvSpPr/>
          <p:nvPr/>
        </p:nvSpPr>
        <p:spPr>
          <a:xfrm>
            <a:off x="7223760" y="1508760"/>
            <a:ext cx="1463040" cy="2194560"/>
          </a:xfrm>
          <a:prstGeom prst="roundRect">
            <a:avLst>
              <a:gd name="adj" fmla="val 5000"/>
            </a:avLst>
          </a:prstGeom>
          <a:solidFill>
            <a:srgbClr val="131C31"/>
          </a:solidFill>
          <a:ln w="9525">
            <a:solidFill>
              <a:srgbClr val="26344F"/>
            </a:solidFill>
            <a:prstDash val="solid"/>
          </a:ln>
        </p:spPr>
      </p:sp>
      <p:sp>
        <p:nvSpPr>
          <p:cNvPr id="23" name="Text 21"/>
          <p:cNvSpPr txBox="1"/>
          <p:nvPr/>
        </p:nvSpPr>
        <p:spPr>
          <a:xfrm>
            <a:off x="7333488" y="1627632"/>
            <a:ext cx="1243584" cy="365760"/>
          </a:xfrm>
          <a:prstGeom prst="rect">
            <a:avLst/>
          </a:prstGeom>
          <a:noFill/>
          <a:ln/>
        </p:spPr>
        <p:txBody>
          <a:bodyPr wrap="square" lIns="0" tIns="0" rIns="0" bIns="0" rtlCol="0" anchor="ctr"/>
          <a:lstStyle/>
          <a:p>
            <a:pPr indent="0" marL="0">
              <a:buNone/>
            </a:pPr>
            <a:r>
              <a:rPr lang="en-US" sz="1350" b="1" dirty="0">
                <a:solidFill>
                  <a:srgbClr val="F1F5F9"/>
                </a:solidFill>
                <a:latin typeface="Calibri" pitchFamily="34" charset="0"/>
                <a:ea typeface="Calibri" pitchFamily="34" charset="-122"/>
                <a:cs typeface="Calibri" pitchFamily="34" charset="-120"/>
              </a:rPr>
              <a:t>Screen</a:t>
            </a:r>
            <a:endParaRPr lang="en-US" sz="1350" dirty="0"/>
          </a:p>
        </p:txBody>
      </p:sp>
      <p:sp>
        <p:nvSpPr>
          <p:cNvPr id="24" name="Text 22"/>
          <p:cNvSpPr txBox="1"/>
          <p:nvPr/>
        </p:nvSpPr>
        <p:spPr>
          <a:xfrm>
            <a:off x="7333488" y="2057400"/>
            <a:ext cx="1243584" cy="1554480"/>
          </a:xfrm>
          <a:prstGeom prst="rect">
            <a:avLst/>
          </a:prstGeom>
          <a:noFill/>
          <a:ln/>
        </p:spPr>
        <p:txBody>
          <a:bodyPr wrap="square" lIns="0" tIns="0" rIns="0" bIns="0" rtlCol="0" anchor="t"/>
          <a:lstStyle/>
          <a:p>
            <a:pPr indent="0" marL="0">
              <a:buNone/>
            </a:pPr>
            <a:r>
              <a:rPr lang="en-US" sz="1050" dirty="0">
                <a:solidFill>
                  <a:srgbClr val="F1F5F9"/>
                </a:solidFill>
                <a:latin typeface="Calibri" pitchFamily="34" charset="0"/>
                <a:ea typeface="Calibri" pitchFamily="34" charset="-122"/>
                <a:cs typeface="Calibri" pitchFamily="34" charset="-120"/>
              </a:rPr>
              <a:t>AI Directive,</a:t>
            </a:r>
            <a:endParaRPr lang="en-US" sz="1050" dirty="0"/>
          </a:p>
          <a:p>
            <a:pPr indent="0" marL="0">
              <a:buNone/>
            </a:pPr>
            <a:r>
              <a:rPr lang="en-US" sz="1050" dirty="0">
                <a:solidFill>
                  <a:srgbClr val="F1F5F9"/>
                </a:solidFill>
                <a:latin typeface="Calibri" pitchFamily="34" charset="0"/>
                <a:ea typeface="Calibri" pitchFamily="34" charset="-122"/>
                <a:cs typeface="Calibri" pitchFamily="34" charset="-120"/>
              </a:rPr>
              <a:t>substation card</a:t>
            </a:r>
            <a:endParaRPr lang="en-US" sz="1050" dirty="0"/>
          </a:p>
          <a:p>
            <a:pPr indent="0" marL="0">
              <a:buNone/>
            </a:pPr>
            <a:r>
              <a:rPr lang="en-US" sz="1050" dirty="0">
                <a:solidFill>
                  <a:srgbClr val="F1F5F9"/>
                </a:solidFill>
                <a:latin typeface="Calibri" pitchFamily="34" charset="0"/>
                <a:ea typeface="Calibri" pitchFamily="34" charset="-122"/>
                <a:cs typeface="Calibri" pitchFamily="34" charset="-120"/>
              </a:rPr>
              <a:t>and responder hub.</a:t>
            </a:r>
            <a:endParaRPr lang="en-US" sz="1050" dirty="0"/>
          </a:p>
        </p:txBody>
      </p:sp>
      <p:sp>
        <p:nvSpPr>
          <p:cNvPr id="25" name="Text 23"/>
          <p:cNvSpPr txBox="1"/>
          <p:nvPr/>
        </p:nvSpPr>
        <p:spPr>
          <a:xfrm>
            <a:off x="457200" y="4023360"/>
            <a:ext cx="8229600" cy="36576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Google Maps Platform  ·  Earth Engine  ·  Gemini  ·  Cloud Functions  ·  Firebase Hosting</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100" b="1" spc="100" kern="0" dirty="0">
                <a:solidFill>
                  <a:srgbClr val="2DD4BF"/>
                </a:solidFill>
                <a:latin typeface="Calibri" pitchFamily="34" charset="0"/>
                <a:ea typeface="Calibri" pitchFamily="34" charset="-122"/>
                <a:cs typeface="Calibri" pitchFamily="34" charset="-120"/>
              </a:rPr>
              <a:t>THE AI</a:t>
            </a:r>
            <a:endParaRPr lang="en-US" sz="1100" dirty="0"/>
          </a:p>
        </p:txBody>
      </p:sp>
      <p:sp>
        <p:nvSpPr>
          <p:cNvPr id="3" name="Text 1"/>
          <p:cNvSpPr txBox="1"/>
          <p:nvPr/>
        </p:nvSpPr>
        <p:spPr>
          <a:xfrm>
            <a:off x="457200" y="530352"/>
            <a:ext cx="8229600" cy="777240"/>
          </a:xfrm>
          <a:prstGeom prst="rect">
            <a:avLst/>
          </a:prstGeom>
          <a:noFill/>
          <a:ln/>
        </p:spPr>
        <p:txBody>
          <a:bodyPr wrap="square" lIns="0" tIns="0" rIns="0" bIns="0" rtlCol="0" anchor="t"/>
          <a:lstStyle/>
          <a:p>
            <a:pPr indent="0" marL="0">
              <a:buNone/>
            </a:pPr>
            <a:r>
              <a:rPr lang="en-US" sz="2800" b="1" dirty="0">
                <a:solidFill>
                  <a:srgbClr val="F1F5F9"/>
                </a:solidFill>
                <a:latin typeface="Calibri" pitchFamily="34" charset="0"/>
                <a:ea typeface="Calibri" pitchFamily="34" charset="-122"/>
                <a:cs typeface="Calibri" pitchFamily="34" charset="-120"/>
              </a:rPr>
              <a:t>What Gemini does, and what it never does.</a:t>
            </a:r>
            <a:endParaRPr lang="en-US" sz="2800" dirty="0"/>
          </a:p>
        </p:txBody>
      </p:sp>
      <p:sp>
        <p:nvSpPr>
          <p:cNvPr id="4" name="Text 2"/>
          <p:cNvSpPr txBox="1"/>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SurgeGrid AI  ·  surgegrid.web.app</a:t>
            </a:r>
            <a:endParaRPr lang="en-US" sz="900" dirty="0"/>
          </a:p>
        </p:txBody>
      </p:sp>
      <p:sp>
        <p:nvSpPr>
          <p:cNvPr id="5" name="Text 3"/>
          <p:cNvSpPr txBox="1"/>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12 / 16</a:t>
            </a:r>
            <a:endParaRPr lang="en-US" sz="900" dirty="0"/>
          </a:p>
        </p:txBody>
      </p:sp>
      <p:sp>
        <p:nvSpPr>
          <p:cNvPr id="6" name="Shape 4"/>
          <p:cNvSpPr/>
          <p:nvPr/>
        </p:nvSpPr>
        <p:spPr>
          <a:xfrm>
            <a:off x="457200" y="1463040"/>
            <a:ext cx="2651760" cy="1828800"/>
          </a:xfrm>
          <a:prstGeom prst="roundRect">
            <a:avLst>
              <a:gd name="adj" fmla="val 4000"/>
            </a:avLst>
          </a:prstGeom>
          <a:solidFill>
            <a:srgbClr val="131C31"/>
          </a:solidFill>
          <a:ln w="9525">
            <a:solidFill>
              <a:srgbClr val="26344F"/>
            </a:solidFill>
            <a:prstDash val="solid"/>
          </a:ln>
        </p:spPr>
      </p:sp>
      <p:sp>
        <p:nvSpPr>
          <p:cNvPr id="7" name="Shape 5"/>
          <p:cNvSpPr/>
          <p:nvPr/>
        </p:nvSpPr>
        <p:spPr>
          <a:xfrm>
            <a:off x="3246120" y="1463040"/>
            <a:ext cx="2651760" cy="1828800"/>
          </a:xfrm>
          <a:prstGeom prst="roundRect">
            <a:avLst>
              <a:gd name="adj" fmla="val 4000"/>
            </a:avLst>
          </a:prstGeom>
          <a:solidFill>
            <a:srgbClr val="131C31"/>
          </a:solidFill>
          <a:ln w="9525">
            <a:solidFill>
              <a:srgbClr val="26344F"/>
            </a:solidFill>
            <a:prstDash val="solid"/>
          </a:ln>
        </p:spPr>
      </p:sp>
      <p:sp>
        <p:nvSpPr>
          <p:cNvPr id="8" name="Shape 6"/>
          <p:cNvSpPr/>
          <p:nvPr/>
        </p:nvSpPr>
        <p:spPr>
          <a:xfrm>
            <a:off x="6035040" y="1463040"/>
            <a:ext cx="2651760" cy="1828800"/>
          </a:xfrm>
          <a:prstGeom prst="roundRect">
            <a:avLst>
              <a:gd name="adj" fmla="val 4000"/>
            </a:avLst>
          </a:prstGeom>
          <a:solidFill>
            <a:srgbClr val="131C31"/>
          </a:solidFill>
          <a:ln w="9525">
            <a:solidFill>
              <a:srgbClr val="26344F"/>
            </a:solidFill>
            <a:prstDash val="solid"/>
          </a:ln>
        </p:spPr>
      </p:sp>
      <p:sp>
        <p:nvSpPr>
          <p:cNvPr id="9" name="Text 7"/>
          <p:cNvSpPr txBox="1"/>
          <p:nvPr/>
        </p:nvSpPr>
        <p:spPr>
          <a:xfrm>
            <a:off x="640080" y="1572768"/>
            <a:ext cx="2286000" cy="274320"/>
          </a:xfrm>
          <a:prstGeom prst="rect">
            <a:avLst/>
          </a:prstGeom>
          <a:noFill/>
          <a:ln/>
        </p:spPr>
        <p:txBody>
          <a:bodyPr wrap="square" lIns="0" tIns="0" rIns="0" bIns="0" rtlCol="0" anchor="ctr"/>
          <a:lstStyle/>
          <a:p>
            <a:pPr indent="0" marL="0">
              <a:buNone/>
            </a:pPr>
            <a:r>
              <a:rPr lang="en-US" sz="1500" b="1" dirty="0">
                <a:solidFill>
                  <a:srgbClr val="2DD4BF"/>
                </a:solidFill>
                <a:latin typeface="Calibri" pitchFamily="34" charset="0"/>
                <a:ea typeface="Calibri" pitchFamily="34" charset="-122"/>
                <a:cs typeface="Calibri" pitchFamily="34" charset="-120"/>
              </a:rPr>
              <a:t>Does</a:t>
            </a:r>
            <a:endParaRPr lang="en-US" sz="1500" dirty="0"/>
          </a:p>
        </p:txBody>
      </p:sp>
      <p:sp>
        <p:nvSpPr>
          <p:cNvPr id="10" name="Text 8"/>
          <p:cNvSpPr txBox="1"/>
          <p:nvPr/>
        </p:nvSpPr>
        <p:spPr>
          <a:xfrm>
            <a:off x="640080" y="1901952"/>
            <a:ext cx="2286000" cy="1325880"/>
          </a:xfrm>
          <a:prstGeom prst="rect">
            <a:avLst/>
          </a:prstGeom>
          <a:noFill/>
          <a:ln/>
        </p:spPr>
        <p:txBody>
          <a:bodyPr wrap="square" lIns="0" tIns="0" rIns="0" bIns="0" rtlCol="0" anchor="t"/>
          <a:lstStyle/>
          <a:p>
            <a:pPr indent="0" marL="0">
              <a:buNone/>
            </a:pPr>
            <a:r>
              <a:rPr lang="en-US" sz="1050" dirty="0">
                <a:solidFill>
                  <a:srgbClr val="F1F5F9"/>
                </a:solidFill>
                <a:latin typeface="Calibri" pitchFamily="34" charset="0"/>
                <a:ea typeface="Calibri" pitchFamily="34" charset="-122"/>
                <a:cs typeface="Calibri" pitchFamily="34" charset="-120"/>
              </a:rPr>
              <a:t>Picks substation and feeder names from lists we send. Writes one short note, or a live-day summary of our data. Runs on Google Cloud with no API key in the app.</a:t>
            </a:r>
            <a:endParaRPr lang="en-US" sz="1050" dirty="0"/>
          </a:p>
        </p:txBody>
      </p:sp>
      <p:sp>
        <p:nvSpPr>
          <p:cNvPr id="11" name="Text 9"/>
          <p:cNvSpPr txBox="1"/>
          <p:nvPr/>
        </p:nvSpPr>
        <p:spPr>
          <a:xfrm>
            <a:off x="3429000" y="1572768"/>
            <a:ext cx="2286000" cy="274320"/>
          </a:xfrm>
          <a:prstGeom prst="rect">
            <a:avLst/>
          </a:prstGeom>
          <a:noFill/>
          <a:ln/>
        </p:spPr>
        <p:txBody>
          <a:bodyPr wrap="square" lIns="0" tIns="0" rIns="0" bIns="0" rtlCol="0" anchor="ctr"/>
          <a:lstStyle/>
          <a:p>
            <a:pPr indent="0" marL="0">
              <a:buNone/>
            </a:pPr>
            <a:r>
              <a:rPr lang="en-US" sz="1500" b="1" dirty="0">
                <a:solidFill>
                  <a:srgbClr val="FB7185"/>
                </a:solidFill>
                <a:latin typeface="Calibri" pitchFamily="34" charset="0"/>
                <a:ea typeface="Calibri" pitchFamily="34" charset="-122"/>
                <a:cs typeface="Calibri" pitchFamily="34" charset="-120"/>
              </a:rPr>
              <a:t>Never does</a:t>
            </a:r>
            <a:endParaRPr lang="en-US" sz="1500" dirty="0"/>
          </a:p>
        </p:txBody>
      </p:sp>
      <p:sp>
        <p:nvSpPr>
          <p:cNvPr id="12" name="Text 10"/>
          <p:cNvSpPr txBox="1"/>
          <p:nvPr/>
        </p:nvSpPr>
        <p:spPr>
          <a:xfrm>
            <a:off x="3429000" y="1901952"/>
            <a:ext cx="2286000" cy="1325880"/>
          </a:xfrm>
          <a:prstGeom prst="rect">
            <a:avLst/>
          </a:prstGeom>
          <a:noFill/>
          <a:ln/>
        </p:spPr>
        <p:txBody>
          <a:bodyPr wrap="square" lIns="0" tIns="0" rIns="0" bIns="0" rtlCol="0" anchor="t"/>
          <a:lstStyle/>
          <a:p>
            <a:pPr indent="0" marL="0">
              <a:buNone/>
            </a:pPr>
            <a:r>
              <a:rPr lang="en-US" sz="1050" dirty="0">
                <a:solidFill>
                  <a:srgbClr val="F1F5F9"/>
                </a:solidFill>
                <a:latin typeface="Calibri" pitchFamily="34" charset="0"/>
                <a:ea typeface="Calibri" pitchFamily="34" charset="-122"/>
                <a:cs typeface="Calibri" pitchFamily="34" charset="-120"/>
              </a:rPr>
              <a:t>Write, reword or cite the plan quotes. Invent a number: a note with a number that was not in the prompt is thrown away.</a:t>
            </a:r>
            <a:endParaRPr lang="en-US" sz="1050" dirty="0"/>
          </a:p>
        </p:txBody>
      </p:sp>
      <p:sp>
        <p:nvSpPr>
          <p:cNvPr id="13" name="Text 11"/>
          <p:cNvSpPr txBox="1"/>
          <p:nvPr/>
        </p:nvSpPr>
        <p:spPr>
          <a:xfrm>
            <a:off x="6217920" y="1572768"/>
            <a:ext cx="2286000" cy="274320"/>
          </a:xfrm>
          <a:prstGeom prst="rect">
            <a:avLst/>
          </a:prstGeom>
          <a:noFill/>
          <a:ln/>
        </p:spPr>
        <p:txBody>
          <a:bodyPr wrap="square" lIns="0" tIns="0" rIns="0" bIns="0" rtlCol="0" anchor="ctr"/>
          <a:lstStyle/>
          <a:p>
            <a:pPr indent="0" marL="0">
              <a:buNone/>
            </a:pPr>
            <a:r>
              <a:rPr lang="en-US" sz="1500" b="1" dirty="0">
                <a:solidFill>
                  <a:srgbClr val="F59E0B"/>
                </a:solidFill>
                <a:latin typeface="Calibri" pitchFamily="34" charset="0"/>
                <a:ea typeface="Calibri" pitchFamily="34" charset="-122"/>
                <a:cs typeface="Calibri" pitchFamily="34" charset="-120"/>
              </a:rPr>
              <a:t>Guardrails</a:t>
            </a:r>
            <a:endParaRPr lang="en-US" sz="1500" dirty="0"/>
          </a:p>
        </p:txBody>
      </p:sp>
      <p:sp>
        <p:nvSpPr>
          <p:cNvPr id="14" name="Text 12"/>
          <p:cNvSpPr txBox="1"/>
          <p:nvPr/>
        </p:nvSpPr>
        <p:spPr>
          <a:xfrm>
            <a:off x="6217920" y="1901952"/>
            <a:ext cx="2286000" cy="132588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F1F5F9"/>
                </a:solidFill>
                <a:latin typeface="Calibri" pitchFamily="34" charset="0"/>
                <a:ea typeface="Calibri" pitchFamily="34" charset="-122"/>
                <a:cs typeface="Calibri" pitchFamily="34" charset="-120"/>
              </a:rPr>
              <a:t>Fixed answer format (JSON schema)</a:t>
            </a:r>
            <a:endParaRPr lang="en-US" sz="1050" dirty="0"/>
          </a:p>
          <a:p>
            <a:pPr marL="342900" indent="-342900">
              <a:spcAft>
                <a:spcPts val="300"/>
              </a:spcAft>
              <a:buSzPct val="100000"/>
              <a:buChar char="•"/>
            </a:pPr>
            <a:r>
              <a:rPr lang="en-US" sz="1050" dirty="0">
                <a:solidFill>
                  <a:srgbClr val="F1F5F9"/>
                </a:solidFill>
                <a:latin typeface="Calibri" pitchFamily="34" charset="0"/>
                <a:ea typeface="Calibri" pitchFamily="34" charset="-122"/>
                <a:cs typeface="Calibri" pitchFamily="34" charset="-120"/>
              </a:rPr>
              <a:t>Names filtered to our lists</a:t>
            </a:r>
            <a:endParaRPr lang="en-US" sz="1050" dirty="0"/>
          </a:p>
          <a:p>
            <a:pPr marL="342900" indent="-342900">
              <a:spcAft>
                <a:spcPts val="300"/>
              </a:spcAft>
              <a:buSzPct val="100000"/>
              <a:buChar char="•"/>
            </a:pPr>
            <a:r>
              <a:rPr lang="en-US" sz="1050" dirty="0">
                <a:solidFill>
                  <a:srgbClr val="F1F5F9"/>
                </a:solidFill>
                <a:latin typeface="Calibri" pitchFamily="34" charset="0"/>
                <a:ea typeface="Calibri" pitchFamily="34" charset="-122"/>
                <a:cs typeface="Calibri" pitchFamily="34" charset="-120"/>
              </a:rPr>
              <a:t>Numbers checked against the prompt</a:t>
            </a:r>
            <a:endParaRPr lang="en-US" sz="1050" dirty="0"/>
          </a:p>
          <a:p>
            <a:pPr marL="342900" indent="-342900">
              <a:spcAft>
                <a:spcPts val="300"/>
              </a:spcAft>
              <a:buSzPct val="100000"/>
              <a:buChar char="•"/>
            </a:pPr>
            <a:r>
              <a:rPr lang="en-US" sz="1050" dirty="0">
                <a:solidFill>
                  <a:srgbClr val="F1F5F9"/>
                </a:solidFill>
                <a:latin typeface="Calibri" pitchFamily="34" charset="0"/>
                <a:ea typeface="Calibri" pitchFamily="34" charset="-122"/>
                <a:cs typeface="Calibri" pitchFamily="34" charset="-120"/>
              </a:rPr>
              <a:t>Gemini down? Same quotes, rule-based notes</a:t>
            </a:r>
            <a:endParaRPr lang="en-US" sz="1050" dirty="0"/>
          </a:p>
        </p:txBody>
      </p:sp>
      <p:sp>
        <p:nvSpPr>
          <p:cNvPr id="15" name="Shape 13"/>
          <p:cNvSpPr/>
          <p:nvPr/>
        </p:nvSpPr>
        <p:spPr>
          <a:xfrm>
            <a:off x="457200" y="3474720"/>
            <a:ext cx="8229600" cy="1051560"/>
          </a:xfrm>
          <a:prstGeom prst="roundRect">
            <a:avLst>
              <a:gd name="adj" fmla="val 6957"/>
            </a:avLst>
          </a:prstGeom>
          <a:solidFill>
            <a:srgbClr val="0F2A2E"/>
          </a:solidFill>
          <a:ln w="9525">
            <a:solidFill>
              <a:srgbClr val="26344F"/>
            </a:solidFill>
            <a:prstDash val="solid"/>
          </a:ln>
        </p:spPr>
      </p:sp>
      <p:sp>
        <p:nvSpPr>
          <p:cNvPr id="16" name="Text 14"/>
          <p:cNvSpPr txBox="1"/>
          <p:nvPr/>
        </p:nvSpPr>
        <p:spPr>
          <a:xfrm>
            <a:off x="640080" y="3547872"/>
            <a:ext cx="7863840" cy="274320"/>
          </a:xfrm>
          <a:prstGeom prst="rect">
            <a:avLst/>
          </a:prstGeom>
          <a:noFill/>
          <a:ln/>
        </p:spPr>
        <p:txBody>
          <a:bodyPr wrap="square" lIns="0" tIns="0" rIns="0" bIns="0" rtlCol="0" anchor="ctr"/>
          <a:lstStyle/>
          <a:p>
            <a:pPr indent="0" marL="0">
              <a:buNone/>
            </a:pPr>
            <a:r>
              <a:rPr lang="en-US" sz="1050" b="1" dirty="0">
                <a:solidFill>
                  <a:srgbClr val="2DD4BF"/>
                </a:solidFill>
                <a:latin typeface="Calibri" pitchFamily="34" charset="0"/>
                <a:ea typeface="Calibri" pitchFamily="34" charset="-122"/>
                <a:cs typeface="Calibri" pitchFamily="34" charset="-120"/>
              </a:rPr>
              <a:t>A real note from the live site (ETL SS, peak):</a:t>
            </a:r>
            <a:endParaRPr lang="en-US" sz="1050" dirty="0"/>
          </a:p>
        </p:txBody>
      </p:sp>
      <p:sp>
        <p:nvSpPr>
          <p:cNvPr id="17" name="Text 15"/>
          <p:cNvSpPr txBox="1"/>
          <p:nvPr/>
        </p:nvSpPr>
        <p:spPr>
          <a:xfrm>
            <a:off x="640080" y="3840480"/>
            <a:ext cx="7863840" cy="594360"/>
          </a:xfrm>
          <a:prstGeom prst="rect">
            <a:avLst/>
          </a:prstGeom>
          <a:noFill/>
          <a:ln/>
        </p:spPr>
        <p:txBody>
          <a:bodyPr wrap="square" lIns="0" tIns="0" rIns="0" bIns="0" rtlCol="0" anchor="t"/>
          <a:lstStyle/>
          <a:p>
            <a:pPr indent="0" marL="0">
              <a:buNone/>
            </a:pPr>
            <a:r>
              <a:rPr lang="en-US" sz="1250" i="1" dirty="0">
                <a:solidFill>
                  <a:srgbClr val="F1F5F9"/>
                </a:solidFill>
                <a:latin typeface="Calibri" pitchFamily="34" charset="0"/>
                <a:ea typeface="Calibri" pitchFamily="34" charset="-122"/>
                <a:cs typeface="Calibri" pitchFamily="34" charset="-120"/>
              </a:rPr>
              <a:t>"Heavy rain (satellite, 89 mm) fell over the site's 11 km cell. The yard is at -1 m, at or below the city average, and there are 1 2015 water-stagnation points within 500 m."</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100" b="1" spc="100" kern="0" dirty="0">
                <a:solidFill>
                  <a:srgbClr val="2DD4BF"/>
                </a:solidFill>
                <a:latin typeface="Calibri" pitchFamily="34" charset="0"/>
                <a:ea typeface="Calibri" pitchFamily="34" charset="-122"/>
                <a:cs typeface="Calibri" pitchFamily="34" charset="-120"/>
              </a:rPr>
              <a:t>TRACK 5 FIT</a:t>
            </a:r>
            <a:endParaRPr lang="en-US" sz="1100" dirty="0"/>
          </a:p>
        </p:txBody>
      </p:sp>
      <p:sp>
        <p:nvSpPr>
          <p:cNvPr id="3" name="Text 1"/>
          <p:cNvSpPr txBox="1"/>
          <p:nvPr/>
        </p:nvSpPr>
        <p:spPr>
          <a:xfrm>
            <a:off x="457200" y="530352"/>
            <a:ext cx="8229600" cy="777240"/>
          </a:xfrm>
          <a:prstGeom prst="rect">
            <a:avLst/>
          </a:prstGeom>
          <a:noFill/>
          <a:ln/>
        </p:spPr>
        <p:txBody>
          <a:bodyPr wrap="square" lIns="0" tIns="0" rIns="0" bIns="0" rtlCol="0" anchor="t"/>
          <a:lstStyle/>
          <a:p>
            <a:pPr indent="0" marL="0">
              <a:buNone/>
            </a:pPr>
            <a:r>
              <a:rPr lang="en-US" sz="2800" b="1" dirty="0">
                <a:solidFill>
                  <a:srgbClr val="F1F5F9"/>
                </a:solidFill>
                <a:latin typeface="Calibri" pitchFamily="34" charset="0"/>
                <a:ea typeface="Calibri" pitchFamily="34" charset="-122"/>
                <a:cs typeface="Calibri" pitchFamily="34" charset="-120"/>
              </a:rPr>
              <a:t>What the brief asks for, and what SurgeGrid delivers.</a:t>
            </a:r>
            <a:endParaRPr lang="en-US" sz="2800" dirty="0"/>
          </a:p>
        </p:txBody>
      </p:sp>
      <p:sp>
        <p:nvSpPr>
          <p:cNvPr id="4" name="Text 2"/>
          <p:cNvSpPr txBox="1"/>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SurgeGrid AI  ·  surgegrid.web.app</a:t>
            </a:r>
            <a:endParaRPr lang="en-US" sz="900" dirty="0"/>
          </a:p>
        </p:txBody>
      </p:sp>
      <p:sp>
        <p:nvSpPr>
          <p:cNvPr id="5" name="Text 3"/>
          <p:cNvSpPr txBox="1"/>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13 / 16</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2560320"/>
                <a:gridCol w="5669280"/>
              </a:tblGrid>
              <a:tr h="0">
                <a:tc>
                  <a:txBody>
                    <a:bodyPr/>
                    <a:lstStyle/>
                    <a:p>
                      <a:pPr indent="0" marL="0">
                        <a:buNone/>
                      </a:pPr>
                      <a:r>
                        <a:rPr lang="en-US" sz="1100" b="1" dirty="0">
                          <a:solidFill>
                            <a:srgbClr val="2DD4BF"/>
                          </a:solidFill>
                          <a:latin typeface="Calibri" pitchFamily="34" charset="0"/>
                          <a:ea typeface="Calibri" pitchFamily="34" charset="-122"/>
                          <a:cs typeface="Calibri" pitchFamily="34" charset="-120"/>
                        </a:rPr>
                        <a:t>The brief asks for</a:t>
                      </a:r>
                      <a:endParaRPr lang="en-US" sz="1100" dirty="0">
                        <a:latin typeface="Calibri" charset="0"/>
                        <a:ea typeface="Calibri" charset="0"/>
                        <a:cs typeface="Calibri" charset="0"/>
                      </a:endParaRPr>
                    </a:p>
                  </a:txBody>
                  <a:tcPr marL="109728" marR="109728" marT="64008" marB="64008" anchor="ctr">
                    <a:lnL w="9525" cap="flat" cmpd="sng" algn="ctr">
                      <a:solidFill>
                        <a:srgbClr val="26344F"/>
                      </a:solidFill>
                      <a:prstDash val="solid"/>
                      <a:round/>
                      <a:headEnd type="none" w="med" len="med"/>
                      <a:tailEnd type="none" w="med" len="med"/>
                    </a:lnL>
                    <a:lnR w="9525" cap="flat" cmpd="sng" algn="ctr">
                      <a:solidFill>
                        <a:srgbClr val="26344F"/>
                      </a:solidFill>
                      <a:prstDash val="solid"/>
                      <a:round/>
                      <a:headEnd type="none" w="med" len="med"/>
                      <a:tailEnd type="none" w="med" len="med"/>
                    </a:lnR>
                    <a:lnT w="9525" cap="flat" cmpd="sng" algn="ctr">
                      <a:solidFill>
                        <a:srgbClr val="26344F"/>
                      </a:solidFill>
                      <a:prstDash val="solid"/>
                      <a:round/>
                      <a:headEnd type="none" w="med" len="med"/>
                      <a:tailEnd type="none" w="med" len="med"/>
                    </a:lnT>
                    <a:lnB w="9525" cap="flat" cmpd="sng" algn="ctr">
                      <a:solidFill>
                        <a:srgbClr val="26344F"/>
                      </a:solidFill>
                      <a:prstDash val="solid"/>
                      <a:round/>
                      <a:headEnd type="none" w="med" len="med"/>
                      <a:tailEnd type="none" w="med" len="med"/>
                    </a:lnB>
                    <a:solidFill>
                      <a:srgbClr val="1B2742"/>
                    </a:solidFill>
                  </a:tcPr>
                </a:tc>
                <a:tc>
                  <a:txBody>
                    <a:bodyPr/>
                    <a:lstStyle/>
                    <a:p>
                      <a:pPr indent="0" marL="0">
                        <a:buNone/>
                      </a:pPr>
                      <a:r>
                        <a:rPr lang="en-US" sz="1100" b="1" dirty="0">
                          <a:solidFill>
                            <a:srgbClr val="2DD4BF"/>
                          </a:solidFill>
                          <a:latin typeface="Calibri" pitchFamily="34" charset="0"/>
                          <a:ea typeface="Calibri" pitchFamily="34" charset="-122"/>
                          <a:cs typeface="Calibri" pitchFamily="34" charset="-120"/>
                        </a:rPr>
                        <a:t>What SurgeGrid delivers</a:t>
                      </a:r>
                      <a:endParaRPr lang="en-US" sz="1100" dirty="0">
                        <a:latin typeface="Calibri" charset="0"/>
                        <a:ea typeface="Calibri" charset="0"/>
                        <a:cs typeface="Calibri" charset="0"/>
                      </a:endParaRPr>
                    </a:p>
                  </a:txBody>
                  <a:tcPr marL="109728" marR="109728" marT="64008" marB="64008" anchor="ctr">
                    <a:lnL w="9525" cap="flat" cmpd="sng" algn="ctr">
                      <a:solidFill>
                        <a:srgbClr val="26344F"/>
                      </a:solidFill>
                      <a:prstDash val="solid"/>
                      <a:round/>
                      <a:headEnd type="none" w="med" len="med"/>
                      <a:tailEnd type="none" w="med" len="med"/>
                    </a:lnL>
                    <a:lnR w="9525" cap="flat" cmpd="sng" algn="ctr">
                      <a:solidFill>
                        <a:srgbClr val="26344F"/>
                      </a:solidFill>
                      <a:prstDash val="solid"/>
                      <a:round/>
                      <a:headEnd type="none" w="med" len="med"/>
                      <a:tailEnd type="none" w="med" len="med"/>
                    </a:lnR>
                    <a:lnT w="9525" cap="flat" cmpd="sng" algn="ctr">
                      <a:solidFill>
                        <a:srgbClr val="26344F"/>
                      </a:solidFill>
                      <a:prstDash val="solid"/>
                      <a:round/>
                      <a:headEnd type="none" w="med" len="med"/>
                      <a:tailEnd type="none" w="med" len="med"/>
                    </a:lnT>
                    <a:lnB w="9525" cap="flat" cmpd="sng" algn="ctr">
                      <a:solidFill>
                        <a:srgbClr val="26344F"/>
                      </a:solidFill>
                      <a:prstDash val="solid"/>
                      <a:round/>
                      <a:headEnd type="none" w="med" len="med"/>
                      <a:tailEnd type="none" w="med" len="med"/>
                    </a:lnB>
                    <a:solidFill>
                      <a:srgbClr val="1B2742"/>
                    </a:solidFill>
                  </a:tcPr>
                </a:tc>
              </a:tr>
              <a:tr h="0">
                <a:tc>
                  <a:txBody>
                    <a:bodyPr/>
                    <a:lstStyle/>
                    <a:p>
                      <a:pPr indent="0" marL="0">
                        <a:buNone/>
                      </a:pPr>
                      <a:r>
                        <a:rPr lang="en-US" sz="1050" b="1" dirty="0">
                          <a:solidFill>
                            <a:srgbClr val="F1F5F9"/>
                          </a:solidFill>
                          <a:latin typeface="Calibri" pitchFamily="34" charset="0"/>
                          <a:ea typeface="Calibri" pitchFamily="34" charset="-122"/>
                          <a:cs typeface="Calibri" pitchFamily="34" charset="-120"/>
                        </a:rPr>
                        <a:t>Earth Engine and real meteorological data</a:t>
                      </a:r>
                      <a:endParaRPr lang="en-US" sz="1050" dirty="0">
                        <a:latin typeface="Calibri" charset="0"/>
                        <a:ea typeface="Calibri" charset="0"/>
                        <a:cs typeface="Calibri" charset="0"/>
                      </a:endParaRPr>
                    </a:p>
                  </a:txBody>
                  <a:tcPr marL="109728" marR="109728" marT="64008" marB="64008" anchor="ctr">
                    <a:lnL w="9525" cap="flat" cmpd="sng" algn="ctr">
                      <a:solidFill>
                        <a:srgbClr val="26344F"/>
                      </a:solidFill>
                      <a:prstDash val="solid"/>
                      <a:round/>
                      <a:headEnd type="none" w="med" len="med"/>
                      <a:tailEnd type="none" w="med" len="med"/>
                    </a:lnL>
                    <a:lnR w="9525" cap="flat" cmpd="sng" algn="ctr">
                      <a:solidFill>
                        <a:srgbClr val="26344F"/>
                      </a:solidFill>
                      <a:prstDash val="solid"/>
                      <a:round/>
                      <a:headEnd type="none" w="med" len="med"/>
                      <a:tailEnd type="none" w="med" len="med"/>
                    </a:lnR>
                    <a:lnT w="9525" cap="flat" cmpd="sng" algn="ctr">
                      <a:solidFill>
                        <a:srgbClr val="26344F"/>
                      </a:solidFill>
                      <a:prstDash val="solid"/>
                      <a:round/>
                      <a:headEnd type="none" w="med" len="med"/>
                      <a:tailEnd type="none" w="med" len="med"/>
                    </a:lnT>
                    <a:lnB w="9525" cap="flat" cmpd="sng" algn="ctr">
                      <a:solidFill>
                        <a:srgbClr val="26344F"/>
                      </a:solidFill>
                      <a:prstDash val="solid"/>
                      <a:round/>
                      <a:headEnd type="none" w="med" len="med"/>
                      <a:tailEnd type="none" w="med" len="med"/>
                    </a:lnB>
                    <a:solidFill>
                      <a:srgbClr val="131C31"/>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NASA IMERG rain, ERA5-Land wind and SRTM through Earth Engine; live Google Weather API; IMD gauges and IMD's observed cyclone track</a:t>
                      </a:r>
                      <a:endParaRPr lang="en-US" sz="1000" dirty="0">
                        <a:latin typeface="Calibri" charset="0"/>
                        <a:ea typeface="Calibri" charset="0"/>
                        <a:cs typeface="Calibri" charset="0"/>
                      </a:endParaRPr>
                    </a:p>
                  </a:txBody>
                  <a:tcPr marL="109728" marR="109728" marT="64008" marB="64008" anchor="ctr">
                    <a:lnL w="9525" cap="flat" cmpd="sng" algn="ctr">
                      <a:solidFill>
                        <a:srgbClr val="26344F"/>
                      </a:solidFill>
                      <a:prstDash val="solid"/>
                      <a:round/>
                      <a:headEnd type="none" w="med" len="med"/>
                      <a:tailEnd type="none" w="med" len="med"/>
                    </a:lnL>
                    <a:lnR w="9525" cap="flat" cmpd="sng" algn="ctr">
                      <a:solidFill>
                        <a:srgbClr val="26344F"/>
                      </a:solidFill>
                      <a:prstDash val="solid"/>
                      <a:round/>
                      <a:headEnd type="none" w="med" len="med"/>
                      <a:tailEnd type="none" w="med" len="med"/>
                    </a:lnR>
                    <a:lnT w="9525" cap="flat" cmpd="sng" algn="ctr">
                      <a:solidFill>
                        <a:srgbClr val="26344F"/>
                      </a:solidFill>
                      <a:prstDash val="solid"/>
                      <a:round/>
                      <a:headEnd type="none" w="med" len="med"/>
                      <a:tailEnd type="none" w="med" len="med"/>
                    </a:lnT>
                    <a:lnB w="9525" cap="flat" cmpd="sng" algn="ctr">
                      <a:solidFill>
                        <a:srgbClr val="26344F"/>
                      </a:solidFill>
                      <a:prstDash val="solid"/>
                      <a:round/>
                      <a:headEnd type="none" w="med" len="med"/>
                      <a:tailEnd type="none" w="med" len="med"/>
                    </a:lnB>
                    <a:solidFill>
                      <a:srgbClr val="131C31"/>
                    </a:solidFill>
                  </a:tcPr>
                </a:tc>
              </a:tr>
              <a:tr h="0">
                <a:tc>
                  <a:txBody>
                    <a:bodyPr/>
                    <a:lstStyle/>
                    <a:p>
                      <a:pPr indent="0" marL="0">
                        <a:buNone/>
                      </a:pPr>
                      <a:r>
                        <a:rPr lang="en-US" sz="1050" b="1" dirty="0">
                          <a:solidFill>
                            <a:srgbClr val="F1F5F9"/>
                          </a:solidFill>
                          <a:latin typeface="Calibri" pitchFamily="34" charset="0"/>
                          <a:ea typeface="Calibri" pitchFamily="34" charset="-122"/>
                          <a:cs typeface="Calibri" pitchFamily="34" charset="-120"/>
                        </a:rPr>
                        <a:t>Gemini reasoning</a:t>
                      </a:r>
                      <a:endParaRPr lang="en-US" sz="1050" dirty="0">
                        <a:latin typeface="Calibri" charset="0"/>
                        <a:ea typeface="Calibri" charset="0"/>
                        <a:cs typeface="Calibri" charset="0"/>
                      </a:endParaRPr>
                    </a:p>
                  </a:txBody>
                  <a:tcPr marL="109728" marR="109728" marT="64008" marB="64008" anchor="ctr">
                    <a:lnL w="9525" cap="flat" cmpd="sng" algn="ctr">
                      <a:solidFill>
                        <a:srgbClr val="26344F"/>
                      </a:solidFill>
                      <a:prstDash val="solid"/>
                      <a:round/>
                      <a:headEnd type="none" w="med" len="med"/>
                      <a:tailEnd type="none" w="med" len="med"/>
                    </a:lnL>
                    <a:lnR w="9525" cap="flat" cmpd="sng" algn="ctr">
                      <a:solidFill>
                        <a:srgbClr val="26344F"/>
                      </a:solidFill>
                      <a:prstDash val="solid"/>
                      <a:round/>
                      <a:headEnd type="none" w="med" len="med"/>
                      <a:tailEnd type="none" w="med" len="med"/>
                    </a:lnR>
                    <a:lnT w="9525" cap="flat" cmpd="sng" algn="ctr">
                      <a:solidFill>
                        <a:srgbClr val="26344F"/>
                      </a:solidFill>
                      <a:prstDash val="solid"/>
                      <a:round/>
                      <a:headEnd type="none" w="med" len="med"/>
                      <a:tailEnd type="none" w="med" len="med"/>
                    </a:lnT>
                    <a:lnB w="9525" cap="flat" cmpd="sng" algn="ctr">
                      <a:solidFill>
                        <a:srgbClr val="26344F"/>
                      </a:solidFill>
                      <a:prstDash val="solid"/>
                      <a:round/>
                      <a:headEnd type="none" w="med" len="med"/>
                      <a:tailEnd type="none" w="med" len="med"/>
                    </a:lnB>
                    <a:solidFill>
                      <a:srgbClr val="131C31"/>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Gemini 2.5 Flash picks targets and writes notes inside strict guardrails; on Google Cloud, no API key in the app</a:t>
                      </a:r>
                      <a:endParaRPr lang="en-US" sz="1000" dirty="0">
                        <a:latin typeface="Calibri" charset="0"/>
                        <a:ea typeface="Calibri" charset="0"/>
                        <a:cs typeface="Calibri" charset="0"/>
                      </a:endParaRPr>
                    </a:p>
                  </a:txBody>
                  <a:tcPr marL="109728" marR="109728" marT="64008" marB="64008" anchor="ctr">
                    <a:lnL w="9525" cap="flat" cmpd="sng" algn="ctr">
                      <a:solidFill>
                        <a:srgbClr val="26344F"/>
                      </a:solidFill>
                      <a:prstDash val="solid"/>
                      <a:round/>
                      <a:headEnd type="none" w="med" len="med"/>
                      <a:tailEnd type="none" w="med" len="med"/>
                    </a:lnL>
                    <a:lnR w="9525" cap="flat" cmpd="sng" algn="ctr">
                      <a:solidFill>
                        <a:srgbClr val="26344F"/>
                      </a:solidFill>
                      <a:prstDash val="solid"/>
                      <a:round/>
                      <a:headEnd type="none" w="med" len="med"/>
                      <a:tailEnd type="none" w="med" len="med"/>
                    </a:lnR>
                    <a:lnT w="9525" cap="flat" cmpd="sng" algn="ctr">
                      <a:solidFill>
                        <a:srgbClr val="26344F"/>
                      </a:solidFill>
                      <a:prstDash val="solid"/>
                      <a:round/>
                      <a:headEnd type="none" w="med" len="med"/>
                      <a:tailEnd type="none" w="med" len="med"/>
                    </a:lnT>
                    <a:lnB w="9525" cap="flat" cmpd="sng" algn="ctr">
                      <a:solidFill>
                        <a:srgbClr val="26344F"/>
                      </a:solidFill>
                      <a:prstDash val="solid"/>
                      <a:round/>
                      <a:headEnd type="none" w="med" len="med"/>
                      <a:tailEnd type="none" w="med" len="med"/>
                    </a:lnB>
                    <a:solidFill>
                      <a:srgbClr val="131C31"/>
                    </a:solidFill>
                  </a:tcPr>
                </a:tc>
              </a:tr>
              <a:tr h="0">
                <a:tc>
                  <a:txBody>
                    <a:bodyPr/>
                    <a:lstStyle/>
                    <a:p>
                      <a:pPr indent="0" marL="0">
                        <a:buNone/>
                      </a:pPr>
                      <a:r>
                        <a:rPr lang="en-US" sz="1050" b="1" dirty="0">
                          <a:solidFill>
                            <a:srgbClr val="F1F5F9"/>
                          </a:solidFill>
                          <a:latin typeface="Calibri" pitchFamily="34" charset="0"/>
                          <a:ea typeface="Calibri" pitchFamily="34" charset="-122"/>
                          <a:cs typeface="Calibri" pitchFamily="34" charset="-120"/>
                        </a:rPr>
                        <a:t>Exposure of critical infrastructure</a:t>
                      </a:r>
                      <a:endParaRPr lang="en-US" sz="1050" dirty="0">
                        <a:latin typeface="Calibri" charset="0"/>
                        <a:ea typeface="Calibri" charset="0"/>
                        <a:cs typeface="Calibri" charset="0"/>
                      </a:endParaRPr>
                    </a:p>
                  </a:txBody>
                  <a:tcPr marL="109728" marR="109728" marT="64008" marB="64008" anchor="ctr">
                    <a:lnL w="9525" cap="flat" cmpd="sng" algn="ctr">
                      <a:solidFill>
                        <a:srgbClr val="26344F"/>
                      </a:solidFill>
                      <a:prstDash val="solid"/>
                      <a:round/>
                      <a:headEnd type="none" w="med" len="med"/>
                      <a:tailEnd type="none" w="med" len="med"/>
                    </a:lnL>
                    <a:lnR w="9525" cap="flat" cmpd="sng" algn="ctr">
                      <a:solidFill>
                        <a:srgbClr val="26344F"/>
                      </a:solidFill>
                      <a:prstDash val="solid"/>
                      <a:round/>
                      <a:headEnd type="none" w="med" len="med"/>
                      <a:tailEnd type="none" w="med" len="med"/>
                    </a:lnR>
                    <a:lnT w="9525" cap="flat" cmpd="sng" algn="ctr">
                      <a:solidFill>
                        <a:srgbClr val="26344F"/>
                      </a:solidFill>
                      <a:prstDash val="solid"/>
                      <a:round/>
                      <a:headEnd type="none" w="med" len="med"/>
                      <a:tailEnd type="none" w="med" len="med"/>
                    </a:lnT>
                    <a:lnB w="9525" cap="flat" cmpd="sng" algn="ctr">
                      <a:solidFill>
                        <a:srgbClr val="26344F"/>
                      </a:solidFill>
                      <a:prstDash val="solid"/>
                      <a:round/>
                      <a:headEnd type="none" w="med" len="med"/>
                      <a:tailEnd type="none" w="med" len="med"/>
                    </a:lnB>
                    <a:solidFill>
                      <a:srgbClr val="131C31"/>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286 substations with official flood-map checks, health triage, 352 section offices, 162 relief centres, 124 sewerage pumping stations, reservoir storage</a:t>
                      </a:r>
                      <a:endParaRPr lang="en-US" sz="1000" dirty="0">
                        <a:latin typeface="Calibri" charset="0"/>
                        <a:ea typeface="Calibri" charset="0"/>
                        <a:cs typeface="Calibri" charset="0"/>
                      </a:endParaRPr>
                    </a:p>
                  </a:txBody>
                  <a:tcPr marL="109728" marR="109728" marT="64008" marB="64008" anchor="ctr">
                    <a:lnL w="9525" cap="flat" cmpd="sng" algn="ctr">
                      <a:solidFill>
                        <a:srgbClr val="26344F"/>
                      </a:solidFill>
                      <a:prstDash val="solid"/>
                      <a:round/>
                      <a:headEnd type="none" w="med" len="med"/>
                      <a:tailEnd type="none" w="med" len="med"/>
                    </a:lnL>
                    <a:lnR w="9525" cap="flat" cmpd="sng" algn="ctr">
                      <a:solidFill>
                        <a:srgbClr val="26344F"/>
                      </a:solidFill>
                      <a:prstDash val="solid"/>
                      <a:round/>
                      <a:headEnd type="none" w="med" len="med"/>
                      <a:tailEnd type="none" w="med" len="med"/>
                    </a:lnR>
                    <a:lnT w="9525" cap="flat" cmpd="sng" algn="ctr">
                      <a:solidFill>
                        <a:srgbClr val="26344F"/>
                      </a:solidFill>
                      <a:prstDash val="solid"/>
                      <a:round/>
                      <a:headEnd type="none" w="med" len="med"/>
                      <a:tailEnd type="none" w="med" len="med"/>
                    </a:lnT>
                    <a:lnB w="9525" cap="flat" cmpd="sng" algn="ctr">
                      <a:solidFill>
                        <a:srgbClr val="26344F"/>
                      </a:solidFill>
                      <a:prstDash val="solid"/>
                      <a:round/>
                      <a:headEnd type="none" w="med" len="med"/>
                      <a:tailEnd type="none" w="med" len="med"/>
                    </a:lnB>
                    <a:solidFill>
                      <a:srgbClr val="131C31"/>
                    </a:solidFill>
                  </a:tcPr>
                </a:tc>
              </a:tr>
              <a:tr h="0">
                <a:tc>
                  <a:txBody>
                    <a:bodyPr/>
                    <a:lstStyle/>
                    <a:p>
                      <a:pPr indent="0" marL="0">
                        <a:buNone/>
                      </a:pPr>
                      <a:r>
                        <a:rPr lang="en-US" sz="1050" b="1" dirty="0">
                          <a:solidFill>
                            <a:srgbClr val="F1F5F9"/>
                          </a:solidFill>
                          <a:latin typeface="Calibri" pitchFamily="34" charset="0"/>
                          <a:ea typeface="Calibri" pitchFamily="34" charset="-122"/>
                          <a:cs typeface="Calibri" pitchFamily="34" charset="-120"/>
                        </a:rPr>
                        <a:t>Early-warning advisories for authorities</a:t>
                      </a:r>
                      <a:endParaRPr lang="en-US" sz="1050" dirty="0">
                        <a:latin typeface="Calibri" charset="0"/>
                        <a:ea typeface="Calibri" charset="0"/>
                        <a:cs typeface="Calibri" charset="0"/>
                      </a:endParaRPr>
                    </a:p>
                  </a:txBody>
                  <a:tcPr marL="109728" marR="109728" marT="64008" marB="64008" anchor="ctr">
                    <a:lnL w="9525" cap="flat" cmpd="sng" algn="ctr">
                      <a:solidFill>
                        <a:srgbClr val="26344F"/>
                      </a:solidFill>
                      <a:prstDash val="solid"/>
                      <a:round/>
                      <a:headEnd type="none" w="med" len="med"/>
                      <a:tailEnd type="none" w="med" len="med"/>
                    </a:lnL>
                    <a:lnR w="9525" cap="flat" cmpd="sng" algn="ctr">
                      <a:solidFill>
                        <a:srgbClr val="26344F"/>
                      </a:solidFill>
                      <a:prstDash val="solid"/>
                      <a:round/>
                      <a:headEnd type="none" w="med" len="med"/>
                      <a:tailEnd type="none" w="med" len="med"/>
                    </a:lnR>
                    <a:lnT w="9525" cap="flat" cmpd="sng" algn="ctr">
                      <a:solidFill>
                        <a:srgbClr val="26344F"/>
                      </a:solidFill>
                      <a:prstDash val="solid"/>
                      <a:round/>
                      <a:headEnd type="none" w="med" len="med"/>
                      <a:tailEnd type="none" w="med" len="med"/>
                    </a:lnT>
                    <a:lnB w="9525" cap="flat" cmpd="sng" algn="ctr">
                      <a:solidFill>
                        <a:srgbClr val="26344F"/>
                      </a:solidFill>
                      <a:prstDash val="solid"/>
                      <a:round/>
                      <a:headEnd type="none" w="med" len="med"/>
                      <a:tailEnd type="none" w="med" len="med"/>
                    </a:lnB>
                    <a:solidFill>
                      <a:srgbClr val="131C31"/>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Quoted plan actions per hour and substation; circuit policy quotes; copy-ready dispatch text with ward contacts; one-tap call and email</a:t>
                      </a:r>
                      <a:endParaRPr lang="en-US" sz="1000" dirty="0">
                        <a:latin typeface="Calibri" charset="0"/>
                        <a:ea typeface="Calibri" charset="0"/>
                        <a:cs typeface="Calibri" charset="0"/>
                      </a:endParaRPr>
                    </a:p>
                  </a:txBody>
                  <a:tcPr marL="109728" marR="109728" marT="64008" marB="64008" anchor="ctr">
                    <a:lnL w="9525" cap="flat" cmpd="sng" algn="ctr">
                      <a:solidFill>
                        <a:srgbClr val="26344F"/>
                      </a:solidFill>
                      <a:prstDash val="solid"/>
                      <a:round/>
                      <a:headEnd type="none" w="med" len="med"/>
                      <a:tailEnd type="none" w="med" len="med"/>
                    </a:lnL>
                    <a:lnR w="9525" cap="flat" cmpd="sng" algn="ctr">
                      <a:solidFill>
                        <a:srgbClr val="26344F"/>
                      </a:solidFill>
                      <a:prstDash val="solid"/>
                      <a:round/>
                      <a:headEnd type="none" w="med" len="med"/>
                      <a:tailEnd type="none" w="med" len="med"/>
                    </a:lnR>
                    <a:lnT w="9525" cap="flat" cmpd="sng" algn="ctr">
                      <a:solidFill>
                        <a:srgbClr val="26344F"/>
                      </a:solidFill>
                      <a:prstDash val="solid"/>
                      <a:round/>
                      <a:headEnd type="none" w="med" len="med"/>
                      <a:tailEnd type="none" w="med" len="med"/>
                    </a:lnT>
                    <a:lnB w="9525" cap="flat" cmpd="sng" algn="ctr">
                      <a:solidFill>
                        <a:srgbClr val="26344F"/>
                      </a:solidFill>
                      <a:prstDash val="solid"/>
                      <a:round/>
                      <a:headEnd type="none" w="med" len="med"/>
                      <a:tailEnd type="none" w="med" len="med"/>
                    </a:lnB>
                    <a:solidFill>
                      <a:srgbClr val="131C31"/>
                    </a:solidFill>
                  </a:tcPr>
                </a:tc>
              </a:tr>
              <a:tr h="0">
                <a:tc>
                  <a:txBody>
                    <a:bodyPr/>
                    <a:lstStyle/>
                    <a:p>
                      <a:pPr indent="0" marL="0">
                        <a:buNone/>
                      </a:pPr>
                      <a:r>
                        <a:rPr lang="en-US" sz="1050" b="1" dirty="0">
                          <a:solidFill>
                            <a:srgbClr val="F1F5F9"/>
                          </a:solidFill>
                          <a:latin typeface="Calibri" pitchFamily="34" charset="0"/>
                          <a:ea typeface="Calibri" pitchFamily="34" charset="-122"/>
                          <a:cs typeface="Calibri" pitchFamily="34" charset="-120"/>
                        </a:rPr>
                        <a:t>Municipal and disaster-management coordination</a:t>
                      </a:r>
                      <a:endParaRPr lang="en-US" sz="1050" dirty="0">
                        <a:latin typeface="Calibri" charset="0"/>
                        <a:ea typeface="Calibri" charset="0"/>
                        <a:cs typeface="Calibri" charset="0"/>
                      </a:endParaRPr>
                    </a:p>
                  </a:txBody>
                  <a:tcPr marL="109728" marR="109728" marT="64008" marB="64008" anchor="ctr">
                    <a:lnL w="9525" cap="flat" cmpd="sng" algn="ctr">
                      <a:solidFill>
                        <a:srgbClr val="26344F"/>
                      </a:solidFill>
                      <a:prstDash val="solid"/>
                      <a:round/>
                      <a:headEnd type="none" w="med" len="med"/>
                      <a:tailEnd type="none" w="med" len="med"/>
                    </a:lnL>
                    <a:lnR w="9525" cap="flat" cmpd="sng" algn="ctr">
                      <a:solidFill>
                        <a:srgbClr val="26344F"/>
                      </a:solidFill>
                      <a:prstDash val="solid"/>
                      <a:round/>
                      <a:headEnd type="none" w="med" len="med"/>
                      <a:tailEnd type="none" w="med" len="med"/>
                    </a:lnR>
                    <a:lnT w="9525" cap="flat" cmpd="sng" algn="ctr">
                      <a:solidFill>
                        <a:srgbClr val="26344F"/>
                      </a:solidFill>
                      <a:prstDash val="solid"/>
                      <a:round/>
                      <a:headEnd type="none" w="med" len="med"/>
                      <a:tailEnd type="none" w="med" len="med"/>
                    </a:lnT>
                    <a:lnB w="9525" cap="flat" cmpd="sng" algn="ctr">
                      <a:solidFill>
                        <a:srgbClr val="26344F"/>
                      </a:solidFill>
                      <a:prstDash val="solid"/>
                      <a:round/>
                      <a:headEnd type="none" w="med" len="med"/>
                      <a:tailEnd type="none" w="med" len="med"/>
                    </a:lnB>
                    <a:solidFill>
                      <a:srgbClr val="131C31"/>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GCC zone and ward contacts, relief-centre officers, CMWSSB and GCC engineers beside each substation</a:t>
                      </a:r>
                      <a:endParaRPr lang="en-US" sz="1000" dirty="0">
                        <a:latin typeface="Calibri" charset="0"/>
                        <a:ea typeface="Calibri" charset="0"/>
                        <a:cs typeface="Calibri" charset="0"/>
                      </a:endParaRPr>
                    </a:p>
                  </a:txBody>
                  <a:tcPr marL="109728" marR="109728" marT="64008" marB="64008" anchor="ctr">
                    <a:lnL w="9525" cap="flat" cmpd="sng" algn="ctr">
                      <a:solidFill>
                        <a:srgbClr val="26344F"/>
                      </a:solidFill>
                      <a:prstDash val="solid"/>
                      <a:round/>
                      <a:headEnd type="none" w="med" len="med"/>
                      <a:tailEnd type="none" w="med" len="med"/>
                    </a:lnL>
                    <a:lnR w="9525" cap="flat" cmpd="sng" algn="ctr">
                      <a:solidFill>
                        <a:srgbClr val="26344F"/>
                      </a:solidFill>
                      <a:prstDash val="solid"/>
                      <a:round/>
                      <a:headEnd type="none" w="med" len="med"/>
                      <a:tailEnd type="none" w="med" len="med"/>
                    </a:lnR>
                    <a:lnT w="9525" cap="flat" cmpd="sng" algn="ctr">
                      <a:solidFill>
                        <a:srgbClr val="26344F"/>
                      </a:solidFill>
                      <a:prstDash val="solid"/>
                      <a:round/>
                      <a:headEnd type="none" w="med" len="med"/>
                      <a:tailEnd type="none" w="med" len="med"/>
                    </a:lnT>
                    <a:lnB w="9525" cap="flat" cmpd="sng" algn="ctr">
                      <a:solidFill>
                        <a:srgbClr val="26344F"/>
                      </a:solidFill>
                      <a:prstDash val="solid"/>
                      <a:round/>
                      <a:headEnd type="none" w="med" len="med"/>
                      <a:tailEnd type="none" w="med" len="med"/>
                    </a:lnB>
                    <a:solidFill>
                      <a:srgbClr val="131C31"/>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100" b="1" spc="100" kern="0" dirty="0">
                <a:solidFill>
                  <a:srgbClr val="2DD4BF"/>
                </a:solidFill>
                <a:latin typeface="Calibri" pitchFamily="34" charset="0"/>
                <a:ea typeface="Calibri" pitchFamily="34" charset="-122"/>
                <a:cs typeface="Calibri" pitchFamily="34" charset="-120"/>
              </a:rPr>
              <a:t>BUILT FOR INDIA</a:t>
            </a:r>
            <a:endParaRPr lang="en-US" sz="1100" dirty="0"/>
          </a:p>
        </p:txBody>
      </p:sp>
      <p:sp>
        <p:nvSpPr>
          <p:cNvPr id="3" name="Text 1"/>
          <p:cNvSpPr txBox="1"/>
          <p:nvPr/>
        </p:nvSpPr>
        <p:spPr>
          <a:xfrm>
            <a:off x="457200" y="530352"/>
            <a:ext cx="8229600" cy="777240"/>
          </a:xfrm>
          <a:prstGeom prst="rect">
            <a:avLst/>
          </a:prstGeom>
          <a:noFill/>
          <a:ln/>
        </p:spPr>
        <p:txBody>
          <a:bodyPr wrap="square" lIns="0" tIns="0" rIns="0" bIns="0" rtlCol="0" anchor="t"/>
          <a:lstStyle/>
          <a:p>
            <a:pPr indent="0" marL="0">
              <a:buNone/>
            </a:pPr>
            <a:r>
              <a:rPr lang="en-US" sz="2800" b="1" dirty="0">
                <a:solidFill>
                  <a:srgbClr val="F1F5F9"/>
                </a:solidFill>
                <a:latin typeface="Calibri" pitchFamily="34" charset="0"/>
                <a:ea typeface="Calibri" pitchFamily="34" charset="-122"/>
                <a:cs typeface="Calibri" pitchFamily="34" charset="-120"/>
              </a:rPr>
              <a:t>Live today. National by design. Ready for the next city.</a:t>
            </a:r>
            <a:endParaRPr lang="en-US" sz="2800" dirty="0"/>
          </a:p>
        </p:txBody>
      </p:sp>
      <p:sp>
        <p:nvSpPr>
          <p:cNvPr id="4" name="Text 2"/>
          <p:cNvSpPr txBox="1"/>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SurgeGrid AI  ·  surgegrid.web.app</a:t>
            </a:r>
            <a:endParaRPr lang="en-US" sz="900" dirty="0"/>
          </a:p>
        </p:txBody>
      </p:sp>
      <p:sp>
        <p:nvSpPr>
          <p:cNvPr id="5" name="Text 3"/>
          <p:cNvSpPr txBox="1"/>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14 / 16</a:t>
            </a:r>
            <a:endParaRPr lang="en-US" sz="900" dirty="0"/>
          </a:p>
        </p:txBody>
      </p:sp>
      <p:sp>
        <p:nvSpPr>
          <p:cNvPr id="6" name="Shape 4"/>
          <p:cNvSpPr/>
          <p:nvPr/>
        </p:nvSpPr>
        <p:spPr>
          <a:xfrm>
            <a:off x="457200" y="1463040"/>
            <a:ext cx="4023360" cy="1463040"/>
          </a:xfrm>
          <a:prstGeom prst="roundRect">
            <a:avLst>
              <a:gd name="adj" fmla="val 5000"/>
            </a:avLst>
          </a:prstGeom>
          <a:solidFill>
            <a:srgbClr val="131C31"/>
          </a:solidFill>
          <a:ln w="9525">
            <a:solidFill>
              <a:srgbClr val="26344F"/>
            </a:solidFill>
            <a:prstDash val="solid"/>
          </a:ln>
        </p:spPr>
      </p:sp>
      <p:sp>
        <p:nvSpPr>
          <p:cNvPr id="7" name="Shape 5"/>
          <p:cNvSpPr/>
          <p:nvPr/>
        </p:nvSpPr>
        <p:spPr>
          <a:xfrm>
            <a:off x="640080" y="1627632"/>
            <a:ext cx="329184" cy="329184"/>
          </a:xfrm>
          <a:prstGeom prst="ellipse">
            <a:avLst/>
          </a:prstGeom>
          <a:solidFill>
            <a:srgbClr val="2DD4BF"/>
          </a:solidFill>
          <a:ln w="12700">
            <a:solidFill>
              <a:srgbClr val="2DD4BF"/>
            </a:solidFill>
            <a:prstDash val="solid"/>
          </a:ln>
        </p:spPr>
      </p:sp>
      <p:sp>
        <p:nvSpPr>
          <p:cNvPr id="8" name="Text 6"/>
          <p:cNvSpPr txBox="1"/>
          <p:nvPr/>
        </p:nvSpPr>
        <p:spPr>
          <a:xfrm>
            <a:off x="640080" y="1627632"/>
            <a:ext cx="329184" cy="329184"/>
          </a:xfrm>
          <a:prstGeom prst="rect">
            <a:avLst/>
          </a:prstGeom>
          <a:noFill/>
          <a:ln/>
        </p:spPr>
        <p:txBody>
          <a:bodyPr wrap="square" lIns="0" tIns="0" rIns="0" bIns="0" rtlCol="0" anchor="ctr"/>
          <a:lstStyle/>
          <a:p>
            <a:pPr algn="ctr" indent="0" marL="0">
              <a:buNone/>
            </a:pPr>
            <a:r>
              <a:rPr lang="en-US" sz="1300" b="1" dirty="0">
                <a:solidFill>
                  <a:srgbClr val="0B1220"/>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097280" y="1627632"/>
            <a:ext cx="3200400" cy="329184"/>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Live today</a:t>
            </a:r>
            <a:endParaRPr lang="en-US" sz="1500" dirty="0"/>
          </a:p>
        </p:txBody>
      </p:sp>
      <p:sp>
        <p:nvSpPr>
          <p:cNvPr id="10" name="Text 8"/>
          <p:cNvSpPr txBox="1"/>
          <p:nvPr/>
        </p:nvSpPr>
        <p:spPr>
          <a:xfrm>
            <a:off x="640080" y="2057400"/>
            <a:ext cx="3657600" cy="82296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surgegrid.web.app: static hosting plus two small Cloud Functions. Keyless Gemini, origin allow-lists, rate limits.</a:t>
            </a:r>
            <a:endParaRPr lang="en-US" sz="1100" dirty="0"/>
          </a:p>
        </p:txBody>
      </p:sp>
      <p:sp>
        <p:nvSpPr>
          <p:cNvPr id="11" name="Shape 9"/>
          <p:cNvSpPr/>
          <p:nvPr/>
        </p:nvSpPr>
        <p:spPr>
          <a:xfrm>
            <a:off x="4663440" y="1463040"/>
            <a:ext cx="4023360" cy="1463040"/>
          </a:xfrm>
          <a:prstGeom prst="roundRect">
            <a:avLst>
              <a:gd name="adj" fmla="val 5000"/>
            </a:avLst>
          </a:prstGeom>
          <a:solidFill>
            <a:srgbClr val="131C31"/>
          </a:solidFill>
          <a:ln w="9525">
            <a:solidFill>
              <a:srgbClr val="26344F"/>
            </a:solidFill>
            <a:prstDash val="solid"/>
          </a:ln>
        </p:spPr>
      </p:sp>
      <p:sp>
        <p:nvSpPr>
          <p:cNvPr id="12" name="Shape 10"/>
          <p:cNvSpPr/>
          <p:nvPr/>
        </p:nvSpPr>
        <p:spPr>
          <a:xfrm>
            <a:off x="4846320" y="1627632"/>
            <a:ext cx="329184" cy="329184"/>
          </a:xfrm>
          <a:prstGeom prst="ellipse">
            <a:avLst/>
          </a:prstGeom>
          <a:solidFill>
            <a:srgbClr val="818CF8"/>
          </a:solidFill>
          <a:ln w="12700">
            <a:solidFill>
              <a:srgbClr val="818CF8"/>
            </a:solidFill>
            <a:prstDash val="solid"/>
          </a:ln>
        </p:spPr>
      </p:sp>
      <p:sp>
        <p:nvSpPr>
          <p:cNvPr id="13" name="Text 11"/>
          <p:cNvSpPr txBox="1"/>
          <p:nvPr/>
        </p:nvSpPr>
        <p:spPr>
          <a:xfrm>
            <a:off x="4846320" y="1627632"/>
            <a:ext cx="329184" cy="329184"/>
          </a:xfrm>
          <a:prstGeom prst="rect">
            <a:avLst/>
          </a:prstGeom>
          <a:noFill/>
          <a:ln/>
        </p:spPr>
        <p:txBody>
          <a:bodyPr wrap="square" lIns="0" tIns="0" rIns="0" bIns="0" rtlCol="0" anchor="ctr"/>
          <a:lstStyle/>
          <a:p>
            <a:pPr algn="ctr" indent="0" marL="0">
              <a:buNone/>
            </a:pPr>
            <a:r>
              <a:rPr lang="en-US" sz="1300" b="1" dirty="0">
                <a:solidFill>
                  <a:srgbClr val="0B1220"/>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5303520" y="1627632"/>
            <a:ext cx="3200400" cy="329184"/>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National by design</a:t>
            </a:r>
            <a:endParaRPr lang="en-US" sz="1500" dirty="0"/>
          </a:p>
        </p:txBody>
      </p:sp>
      <p:sp>
        <p:nvSpPr>
          <p:cNvPr id="15" name="Text 13"/>
          <p:cNvSpPr txBox="1"/>
          <p:nvPr/>
        </p:nvSpPr>
        <p:spPr>
          <a:xfrm>
            <a:off x="4846320" y="2057400"/>
            <a:ext cx="3657600" cy="82296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The MoP 2021 power-sector plan and IMD cyclone classes apply across India. City plans plug in as more quotes.</a:t>
            </a:r>
            <a:endParaRPr lang="en-US" sz="1100" dirty="0"/>
          </a:p>
        </p:txBody>
      </p:sp>
      <p:sp>
        <p:nvSpPr>
          <p:cNvPr id="16" name="Shape 14"/>
          <p:cNvSpPr/>
          <p:nvPr/>
        </p:nvSpPr>
        <p:spPr>
          <a:xfrm>
            <a:off x="457200" y="3063240"/>
            <a:ext cx="4023360" cy="1463040"/>
          </a:xfrm>
          <a:prstGeom prst="roundRect">
            <a:avLst>
              <a:gd name="adj" fmla="val 5000"/>
            </a:avLst>
          </a:prstGeom>
          <a:solidFill>
            <a:srgbClr val="131C31"/>
          </a:solidFill>
          <a:ln w="9525">
            <a:solidFill>
              <a:srgbClr val="26344F"/>
            </a:solidFill>
            <a:prstDash val="solid"/>
          </a:ln>
        </p:spPr>
      </p:sp>
      <p:sp>
        <p:nvSpPr>
          <p:cNvPr id="17" name="Shape 15"/>
          <p:cNvSpPr/>
          <p:nvPr/>
        </p:nvSpPr>
        <p:spPr>
          <a:xfrm>
            <a:off x="640080" y="3227832"/>
            <a:ext cx="329184" cy="329184"/>
          </a:xfrm>
          <a:prstGeom prst="ellipse">
            <a:avLst/>
          </a:prstGeom>
          <a:solidFill>
            <a:srgbClr val="F59E0B"/>
          </a:solidFill>
          <a:ln w="12700">
            <a:solidFill>
              <a:srgbClr val="F59E0B"/>
            </a:solidFill>
            <a:prstDash val="solid"/>
          </a:ln>
        </p:spPr>
      </p:sp>
      <p:sp>
        <p:nvSpPr>
          <p:cNvPr id="18" name="Text 16"/>
          <p:cNvSpPr txBox="1"/>
          <p:nvPr/>
        </p:nvSpPr>
        <p:spPr>
          <a:xfrm>
            <a:off x="640080" y="3227832"/>
            <a:ext cx="329184" cy="329184"/>
          </a:xfrm>
          <a:prstGeom prst="rect">
            <a:avLst/>
          </a:prstGeom>
          <a:noFill/>
          <a:ln/>
        </p:spPr>
        <p:txBody>
          <a:bodyPr wrap="square" lIns="0" tIns="0" rIns="0" bIns="0" rtlCol="0" anchor="ctr"/>
          <a:lstStyle/>
          <a:p>
            <a:pPr algn="ctr" indent="0" marL="0">
              <a:buNone/>
            </a:pPr>
            <a:r>
              <a:rPr lang="en-US" sz="1300" b="1" dirty="0">
                <a:solidFill>
                  <a:srgbClr val="0B1220"/>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097280" y="3227832"/>
            <a:ext cx="3200400" cy="329184"/>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Repeatable</a:t>
            </a:r>
            <a:endParaRPr lang="en-US" sz="1500" dirty="0"/>
          </a:p>
        </p:txBody>
      </p:sp>
      <p:sp>
        <p:nvSpPr>
          <p:cNvPr id="20" name="Text 18"/>
          <p:cNvSpPr txBox="1"/>
          <p:nvPr/>
        </p:nvSpPr>
        <p:spPr>
          <a:xfrm>
            <a:off x="640080" y="3657600"/>
            <a:ext cx="3657600" cy="82296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The scenario builder takes any area and date from global NASA and ECMWF data. City inputs sit in one config file.</a:t>
            </a:r>
            <a:endParaRPr lang="en-US" sz="1100" dirty="0"/>
          </a:p>
        </p:txBody>
      </p:sp>
      <p:sp>
        <p:nvSpPr>
          <p:cNvPr id="21" name="Shape 19"/>
          <p:cNvSpPr/>
          <p:nvPr/>
        </p:nvSpPr>
        <p:spPr>
          <a:xfrm>
            <a:off x="4663440" y="3063240"/>
            <a:ext cx="4023360" cy="1463040"/>
          </a:xfrm>
          <a:prstGeom prst="roundRect">
            <a:avLst>
              <a:gd name="adj" fmla="val 5000"/>
            </a:avLst>
          </a:prstGeom>
          <a:solidFill>
            <a:srgbClr val="131C31"/>
          </a:solidFill>
          <a:ln w="9525">
            <a:solidFill>
              <a:srgbClr val="26344F"/>
            </a:solidFill>
            <a:prstDash val="solid"/>
          </a:ln>
        </p:spPr>
      </p:sp>
      <p:sp>
        <p:nvSpPr>
          <p:cNvPr id="22" name="Shape 20"/>
          <p:cNvSpPr/>
          <p:nvPr/>
        </p:nvSpPr>
        <p:spPr>
          <a:xfrm>
            <a:off x="4846320" y="3227832"/>
            <a:ext cx="329184" cy="329184"/>
          </a:xfrm>
          <a:prstGeom prst="ellipse">
            <a:avLst/>
          </a:prstGeom>
          <a:solidFill>
            <a:srgbClr val="FB7185"/>
          </a:solidFill>
          <a:ln w="12700">
            <a:solidFill>
              <a:srgbClr val="FB7185"/>
            </a:solidFill>
            <a:prstDash val="solid"/>
          </a:ln>
        </p:spPr>
      </p:sp>
      <p:sp>
        <p:nvSpPr>
          <p:cNvPr id="23" name="Text 21"/>
          <p:cNvSpPr txBox="1"/>
          <p:nvPr/>
        </p:nvSpPr>
        <p:spPr>
          <a:xfrm>
            <a:off x="4846320" y="3227832"/>
            <a:ext cx="329184" cy="329184"/>
          </a:xfrm>
          <a:prstGeom prst="rect">
            <a:avLst/>
          </a:prstGeom>
          <a:noFill/>
          <a:ln/>
        </p:spPr>
        <p:txBody>
          <a:bodyPr wrap="square" lIns="0" tIns="0" rIns="0" bIns="0" rtlCol="0" anchor="ctr"/>
          <a:lstStyle/>
          <a:p>
            <a:pPr algn="ctr" indent="0" marL="0">
              <a:buNone/>
            </a:pPr>
            <a:r>
              <a:rPr lang="en-US" sz="1300" b="1" dirty="0">
                <a:solidFill>
                  <a:srgbClr val="0B1220"/>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5303520" y="3227832"/>
            <a:ext cx="3200400" cy="329184"/>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Open public data</a:t>
            </a:r>
            <a:endParaRPr lang="en-US" sz="1500" dirty="0"/>
          </a:p>
        </p:txBody>
      </p:sp>
      <p:sp>
        <p:nvSpPr>
          <p:cNvPr id="25" name="Text 23"/>
          <p:cNvSpPr txBox="1"/>
          <p:nvPr/>
        </p:nvSpPr>
        <p:spPr>
          <a:xfrm>
            <a:off x="4846320" y="3657600"/>
            <a:ext cx="3657600" cy="82296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TNEB, OpenCity, TNGIS, CMWSSB, IMD and NASA. The same method fits any coastal city with a grid map and a plan, in India or other BRICS countries.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indent="0" marL="0">
              <a:buNone/>
            </a:pPr>
            <a:r>
              <a:rPr lang="en-US" sz="1100" b="1" spc="100" kern="0" dirty="0">
                <a:solidFill>
                  <a:srgbClr val="2DD4BF"/>
                </a:solidFill>
                <a:latin typeface="Calibri" pitchFamily="34" charset="0"/>
                <a:ea typeface="Calibri" pitchFamily="34" charset="-122"/>
                <a:cs typeface="Calibri" pitchFamily="34" charset="-120"/>
              </a:rPr>
              <a:t>EVIDENCE AND TRUST</a:t>
            </a:r>
            <a:endParaRPr lang="en-US" sz="1100" dirty="0"/>
          </a:p>
        </p:txBody>
      </p:sp>
      <p:sp>
        <p:nvSpPr>
          <p:cNvPr id="3" name="Text 1"/>
          <p:cNvSpPr txBox="1"/>
          <p:nvPr/>
        </p:nvSpPr>
        <p:spPr>
          <a:xfrm>
            <a:off x="457200" y="530352"/>
            <a:ext cx="8229600" cy="777240"/>
          </a:xfrm>
          <a:prstGeom prst="rect">
            <a:avLst/>
          </a:prstGeom>
          <a:noFill/>
          <a:ln/>
        </p:spPr>
        <p:txBody>
          <a:bodyPr wrap="square" lIns="0" tIns="0" rIns="0" bIns="0" rtlCol="0" anchor="t"/>
          <a:lstStyle/>
          <a:p>
            <a:pPr indent="0" marL="0">
              <a:buNone/>
            </a:pPr>
            <a:r>
              <a:rPr lang="en-US" sz="2800" b="1" dirty="0">
                <a:solidFill>
                  <a:srgbClr val="F1F5F9"/>
                </a:solidFill>
                <a:latin typeface="Calibri" pitchFamily="34" charset="0"/>
                <a:ea typeface="Calibri" pitchFamily="34" charset="-122"/>
                <a:cs typeface="Calibri" pitchFamily="34" charset="-120"/>
              </a:rPr>
              <a:t>Every line on screen has a source.</a:t>
            </a:r>
            <a:endParaRPr lang="en-US" sz="2800" dirty="0"/>
          </a:p>
        </p:txBody>
      </p:sp>
      <p:sp>
        <p:nvSpPr>
          <p:cNvPr id="4" name="Text 2"/>
          <p:cNvSpPr txBox="1"/>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SurgeGrid AI  ·  surgegrid.web.app</a:t>
            </a:r>
            <a:endParaRPr lang="en-US" sz="900" dirty="0"/>
          </a:p>
        </p:txBody>
      </p:sp>
      <p:sp>
        <p:nvSpPr>
          <p:cNvPr id="5" name="Text 3"/>
          <p:cNvSpPr txBox="1"/>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15 / 16</a:t>
            </a:r>
            <a:endParaRPr lang="en-US" sz="900" dirty="0"/>
          </a:p>
        </p:txBody>
      </p:sp>
      <p:sp>
        <p:nvSpPr>
          <p:cNvPr id="6" name="Shape 4"/>
          <p:cNvSpPr/>
          <p:nvPr/>
        </p:nvSpPr>
        <p:spPr>
          <a:xfrm>
            <a:off x="457200" y="1463040"/>
            <a:ext cx="2606040" cy="1600200"/>
          </a:xfrm>
          <a:prstGeom prst="roundRect">
            <a:avLst>
              <a:gd name="adj" fmla="val 4571"/>
            </a:avLst>
          </a:prstGeom>
          <a:solidFill>
            <a:srgbClr val="131C31"/>
          </a:solidFill>
          <a:ln w="9525">
            <a:solidFill>
              <a:srgbClr val="26344F"/>
            </a:solidFill>
            <a:prstDash val="solid"/>
          </a:ln>
        </p:spPr>
      </p:sp>
      <p:sp>
        <p:nvSpPr>
          <p:cNvPr id="7" name="Text 5"/>
          <p:cNvSpPr txBox="1"/>
          <p:nvPr/>
        </p:nvSpPr>
        <p:spPr>
          <a:xfrm>
            <a:off x="640080" y="1554480"/>
            <a:ext cx="2240280" cy="685800"/>
          </a:xfrm>
          <a:prstGeom prst="rect">
            <a:avLst/>
          </a:prstGeom>
          <a:noFill/>
          <a:ln/>
        </p:spPr>
        <p:txBody>
          <a:bodyPr wrap="square" lIns="0" tIns="0" rIns="0" bIns="0" rtlCol="0" anchor="ctr"/>
          <a:lstStyle/>
          <a:p>
            <a:pPr indent="0" marL="0">
              <a:buNone/>
            </a:pPr>
            <a:r>
              <a:rPr lang="en-US" sz="3400" b="1" dirty="0">
                <a:solidFill>
                  <a:srgbClr val="2DD4BF"/>
                </a:solidFill>
                <a:latin typeface="Calibri" pitchFamily="34" charset="0"/>
                <a:ea typeface="Calibri" pitchFamily="34" charset="-122"/>
                <a:cs typeface="Calibri" pitchFamily="34" charset="-120"/>
              </a:rPr>
              <a:t>37</a:t>
            </a:r>
            <a:endParaRPr lang="en-US" sz="3400" dirty="0"/>
          </a:p>
        </p:txBody>
      </p:sp>
      <p:sp>
        <p:nvSpPr>
          <p:cNvPr id="8" name="Text 6"/>
          <p:cNvSpPr txBox="1"/>
          <p:nvPr/>
        </p:nvSpPr>
        <p:spPr>
          <a:xfrm>
            <a:off x="640080" y="2286000"/>
            <a:ext cx="2240280" cy="731520"/>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plan quotes, each checked word for word against the PDF text</a:t>
            </a:r>
            <a:endParaRPr lang="en-US" sz="1050" dirty="0"/>
          </a:p>
        </p:txBody>
      </p:sp>
      <p:sp>
        <p:nvSpPr>
          <p:cNvPr id="9" name="Shape 7"/>
          <p:cNvSpPr/>
          <p:nvPr/>
        </p:nvSpPr>
        <p:spPr>
          <a:xfrm>
            <a:off x="3246120" y="1463040"/>
            <a:ext cx="2606040" cy="1600200"/>
          </a:xfrm>
          <a:prstGeom prst="roundRect">
            <a:avLst>
              <a:gd name="adj" fmla="val 4571"/>
            </a:avLst>
          </a:prstGeom>
          <a:solidFill>
            <a:srgbClr val="131C31"/>
          </a:solidFill>
          <a:ln w="9525">
            <a:solidFill>
              <a:srgbClr val="26344F"/>
            </a:solidFill>
            <a:prstDash val="solid"/>
          </a:ln>
        </p:spPr>
      </p:sp>
      <p:sp>
        <p:nvSpPr>
          <p:cNvPr id="10" name="Text 8"/>
          <p:cNvSpPr txBox="1"/>
          <p:nvPr/>
        </p:nvSpPr>
        <p:spPr>
          <a:xfrm>
            <a:off x="3429000" y="1554480"/>
            <a:ext cx="2240280" cy="685800"/>
          </a:xfrm>
          <a:prstGeom prst="rect">
            <a:avLst/>
          </a:prstGeom>
          <a:noFill/>
          <a:ln/>
        </p:spPr>
        <p:txBody>
          <a:bodyPr wrap="square" lIns="0" tIns="0" rIns="0" bIns="0" rtlCol="0" anchor="ctr"/>
          <a:lstStyle/>
          <a:p>
            <a:pPr indent="0" marL="0">
              <a:buNone/>
            </a:pPr>
            <a:r>
              <a:rPr lang="en-US" sz="3400" b="1" dirty="0">
                <a:solidFill>
                  <a:srgbClr val="F59E0B"/>
                </a:solidFill>
                <a:latin typeface="Calibri" pitchFamily="34" charset="0"/>
                <a:ea typeface="Calibri" pitchFamily="34" charset="-122"/>
                <a:cs typeface="Calibri" pitchFamily="34" charset="-120"/>
              </a:rPr>
              <a:t>0.76</a:t>
            </a:r>
            <a:endParaRPr lang="en-US" sz="3400" dirty="0"/>
          </a:p>
        </p:txBody>
      </p:sp>
      <p:sp>
        <p:nvSpPr>
          <p:cNvPr id="11" name="Text 9"/>
          <p:cNvSpPr txBox="1"/>
          <p:nvPr/>
        </p:nvSpPr>
        <p:spPr>
          <a:xfrm>
            <a:off x="3429000" y="2286000"/>
            <a:ext cx="2240280" cy="731520"/>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AUC of our own flood score against the city's 53 hotspots; we still show the official maps</a:t>
            </a:r>
            <a:endParaRPr lang="en-US" sz="1050" dirty="0"/>
          </a:p>
        </p:txBody>
      </p:sp>
      <p:sp>
        <p:nvSpPr>
          <p:cNvPr id="12" name="Shape 10"/>
          <p:cNvSpPr/>
          <p:nvPr/>
        </p:nvSpPr>
        <p:spPr>
          <a:xfrm>
            <a:off x="6035040" y="1463040"/>
            <a:ext cx="2606040" cy="1600200"/>
          </a:xfrm>
          <a:prstGeom prst="roundRect">
            <a:avLst>
              <a:gd name="adj" fmla="val 4571"/>
            </a:avLst>
          </a:prstGeom>
          <a:solidFill>
            <a:srgbClr val="131C31"/>
          </a:solidFill>
          <a:ln w="9525">
            <a:solidFill>
              <a:srgbClr val="26344F"/>
            </a:solidFill>
            <a:prstDash val="solid"/>
          </a:ln>
        </p:spPr>
      </p:sp>
      <p:sp>
        <p:nvSpPr>
          <p:cNvPr id="13" name="Text 11"/>
          <p:cNvSpPr txBox="1"/>
          <p:nvPr/>
        </p:nvSpPr>
        <p:spPr>
          <a:xfrm>
            <a:off x="6217920" y="1554480"/>
            <a:ext cx="2240280" cy="685800"/>
          </a:xfrm>
          <a:prstGeom prst="rect">
            <a:avLst/>
          </a:prstGeom>
          <a:noFill/>
          <a:ln/>
        </p:spPr>
        <p:txBody>
          <a:bodyPr wrap="square" lIns="0" tIns="0" rIns="0" bIns="0" rtlCol="0" anchor="ctr"/>
          <a:lstStyle/>
          <a:p>
            <a:pPr indent="0" marL="0">
              <a:buNone/>
            </a:pPr>
            <a:r>
              <a:rPr lang="en-US" sz="3400" b="1" dirty="0">
                <a:solidFill>
                  <a:srgbClr val="818CF8"/>
                </a:solidFill>
                <a:latin typeface="Calibri" pitchFamily="34" charset="0"/>
                <a:ea typeface="Calibri" pitchFamily="34" charset="-122"/>
                <a:cs typeface="Calibri" pitchFamily="34" charset="-120"/>
              </a:rPr>
              <a:t>100 · 91</a:t>
            </a:r>
            <a:endParaRPr lang="en-US" sz="3400" dirty="0"/>
          </a:p>
        </p:txBody>
      </p:sp>
      <p:sp>
        <p:nvSpPr>
          <p:cNvPr id="14" name="Text 12"/>
          <p:cNvSpPr txBox="1"/>
          <p:nvPr/>
        </p:nvSpPr>
        <p:spPr>
          <a:xfrm>
            <a:off x="6217920" y="2286000"/>
            <a:ext cx="2240280" cy="731520"/>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Lighthouse on the live site: accessibility 100, desktop performance 91</a:t>
            </a:r>
            <a:endParaRPr lang="en-US" sz="1050" dirty="0"/>
          </a:p>
        </p:txBody>
      </p:sp>
      <p:sp>
        <p:nvSpPr>
          <p:cNvPr id="15" name="Shape 13"/>
          <p:cNvSpPr/>
          <p:nvPr/>
        </p:nvSpPr>
        <p:spPr>
          <a:xfrm>
            <a:off x="457200" y="3246120"/>
            <a:ext cx="8229600" cy="1325880"/>
          </a:xfrm>
          <a:prstGeom prst="roundRect">
            <a:avLst>
              <a:gd name="adj" fmla="val 5517"/>
            </a:avLst>
          </a:prstGeom>
          <a:solidFill>
            <a:srgbClr val="131C31"/>
          </a:solidFill>
          <a:ln w="9525">
            <a:solidFill>
              <a:srgbClr val="26344F"/>
            </a:solidFill>
            <a:prstDash val="solid"/>
          </a:ln>
        </p:spPr>
      </p:sp>
      <p:sp>
        <p:nvSpPr>
          <p:cNvPr id="16" name="Text 14"/>
          <p:cNvSpPr txBox="1"/>
          <p:nvPr/>
        </p:nvSpPr>
        <p:spPr>
          <a:xfrm>
            <a:off x="640080" y="3337560"/>
            <a:ext cx="7863840" cy="274320"/>
          </a:xfrm>
          <a:prstGeom prst="rect">
            <a:avLst/>
          </a:prstGeom>
          <a:noFill/>
          <a:ln/>
        </p:spPr>
        <p:txBody>
          <a:bodyPr wrap="square" lIns="0" tIns="0" rIns="0" bIns="0" rtlCol="0" anchor="ctr"/>
          <a:lstStyle/>
          <a:p>
            <a:pPr indent="0" marL="0">
              <a:buNone/>
            </a:pPr>
            <a:r>
              <a:rPr lang="en-US" sz="1400" b="1" dirty="0">
                <a:solidFill>
                  <a:srgbClr val="F1F5F9"/>
                </a:solidFill>
                <a:latin typeface="Calibri" pitchFamily="34" charset="0"/>
                <a:ea typeface="Calibri" pitchFamily="34" charset="-122"/>
                <a:cs typeface="Calibri" pitchFamily="34" charset="-120"/>
              </a:rPr>
              <a:t>Nothing invented</a:t>
            </a:r>
            <a:endParaRPr lang="en-US" sz="1400" dirty="0"/>
          </a:p>
        </p:txBody>
      </p:sp>
      <p:sp>
        <p:nvSpPr>
          <p:cNvPr id="17" name="Text 15"/>
          <p:cNvSpPr txBox="1"/>
          <p:nvPr/>
        </p:nvSpPr>
        <p:spPr>
          <a:xfrm>
            <a:off x="640080" y="3657600"/>
            <a:ext cx="7863840" cy="86868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We left out what no plan says: wind and flood trip limits, restoration hours, plinth heights, gang and pump counts. Flood facts are official map checks, not model depths. Satellite rain is shown next to IMD's own gauge readings. Our own items, the health score, the check-first order and the backup suggestion, are labelled as ours.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220"/>
        </a:solidFill>
      </p:bgPr>
    </p:bg>
    <p:spTree>
      <p:nvGrpSpPr>
        <p:cNvPr id="1" name=""/>
        <p:cNvGrpSpPr/>
        <p:nvPr/>
      </p:nvGrpSpPr>
      <p:grpSpPr>
        <a:xfrm>
          <a:off x="0" y="0"/>
          <a:ext cx="0" cy="0"/>
          <a:chOff x="0" y="0"/>
          <a:chExt cx="0" cy="0"/>
        </a:xfrm>
      </p:grpSpPr>
      <p:sp>
        <p:nvSpPr>
          <p:cNvPr id="2" name="Text 0"/>
          <p:cNvSpPr txBox="1"/>
          <p:nvPr/>
        </p:nvSpPr>
        <p:spPr>
          <a:xfrm>
            <a:off x="548640" y="457200"/>
            <a:ext cx="4572000" cy="228600"/>
          </a:xfrm>
          <a:prstGeom prst="rect">
            <a:avLst/>
          </a:prstGeom>
          <a:noFill/>
          <a:ln/>
        </p:spPr>
        <p:txBody>
          <a:bodyPr wrap="square" lIns="0" tIns="0" rIns="0" bIns="0" rtlCol="0" anchor="ctr"/>
          <a:lstStyle/>
          <a:p>
            <a:pPr indent="0" marL="0">
              <a:buNone/>
            </a:pPr>
            <a:r>
              <a:rPr lang="en-US" sz="1100" b="1" spc="100" kern="0" dirty="0">
                <a:solidFill>
                  <a:srgbClr val="2DD4BF"/>
                </a:solidFill>
                <a:latin typeface="Calibri" pitchFamily="34" charset="0"/>
                <a:ea typeface="Calibri" pitchFamily="34" charset="-122"/>
                <a:cs typeface="Calibri" pitchFamily="34" charset="-120"/>
              </a:rPr>
              <a:t>ROADMAP AND CLOSE</a:t>
            </a:r>
            <a:endParaRPr lang="en-US" sz="1100" dirty="0"/>
          </a:p>
        </p:txBody>
      </p:sp>
      <p:sp>
        <p:nvSpPr>
          <p:cNvPr id="3" name="Text 1"/>
          <p:cNvSpPr txBox="1"/>
          <p:nvPr/>
        </p:nvSpPr>
        <p:spPr>
          <a:xfrm>
            <a:off x="548640" y="822960"/>
            <a:ext cx="8046720" cy="1280160"/>
          </a:xfrm>
          <a:prstGeom prst="rect">
            <a:avLst/>
          </a:prstGeom>
          <a:noFill/>
          <a:ln/>
        </p:spPr>
        <p:txBody>
          <a:bodyPr wrap="square" lIns="0" tIns="0" rIns="0" bIns="0" rtlCol="0" anchor="t"/>
          <a:lstStyle/>
          <a:p>
            <a:pPr indent="0" marL="0">
              <a:buNone/>
            </a:pPr>
            <a:r>
              <a:rPr lang="en-US" sz="2600" b="1" dirty="0">
                <a:solidFill>
                  <a:srgbClr val="F1F5F9"/>
                </a:solidFill>
                <a:latin typeface="Calibri" pitchFamily="34" charset="0"/>
                <a:ea typeface="Calibri" pitchFamily="34" charset="-122"/>
                <a:cs typeface="Calibri" pitchFamily="34" charset="-120"/>
              </a:rPr>
              <a:t>SurgeGrid AI puts the plan's own words in front of the operator, </a:t>
            </a:r>
            <a:pPr indent="0" marL="0">
              <a:buNone/>
            </a:pPr>
            <a:r>
              <a:rPr lang="en-US" sz="2600" b="1" dirty="0">
                <a:solidFill>
                  <a:srgbClr val="2DD4BF"/>
                </a:solidFill>
                <a:latin typeface="Calibri" pitchFamily="34" charset="0"/>
                <a:ea typeface="Calibri" pitchFamily="34" charset="-122"/>
                <a:cs typeface="Calibri" pitchFamily="34" charset="-120"/>
              </a:rPr>
              <a:t>with the right people one tap away.</a:t>
            </a:r>
            <a:endParaRPr lang="en-US" sz="2600" dirty="0"/>
          </a:p>
        </p:txBody>
      </p:sp>
      <p:sp>
        <p:nvSpPr>
          <p:cNvPr id="4" name="Shape 2"/>
          <p:cNvSpPr/>
          <p:nvPr/>
        </p:nvSpPr>
        <p:spPr>
          <a:xfrm>
            <a:off x="548640" y="2286000"/>
            <a:ext cx="3931920" cy="1371600"/>
          </a:xfrm>
          <a:prstGeom prst="roundRect">
            <a:avLst>
              <a:gd name="adj" fmla="val 5333"/>
            </a:avLst>
          </a:prstGeom>
          <a:solidFill>
            <a:srgbClr val="131C31"/>
          </a:solidFill>
          <a:ln w="9525">
            <a:solidFill>
              <a:srgbClr val="26344F"/>
            </a:solidFill>
            <a:prstDash val="solid"/>
          </a:ln>
        </p:spPr>
      </p:sp>
      <p:sp>
        <p:nvSpPr>
          <p:cNvPr id="5" name="Shape 3"/>
          <p:cNvSpPr/>
          <p:nvPr/>
        </p:nvSpPr>
        <p:spPr>
          <a:xfrm>
            <a:off x="4663440" y="2286000"/>
            <a:ext cx="3931920" cy="1371600"/>
          </a:xfrm>
          <a:prstGeom prst="roundRect">
            <a:avLst>
              <a:gd name="adj" fmla="val 5333"/>
            </a:avLst>
          </a:prstGeom>
          <a:solidFill>
            <a:srgbClr val="131C31"/>
          </a:solidFill>
          <a:ln w="9525">
            <a:solidFill>
              <a:srgbClr val="26344F"/>
            </a:solidFill>
            <a:prstDash val="solid"/>
          </a:ln>
        </p:spPr>
      </p:sp>
      <p:sp>
        <p:nvSpPr>
          <p:cNvPr id="6" name="Text 4"/>
          <p:cNvSpPr txBox="1"/>
          <p:nvPr/>
        </p:nvSpPr>
        <p:spPr>
          <a:xfrm>
            <a:off x="731520" y="2377440"/>
            <a:ext cx="3566160" cy="274320"/>
          </a:xfrm>
          <a:prstGeom prst="rect">
            <a:avLst/>
          </a:prstGeom>
          <a:noFill/>
          <a:ln/>
        </p:spPr>
        <p:txBody>
          <a:bodyPr wrap="square" lIns="0" tIns="0" rIns="0" bIns="0" rtlCol="0" anchor="ctr"/>
          <a:lstStyle/>
          <a:p>
            <a:pPr indent="0" marL="0">
              <a:buNone/>
            </a:pPr>
            <a:r>
              <a:rPr lang="en-US" sz="1400" b="1" dirty="0">
                <a:solidFill>
                  <a:srgbClr val="F59E0B"/>
                </a:solidFill>
                <a:latin typeface="Calibri" pitchFamily="34" charset="0"/>
                <a:ea typeface="Calibri" pitchFamily="34" charset="-122"/>
                <a:cs typeface="Calibri" pitchFamily="34" charset="-120"/>
              </a:rPr>
              <a:t>Next</a:t>
            </a:r>
            <a:endParaRPr lang="en-US" sz="1400" dirty="0"/>
          </a:p>
        </p:txBody>
      </p:sp>
      <p:sp>
        <p:nvSpPr>
          <p:cNvPr id="7" name="Text 5"/>
          <p:cNvSpPr txBox="1"/>
          <p:nvPr/>
        </p:nvSpPr>
        <p:spPr>
          <a:xfrm>
            <a:off x="731520" y="2697480"/>
            <a:ext cx="3566160" cy="914400"/>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More storms and cities. Substations ranked by homes in mapped flood areas. Hospital and shelter exposure. A storm-drain and manhole layer. Tamil advisories.</a:t>
            </a:r>
            <a:endParaRPr lang="en-US" sz="1050" dirty="0"/>
          </a:p>
        </p:txBody>
      </p:sp>
      <p:sp>
        <p:nvSpPr>
          <p:cNvPr id="8" name="Text 6"/>
          <p:cNvSpPr txBox="1"/>
          <p:nvPr/>
        </p:nvSpPr>
        <p:spPr>
          <a:xfrm>
            <a:off x="4846320" y="2377440"/>
            <a:ext cx="3566160" cy="274320"/>
          </a:xfrm>
          <a:prstGeom prst="rect">
            <a:avLst/>
          </a:prstGeom>
          <a:noFill/>
          <a:ln/>
        </p:spPr>
        <p:txBody>
          <a:bodyPr wrap="square" lIns="0" tIns="0" rIns="0" bIns="0" rtlCol="0" anchor="ctr"/>
          <a:lstStyle/>
          <a:p>
            <a:pPr indent="0" marL="0">
              <a:buNone/>
            </a:pPr>
            <a:r>
              <a:rPr lang="en-US" sz="1400" b="1" dirty="0">
                <a:solidFill>
                  <a:srgbClr val="818CF8"/>
                </a:solidFill>
                <a:latin typeface="Calibri" pitchFamily="34" charset="0"/>
                <a:ea typeface="Calibri" pitchFamily="34" charset="-122"/>
                <a:cs typeface="Calibri" pitchFamily="34" charset="-120"/>
              </a:rPr>
              <a:t>Pilot path</a:t>
            </a:r>
            <a:endParaRPr lang="en-US" sz="1400" dirty="0"/>
          </a:p>
        </p:txBody>
      </p:sp>
      <p:sp>
        <p:nvSpPr>
          <p:cNvPr id="9" name="Text 7"/>
          <p:cNvSpPr txBox="1"/>
          <p:nvPr/>
        </p:nvSpPr>
        <p:spPr>
          <a:xfrm>
            <a:off x="4846320" y="2697480"/>
            <a:ext cx="3566160" cy="914400"/>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A TANGEDCO or GCC control room uses it as a plan-lookup and dispatch layer on its own grid data.</a:t>
            </a:r>
            <a:endParaRPr lang="en-US" sz="1050" dirty="0"/>
          </a:p>
        </p:txBody>
      </p:sp>
      <p:sp>
        <p:nvSpPr>
          <p:cNvPr id="10" name="Text 8"/>
          <p:cNvSpPr txBox="1"/>
          <p:nvPr/>
        </p:nvSpPr>
        <p:spPr>
          <a:xfrm>
            <a:off x="548640" y="4023360"/>
            <a:ext cx="8046720" cy="365760"/>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Live: </a:t>
            </a:r>
            <a:pPr indent="0" marL="0">
              <a:buNone/>
            </a:pPr>
            <a:r>
              <a:rPr lang="en-US" sz="1600" b="1" u="sng" dirty="0">
                <a:solidFill>
                  <a:srgbClr val="2DD4B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surgegrid.web.app</a:t>
            </a:r>
            <a:pPr indent="0" marL="0">
              <a:buNone/>
            </a:pPr>
            <a:r>
              <a:rPr lang="en-US" sz="1600" dirty="0">
                <a:solidFill>
                  <a:srgbClr val="94A3B8"/>
                </a:solidFill>
                <a:latin typeface="Calibri" pitchFamily="34" charset="0"/>
                <a:ea typeface="Calibri" pitchFamily="34" charset="-122"/>
                <a:cs typeface="Calibri" pitchFamily="34" charset="-120"/>
              </a:rPr>
              <a:t>      Repo: </a:t>
            </a:r>
            <a:pPr indent="0" marL="0">
              <a:buNone/>
            </a:pPr>
            <a:r>
              <a:rPr lang="en-US" sz="1600" b="1" u="sng" dirty="0">
                <a:solidFill>
                  <a:srgbClr val="2DD4B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github.com/rsiva2294/surgegrid-ai</a:t>
            </a:r>
            <a:endParaRPr lang="en-US" sz="1600" dirty="0"/>
          </a:p>
        </p:txBody>
      </p:sp>
      <p:sp>
        <p:nvSpPr>
          <p:cNvPr id="11" name="Text 9"/>
          <p:cNvSpPr txBox="1"/>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16 / 16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SurgeGrid AI</dc:title>
  <dc:subject>PptxGenJS Presentation</dc:subject>
  <dc:creator>SurgeGrid AI</dc:creator>
  <cp:lastModifiedBy>SurgeGrid AI</cp:lastModifiedBy>
  <cp:revision>1</cp:revision>
  <dcterms:created xsi:type="dcterms:W3CDTF">2026-09-30T18:08:36Z</dcterms:created>
  <dcterms:modified xsi:type="dcterms:W3CDTF">2026-09-30T18:08:36Z</dcterms:modified>
</cp:coreProperties>
</file>