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line: we built a tool a control room can trust because nothing on screen is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not missing plans. It is finding and applying them under pressure.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differentiator: trust. A wrong invented trip level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four things in that order during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Gemini is the last step and cannot change the 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deleted our earlier synthetic cyclone and two other events to focus on one real storm. Everything replayed is real rain and wind. Rain classes are IMD's, applied to a rolling 24-hour total over about 11 km cells. We do not draw flood water: none of our flood data has a time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Meaningful AI work, with a safety design judges can inspect in gemini-proxy/ and geminiSopService.ts.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quote and page number: 'this is the plan's own text'.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Judges reward honesty here; say the gaps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more than this; present it as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proof of engineering judgement, not a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with the live URL and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3291840"/>
            <a:ext cx="4023360" cy="4023360"/>
          </a:xfrm>
          <a:prstGeom prst="ellipse">
            <a:avLst/>
          </a:prstGeom>
          <a:solidFill>
            <a:srgbClr val="12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w-logo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HACKATHON  ·  BUILD WITH AI: CODE FOR COMMUNITIES  ·  TRACK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0" i="0">
                <a:solidFill>
                  <a:srgbClr val="F1F5F9"/>
                </a:solidFill>
                <a:latin typeface="Segoe UI Semibold"/>
              </a:rPr>
              <a:t>SurgeGrid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8412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plan says, </a:t>
            </a:r>
            <a:r>
              <a:rPr sz="3200" b="0" i="0">
                <a:solidFill>
                  <a:srgbClr val="2DD4BF"/>
                </a:solidFill>
                <a:latin typeface="Segoe UI Semibold"/>
              </a:rPr>
              <a:t>at the substation, at the right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0916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94A3B8"/>
                </a:solidFill>
                <a:latin typeface="Segoe UI"/>
              </a:rPr>
              <a:t>Chennai's power grid and flood console. Real rain, official maps, quoted plans.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DD4BF"/>
                </a:solidFill>
                <a:latin typeface="Segoe UI Semibold"/>
              </a:rPr>
              <a:t>surgegrid.web.app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exist. Finding the right line in time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2DD4BF"/>
                </a:solidFill>
                <a:latin typeface="Segoe UI Semibold"/>
              </a:rPr>
              <a:t>2.0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Chennai averages "barely 2.0 m above mean sea level".
GCC City Disaster Management Plan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6 ft · 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2015 floods: water up to 6 feet in substations, and 41 substations kept off.
TANGEDCO Disaster Management Plan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011680"/>
            <a:ext cx="3520440" cy="30175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Vardah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154680"/>
            <a:ext cx="2971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2016 cyclone: supply cut in many parts; fallen trees delayed restoration.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303520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3035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A control room has minutes, not hours, to find the right line for the right substation.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OUR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The plans never give a number that forces a shut-off. So we don't invent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835640" cy="1371600"/>
          </a:xfrm>
          <a:prstGeom prst="roundRect">
            <a:avLst>
              <a:gd name="adj" fmla="val 6000"/>
            </a:avLst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 i="0">
                <a:solidFill>
                  <a:srgbClr val="F1F5F9"/>
                </a:solidFill>
                <a:latin typeface="Segoe UI Semibold"/>
              </a:rPr>
              <a:t>Official plans: supply may be switched off </a:t>
            </a:r>
            <a:r>
              <a:rPr sz="2400" b="0" i="0">
                <a:solidFill>
                  <a:srgbClr val="2DD4BF"/>
                </a:solidFill>
                <a:latin typeface="Segoe UI Semibold"/>
              </a:rPr>
              <a:t>"if required"</a:t>
            </a:r>
            <a:r>
              <a:rPr sz="2400" b="0" i="0">
                <a:solidFill>
                  <a:srgbClr val="F1F5F9"/>
                </a:solidFill>
                <a:latin typeface="Segoe UI Semibold"/>
              </a:rPr>
              <a:t>. No wind speed or flood depth is given.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76732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Many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Invent thresholds and present them as rules.
A control room cannot tell which numbers are official.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5661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76732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376732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SurgeGrid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We checked four plans and removed every rule they do not contain.
The screen shows an operator decision, backed by the exact quote.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WHAT SURGEGRID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Four things, in the order a control room needs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1  Replay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Cyclone Michaung in five steps: two before the peak, the peak, two after. Rain by area on the map.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2 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286 substations: yard elevation, official flood maps, and an exposed-now list at each step.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7024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  AI Directive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official actions for this hour, each a quote with plan and page, and the substations they apply to.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06908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27024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7024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4  Substation card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Flood facts, a copilot with quoted actions, GCC relief centres for the ward, and a backup suggestion.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Real data in. Rules choose. Quotes speak. Gemini adds one note.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Real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NASA IMERG rain
ERA5-Land wind
SRTM terrain
OpenCity flood maps
TNEB grid
Live TANGEDCO notices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80360" y="2011680"/>
            <a:ext cx="2011680" cy="82296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Phase from the data:
watch, impact,
restoration.
Pick the substations.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2011680"/>
            <a:ext cx="201168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37 quotes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 for word,
with plan and page,
from four official
plans.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8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80" y="2011680"/>
            <a:ext cx="2011680" cy="82296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Gemini 2.5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Words one short
note. Cannot write
or change a quote.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291840"/>
            <a:ext cx="2560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800" b="0" i="0">
                <a:solidFill>
                  <a:srgbClr val="94A3B8"/>
                </a:solidFill>
                <a:latin typeface="Segoe UI Semibold"/>
              </a:rPr>
              <a:t>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011680"/>
            <a:ext cx="2011680" cy="31089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64040" y="2011680"/>
            <a:ext cx="201168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20" y="22860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Screen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20" y="2788920"/>
            <a:ext cx="16459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AI Directive and
substation card.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440680"/>
            <a:ext cx="10835640" cy="6400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44068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Runs on Google Maps Platform  ·  Earth Engine (scenario data)  ·  Gemini via a Cloud Function  ·  Firebase Hosting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REAL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No synthetic storms. Everything replayed is real rain and wind.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74519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Michaung, Dec 2023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Area mean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94A3B8"/>
                          </a:solidFill>
                          <a:latin typeface="Segoe UI Semibold"/>
                        </a:rPr>
                        <a:t>Across 28 rain cells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Peak rain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14.0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7.6 to 21.1 mm/h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Total rain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273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219 to 319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1F5F9"/>
                          </a:solidFill>
                          <a:latin typeface="Segoe UI"/>
                        </a:rPr>
                        <a:t>Worst 24 hours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200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2DD4BF"/>
                          </a:solidFill>
                          <a:latin typeface="Segoe UI"/>
                        </a:rPr>
                        <a:t>144 to 253 mm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60920" y="1874519"/>
            <a:ext cx="4160520" cy="219456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36118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818CF8"/>
                </a:solidFill>
                <a:latin typeface="Segoe UI Semibold"/>
              </a:rPr>
              <a:t>286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017520"/>
            <a:ext cx="36118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substations, 2,678 feeders, 65,557 transformers, about 4.9 million consumers on mapped transformers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59E0B"/>
                </a:solidFill>
                <a:latin typeface="Segoe UI Semibold"/>
              </a:rPr>
              <a:t>48 · 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substations inside the 2015 flood extent · inside the 100-year flood-hazard map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343400"/>
            <a:ext cx="5303520" cy="17830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57200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0" i="0">
                <a:solidFill>
                  <a:srgbClr val="FB7185"/>
                </a:solidFill>
                <a:latin typeface="Segoe UI Semibold"/>
              </a:rPr>
              <a:t>162 · 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8640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GCC relief centres · wards they 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THE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Gemini does, and what it never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Picks substation and feeder names from lists we send.
Writes one short note, or a live-day summary of our data.
Gemini 2.5 Flash on Google Cloud, no API key in the app.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Never does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Write, reword or cite the plan quotes.
Invent a number: a note with a number not in the prompt is discarded.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80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GUARDRAILS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Fixed answer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JSON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7288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0168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Names filtered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to our lists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Numbers checked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against the prompt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0264" y="4846320"/>
            <a:ext cx="2560320" cy="12344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53144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 Semibold"/>
              </a:rPr>
              <a:t>Gemini down?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54406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94A3B8"/>
                </a:solidFill>
                <a:latin typeface="Segoe UI"/>
              </a:rPr>
              <a:t>Same quotes, rule-based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LIVE DEMO  · 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Watch one storm go from watch to restoration.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29967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2996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74519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the site, pick Michaung. It starts at T-24h with the rain layer nearly clear. The AI Directive shows 6 quoted actions with page numbers.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7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916935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1693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761487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Press play: five steps, 6 seconds each. Rain fills in by cell, exposed substations get red rings, and the Exposed now list grows from 0 to 87.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648455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803903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039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48455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Point at a cell for its 24-hour rain and IMD class. Switch on the fixed official flood maps.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35423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690871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69087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535423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low-lying substation: status line, Overview (flood facts), then Respond: copilot actions, relief centre, backup.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22391"/>
            <a:ext cx="10835640" cy="77724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577839"/>
            <a:ext cx="457200" cy="4572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778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0">
                <a:solidFill>
                  <a:srgbClr val="0B1220"/>
                </a:solidFill>
                <a:latin typeface="Segoe UI Semibold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422391"/>
            <a:ext cx="97840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1F5F9"/>
                </a:solidFill>
                <a:latin typeface="Segoe UI"/>
              </a:rPr>
              <a:t>Open a substation inside no flood layer. It stays quiet: no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TRACK 5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What the brief asks, what we deliver, and the honest gaps.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9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35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154680"/>
              </a:tblGrid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The brief asks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We deliver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94A3B8"/>
                          </a:solidFill>
                          <a:latin typeface="Segoe UI Semibold"/>
                        </a:rPr>
                        <a:t>Honest gap</a:t>
                      </a:r>
                    </a:p>
                  </a:txBody>
                  <a:tcPr anchor="ctr" marL="182880">
                    <a:solidFill>
                      <a:srgbClr val="243352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Earth Engine + real met data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IMERG rain, ERA5-Land wind, SRTM; Google Weather API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Wind is an area average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Simulate storm scenarios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One real hindcast (Michaung), five steps, rain by area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storm surge or track; no flood prediction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Map grid and shelter exposure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286 substations checked; 162 relief centres by ward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Centres have no coordinates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Early-warning advisories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Quoted actions per hour and substation; copy-SMS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 automatic dispatch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reasoning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1F5F9"/>
                          </a:solidFill>
                          <a:latin typeface="Segoe UI"/>
                        </a:rPr>
                        <a:t>Gemini 2.5 Flash notes with guardrails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59E0B"/>
                          </a:solidFill>
                          <a:latin typeface="Segoe UI"/>
                        </a:rPr>
                        <a:t>Not multimodal</a:t>
                      </a:r>
                    </a:p>
                  </a:txBody>
                  <a:tcPr anchor="ctr" marL="182880">
                    <a:solidFill>
                      <a:srgbClr val="131D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BUILT FOR INDIA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Live today. National by design. Chennai only, for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surgegrid.web.app: static hosting plus one small Cloud Function. Keyless Gemini, origin allow-list, rate limit.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National by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MoP 2021 power-sector plan and IMD cyclone classes apply across India. City plans plug in as more quotes.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Repeatable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The scenario builder takes any area and date. City inputs sit in one config file.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The honest bit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Chennai only today. A new city needs its grid data, its local plan and its flood layers.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EVIDENCE AND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0" i="0">
                <a:solidFill>
                  <a:srgbClr val="F1F5F9"/>
                </a:solidFill>
                <a:latin typeface="Segoe UI Semibold"/>
              </a:rPr>
              <a:t>We removed what we couldn't source, and say 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190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SurgeGrid AI  ·  surgegrid.web.app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94A3B8"/>
                </a:solidFill>
                <a:latin typeface="Segoe U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75688"/>
            <a:ext cx="54864" cy="457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Every plan line is a quote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Word for word, with plan and page. 37 quotes, each checked against the PDF text.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75688"/>
            <a:ext cx="54864" cy="4572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207568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Removed: no plan says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2697479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Wind and flood trip limits, restoration hours, a five-stage protocol, plinth heights, gang and pump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315968"/>
            <a:ext cx="54864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Official maps, not model depths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Our flood score matched the city's 53 hotspots (AUC 0.76) but not the 2015 satellite map. So we show map checks.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114800"/>
            <a:ext cx="5257800" cy="20116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4315968"/>
            <a:ext cx="54864" cy="457200"/>
          </a:xfrm>
          <a:prstGeom prst="rect">
            <a:avLst/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315968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F1F5F9"/>
                </a:solidFill>
                <a:latin typeface="Segoe UI Semibold"/>
              </a:rPr>
              <a:t>Live site, Lighthouse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937760"/>
            <a:ext cx="47548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94A3B8"/>
                </a:solidFill>
                <a:latin typeface="Segoe UI"/>
              </a:rPr>
              <a:t>Accessibility 100. Desktop performance 91. Mobile performance 54, and we say so.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097280"/>
            <a:ext cx="5943600" cy="5943600"/>
          </a:xfrm>
          <a:prstGeom prst="ellipse">
            <a:avLst/>
          </a:prstGeom>
          <a:solidFill>
            <a:srgbClr val="0F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DD4BF"/>
                </a:solidFill>
                <a:latin typeface="Segoe UI Semibold"/>
              </a:rPr>
              <a:t>ROADMAP AND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2296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0" i="0">
                <a:solidFill>
                  <a:srgbClr val="F1F5F9"/>
                </a:solidFill>
                <a:latin typeface="Segoe UI Semibold"/>
              </a:rPr>
              <a:t>SurgeGrid AI puts the plan's own words in front of the operator, </a:t>
            </a:r>
            <a:r>
              <a:rPr sz="3400" b="0" i="0">
                <a:solidFill>
                  <a:srgbClr val="2DD4BF"/>
                </a:solidFill>
                <a:latin typeface="Segoe UI Semibold"/>
              </a:rPr>
              <a:t>and makes no rule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92608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04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More storms and cities. Substations ranked by homes in mapped flood areas. Hospital and shelter exposure. Finer rain data. Tamil advisories. Faster mobile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434840"/>
            <a:ext cx="6949440" cy="1325880"/>
          </a:xfrm>
          <a:prstGeom prst="roundRect">
            <a:avLst>
              <a:gd name="adj" fmla="val 6000"/>
            </a:avLst>
          </a:prstGeom>
          <a:solidFill>
            <a:srgbClr val="131D33"/>
          </a:solidFill>
          <a:ln w="9525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617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2DD4BF"/>
                </a:solidFill>
                <a:latin typeface="Segoe UI Semibold"/>
              </a:rPr>
              <a:t>Pilot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02920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Segoe UI"/>
              </a:rPr>
              <a:t>A TANGEDCO or GCC control room uses it as a plan-lookup layer on its own grid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4A3B8"/>
                </a:solidFill>
                <a:latin typeface="Segoe UI"/>
              </a:rPr>
              <a:t>Live: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surgegrid.web.app</a:t>
            </a:r>
            <a:r>
              <a:rPr sz="1500" b="0" i="0">
                <a:solidFill>
                  <a:srgbClr val="94A3B8"/>
                </a:solidFill>
                <a:latin typeface="Segoe UI"/>
              </a:rPr>
              <a:t>     Repo: </a:t>
            </a:r>
            <a:r>
              <a:rPr sz="1500" b="0" i="0">
                <a:solidFill>
                  <a:srgbClr val="2DD4BF"/>
                </a:solidFill>
                <a:latin typeface="Segoe UI Semibold"/>
              </a:rPr>
              <a:t>github.com/rsiva2294/surgegrid-ai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