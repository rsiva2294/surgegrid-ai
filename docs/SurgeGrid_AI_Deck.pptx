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we built a tool a control room can trust because nothing on screen is invented.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pain is not missing plans. It is finding and applying them under pressure.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differentiator: trust. A wrong invented trip level is worse than none.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four things in that order during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Gemini is the last step and cannot change the quotes.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show that our satellite rain reads below IMD's own rain gauges (Chennai district: 16 stations listed 70 to 100 mm on 3 Dec, 50 stations listed 70 to 290 mm on 4 Dec) and we do not scale it up. The early steps therefore look quieter than the gauges say, and the early exposed counts are probably too low. We deleted our earlier synthetic cyclone and two other events to focus on one real storm.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Meaningful AI work, with a safety design judges can inspect in gemini-proxy/ and geminiSopService.ts.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quote and page number: 'this is the plan's own 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reward honesty here; say the gaps out 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more than this; present it as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proof of engineering judgement, not a weakness.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Finish with the live URL and the repo.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138160" y="-1097280"/>
            <a:ext cx="5943600" cy="5943600"/>
          </a:xfrm>
          <a:prstGeom prst="ellipse">
            <a:avLst/>
          </a:prstGeom>
          <a:solidFill>
            <a:srgbClr val="0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326880" y="3291840"/>
            <a:ext cx="4023360" cy="4023360"/>
          </a:xfrm>
          <a:prstGeom prst="ellipse">
            <a:avLst/>
          </a:prstGeom>
          <a:solidFill>
            <a:srgbClr val="122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w-logo-transparent.png"/>
          <p:cNvPicPr>
            <a:picLocks noChangeAspect="1"/>
          </p:cNvPicPr>
          <p:nvPr/>
        </p:nvPicPr>
        <p:blipFill>
          <a:blip r:embed="rId2"/>
          <a:stretch>
            <a:fillRect/>
          </a:stretch>
        </p:blipFill>
        <p:spPr>
          <a:xfrm>
            <a:off x="685800" y="640080"/>
            <a:ext cx="640080" cy="640080"/>
          </a:xfrm>
          <a:prstGeom prst="rect">
            <a:avLst/>
          </a:prstGeom>
        </p:spPr>
      </p:pic>
      <p:sp>
        <p:nvSpPr>
          <p:cNvPr id="6" name="TextBox 5"/>
          <p:cNvSpPr txBox="1"/>
          <p:nvPr/>
        </p:nvSpPr>
        <p:spPr>
          <a:xfrm>
            <a:off x="685800" y="1737360"/>
            <a:ext cx="54864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HACKATHON  ·  BUILD WITH AI: CODE FOR COMMUNITIES  ·  TRACK 5</a:t>
            </a:r>
          </a:p>
        </p:txBody>
      </p:sp>
      <p:sp>
        <p:nvSpPr>
          <p:cNvPr id="7" name="TextBox 6"/>
          <p:cNvSpPr txBox="1"/>
          <p:nvPr/>
        </p:nvSpPr>
        <p:spPr>
          <a:xfrm>
            <a:off x="685800" y="2194560"/>
            <a:ext cx="8686800" cy="914400"/>
          </a:xfrm>
          <a:prstGeom prst="rect">
            <a:avLst/>
          </a:prstGeom>
          <a:noFill/>
        </p:spPr>
        <p:txBody>
          <a:bodyPr wrap="square" lIns="0" rIns="0" tIns="0" bIns="0" anchor="t">
            <a:spAutoFit/>
          </a:bodyPr>
          <a:lstStyle/>
          <a:p>
            <a:pPr algn="l">
              <a:lnSpc>
                <a:spcPct val="110000"/>
              </a:lnSpc>
            </a:pPr>
            <a:r>
              <a:rPr sz="6000" b="0" i="0">
                <a:solidFill>
                  <a:srgbClr val="F1F5F9"/>
                </a:solidFill>
                <a:latin typeface="Segoe UI Semibold"/>
              </a:rPr>
              <a:t>SurgeGrid AI</a:t>
            </a:r>
          </a:p>
        </p:txBody>
      </p:sp>
      <p:sp>
        <p:nvSpPr>
          <p:cNvPr id="8" name="TextBox 7"/>
          <p:cNvSpPr txBox="1"/>
          <p:nvPr/>
        </p:nvSpPr>
        <p:spPr>
          <a:xfrm>
            <a:off x="685800" y="3337560"/>
            <a:ext cx="8412480" cy="1371600"/>
          </a:xfrm>
          <a:prstGeom prst="rect">
            <a:avLst/>
          </a:prstGeom>
          <a:noFill/>
        </p:spPr>
        <p:txBody>
          <a:bodyPr wrap="square" lIns="0" rIns="0" tIns="0" bIns="0" anchor="t">
            <a:spAutoFit/>
          </a:bodyPr>
          <a:lstStyle/>
          <a:p>
            <a:pPr algn="l">
              <a:lnSpc>
                <a:spcPct val="105000"/>
              </a:lnSpc>
            </a:pPr>
            <a:r>
              <a:rPr sz="3200" b="0" i="0">
                <a:solidFill>
                  <a:srgbClr val="F1F5F9"/>
                </a:solidFill>
                <a:latin typeface="Segoe UI Semibold"/>
              </a:rPr>
              <a:t>What the plan says, </a:t>
            </a:r>
            <a:r>
              <a:rPr sz="3200" b="0" i="0">
                <a:solidFill>
                  <a:srgbClr val="2DD4BF"/>
                </a:solidFill>
                <a:latin typeface="Segoe UI Semibold"/>
              </a:rPr>
              <a:t>at the substation, at the right hour.</a:t>
            </a:r>
          </a:p>
        </p:txBody>
      </p:sp>
      <p:sp>
        <p:nvSpPr>
          <p:cNvPr id="9" name="TextBox 8"/>
          <p:cNvSpPr txBox="1"/>
          <p:nvPr/>
        </p:nvSpPr>
        <p:spPr>
          <a:xfrm>
            <a:off x="685800" y="4709160"/>
            <a:ext cx="8046720" cy="731520"/>
          </a:xfrm>
          <a:prstGeom prst="rect">
            <a:avLst/>
          </a:prstGeom>
          <a:noFill/>
        </p:spPr>
        <p:txBody>
          <a:bodyPr wrap="square" lIns="0" rIns="0" tIns="0" bIns="0" anchor="t">
            <a:spAutoFit/>
          </a:bodyPr>
          <a:lstStyle/>
          <a:p>
            <a:pPr algn="l">
              <a:lnSpc>
                <a:spcPct val="110000"/>
              </a:lnSpc>
            </a:pPr>
            <a:r>
              <a:rPr sz="1800" b="0" i="0">
                <a:solidFill>
                  <a:srgbClr val="94A3B8"/>
                </a:solidFill>
                <a:latin typeface="Segoe UI"/>
              </a:rPr>
              <a:t>Chennai's power grid and flood console. Real rain, official maps, quoted plans.</a:t>
            </a:r>
          </a:p>
        </p:txBody>
      </p:sp>
      <p:sp>
        <p:nvSpPr>
          <p:cNvPr id="10" name="TextBox 9"/>
          <p:cNvSpPr txBox="1"/>
          <p:nvPr/>
        </p:nvSpPr>
        <p:spPr>
          <a:xfrm>
            <a:off x="685800" y="5943600"/>
            <a:ext cx="7315200" cy="274320"/>
          </a:xfrm>
          <a:prstGeom prst="rect">
            <a:avLst/>
          </a:prstGeom>
          <a:noFill/>
        </p:spPr>
        <p:txBody>
          <a:bodyPr wrap="square" lIns="0" rIns="0" tIns="0" bIns="0" anchor="t">
            <a:spAutoFit/>
          </a:bodyPr>
          <a:lstStyle/>
          <a:p>
            <a:pPr algn="l">
              <a:lnSpc>
                <a:spcPct val="110000"/>
              </a:lnSpc>
            </a:pPr>
            <a:r>
              <a:rPr sz="1400" b="0" i="0">
                <a:solidFill>
                  <a:srgbClr val="2DD4BF"/>
                </a:solidFill>
                <a:latin typeface="Segoe UI Semibold"/>
              </a:rPr>
              <a:t>surgegrid.web.app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THE PROBLEM</a:t>
            </a:r>
          </a:p>
        </p:txBody>
      </p:sp>
      <p:sp>
        <p:nvSpPr>
          <p:cNvPr id="4" name="TextBox 3"/>
          <p:cNvSpPr txBox="1"/>
          <p:nvPr/>
        </p:nvSpPr>
        <p:spPr>
          <a:xfrm>
            <a:off x="685800" y="777240"/>
            <a:ext cx="10789920" cy="914400"/>
          </a:xfrm>
          <a:prstGeom prst="rect">
            <a:avLst/>
          </a:prstGeom>
          <a:noFill/>
        </p:spPr>
        <p:txBody>
          <a:bodyPr wrap="square" lIns="0" rIns="0" tIns="0" bIns="0" anchor="t">
            <a:spAutoFit/>
          </a:bodyPr>
          <a:lstStyle/>
          <a:p>
            <a:pPr algn="l">
              <a:lnSpc>
                <a:spcPct val="100000"/>
              </a:lnSpc>
            </a:pPr>
            <a:r>
              <a:rPr sz="3200" b="0" i="0">
                <a:solidFill>
                  <a:srgbClr val="F1F5F9"/>
                </a:solidFill>
                <a:latin typeface="Segoe UI Semibold"/>
              </a:rPr>
              <a:t>The plans exist. Finding the right line in time is the hard part.</a:t>
            </a:r>
          </a:p>
        </p:txBody>
      </p:sp>
      <p:sp>
        <p:nvSpPr>
          <p:cNvPr id="5" name="TextBox 4"/>
          <p:cNvSpPr txBox="1"/>
          <p:nvPr/>
        </p:nvSpPr>
        <p:spPr>
          <a:xfrm>
            <a:off x="685800" y="6419088"/>
            <a:ext cx="5486400" cy="228600"/>
          </a:xfrm>
          <a:prstGeom prst="rect">
            <a:avLst/>
          </a:prstGeom>
          <a:noFill/>
        </p:spPr>
        <p:txBody>
          <a:bodyPr wrap="square" lIns="0" rIns="0" tIns="0" bIns="0" anchor="t">
            <a:spAutoFit/>
          </a:bodyPr>
          <a:lstStyle/>
          <a:p>
            <a:pPr algn="l">
              <a:lnSpc>
                <a:spcPct val="110000"/>
              </a:lnSpc>
            </a:pPr>
            <a:r>
              <a:rPr sz="1000" b="0" i="0">
                <a:solidFill>
                  <a:srgbClr val="94A3B8"/>
                </a:solidFill>
                <a:latin typeface="Segoe UI"/>
              </a:rPr>
              <a:t>SurgeGrid AI  ·  surgegrid.web.app</a:t>
            </a:r>
          </a:p>
        </p:txBody>
      </p:sp>
      <p:sp>
        <p:nvSpPr>
          <p:cNvPr id="6" name="TextBox 5"/>
          <p:cNvSpPr txBox="1"/>
          <p:nvPr/>
        </p:nvSpPr>
        <p:spPr>
          <a:xfrm>
            <a:off x="10607040" y="6419088"/>
            <a:ext cx="914400" cy="228600"/>
          </a:xfrm>
          <a:prstGeom prst="rect">
            <a:avLst/>
          </a:prstGeom>
          <a:noFill/>
        </p:spPr>
        <p:txBody>
          <a:bodyPr wrap="square" lIns="0" rIns="0" tIns="0" bIns="0" anchor="t">
            <a:spAutoFit/>
          </a:bodyPr>
          <a:lstStyle/>
          <a:p>
            <a:pPr algn="r">
              <a:lnSpc>
                <a:spcPct val="110000"/>
              </a:lnSpc>
            </a:pPr>
            <a:r>
              <a:rPr sz="1000" b="0" i="0">
                <a:solidFill>
                  <a:srgbClr val="94A3B8"/>
                </a:solidFill>
                <a:latin typeface="Segoe UI"/>
              </a:rPr>
              <a:t>2 / 12</a:t>
            </a:r>
          </a:p>
        </p:txBody>
      </p:sp>
      <p:sp>
        <p:nvSpPr>
          <p:cNvPr id="7" name="Rounded Rectangle 6"/>
          <p:cNvSpPr/>
          <p:nvPr/>
        </p:nvSpPr>
        <p:spPr>
          <a:xfrm>
            <a:off x="685800" y="2011680"/>
            <a:ext cx="3520440" cy="301752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240280"/>
            <a:ext cx="2971800" cy="822960"/>
          </a:xfrm>
          <a:prstGeom prst="rect">
            <a:avLst/>
          </a:prstGeom>
          <a:noFill/>
        </p:spPr>
        <p:txBody>
          <a:bodyPr wrap="square" lIns="0" rIns="0" tIns="0" bIns="0" anchor="t">
            <a:spAutoFit/>
          </a:bodyPr>
          <a:lstStyle/>
          <a:p>
            <a:pPr algn="l">
              <a:lnSpc>
                <a:spcPct val="110000"/>
              </a:lnSpc>
            </a:pPr>
            <a:r>
              <a:rPr sz="4000" b="0" i="0">
                <a:solidFill>
                  <a:srgbClr val="2DD4BF"/>
                </a:solidFill>
                <a:latin typeface="Segoe UI Semibold"/>
              </a:rPr>
              <a:t>2.0 m</a:t>
            </a:r>
          </a:p>
        </p:txBody>
      </p:sp>
      <p:sp>
        <p:nvSpPr>
          <p:cNvPr id="9" name="TextBox 8"/>
          <p:cNvSpPr txBox="1"/>
          <p:nvPr/>
        </p:nvSpPr>
        <p:spPr>
          <a:xfrm>
            <a:off x="960120" y="3154680"/>
            <a:ext cx="2971800" cy="1737360"/>
          </a:xfrm>
          <a:prstGeom prst="rect">
            <a:avLst/>
          </a:prstGeom>
          <a:noFill/>
        </p:spPr>
        <p:txBody>
          <a:bodyPr wrap="square" lIns="0" rIns="0" tIns="0" bIns="0" anchor="t">
            <a:spAutoFit/>
          </a:bodyPr>
          <a:lstStyle/>
          <a:p>
            <a:pPr algn="l">
              <a:lnSpc>
                <a:spcPct val="115000"/>
              </a:lnSpc>
            </a:pPr>
            <a:r>
              <a:rPr sz="1400" b="0" i="0">
                <a:solidFill>
                  <a:srgbClr val="94A3B8"/>
                </a:solidFill>
                <a:latin typeface="Segoe UI"/>
              </a:rPr>
              <a:t>Chennai averages "barely 2.0 m above mean sea level".
GCC City Disaster Management Plan</a:t>
            </a:r>
          </a:p>
        </p:txBody>
      </p:sp>
      <p:sp>
        <p:nvSpPr>
          <p:cNvPr id="10" name="Rounded Rectangle 9"/>
          <p:cNvSpPr/>
          <p:nvPr/>
        </p:nvSpPr>
        <p:spPr>
          <a:xfrm>
            <a:off x="4343400" y="2011680"/>
            <a:ext cx="3520440" cy="301752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240280"/>
            <a:ext cx="2971800" cy="822960"/>
          </a:xfrm>
          <a:prstGeom prst="rect">
            <a:avLst/>
          </a:prstGeom>
          <a:noFill/>
        </p:spPr>
        <p:txBody>
          <a:bodyPr wrap="square" lIns="0" rIns="0" tIns="0" bIns="0" anchor="t">
            <a:spAutoFit/>
          </a:bodyPr>
          <a:lstStyle/>
          <a:p>
            <a:pPr algn="l">
              <a:lnSpc>
                <a:spcPct val="110000"/>
              </a:lnSpc>
            </a:pPr>
            <a:r>
              <a:rPr sz="4000" b="0" i="0">
                <a:solidFill>
                  <a:srgbClr val="F59E0B"/>
                </a:solidFill>
                <a:latin typeface="Segoe UI Semibold"/>
              </a:rPr>
              <a:t>6 ft · 41</a:t>
            </a:r>
          </a:p>
        </p:txBody>
      </p:sp>
      <p:sp>
        <p:nvSpPr>
          <p:cNvPr id="12" name="TextBox 11"/>
          <p:cNvSpPr txBox="1"/>
          <p:nvPr/>
        </p:nvSpPr>
        <p:spPr>
          <a:xfrm>
            <a:off x="4617720" y="3154680"/>
            <a:ext cx="2971800" cy="1737360"/>
          </a:xfrm>
          <a:prstGeom prst="rect">
            <a:avLst/>
          </a:prstGeom>
          <a:noFill/>
        </p:spPr>
        <p:txBody>
          <a:bodyPr wrap="square" lIns="0" rIns="0" tIns="0" bIns="0" anchor="t">
            <a:spAutoFit/>
          </a:bodyPr>
          <a:lstStyle/>
          <a:p>
            <a:pPr algn="l">
              <a:lnSpc>
                <a:spcPct val="115000"/>
              </a:lnSpc>
            </a:pPr>
            <a:r>
              <a:rPr sz="1400" b="0" i="0">
                <a:solidFill>
                  <a:srgbClr val="94A3B8"/>
                </a:solidFill>
                <a:latin typeface="Segoe UI"/>
              </a:rPr>
              <a:t>2015 floods: water up to 6 feet in substations, and 41 substations kept off.
TANGEDCO Disaster Management Plan</a:t>
            </a:r>
          </a:p>
        </p:txBody>
      </p:sp>
      <p:sp>
        <p:nvSpPr>
          <p:cNvPr id="13" name="Rounded Rectangle 12"/>
          <p:cNvSpPr/>
          <p:nvPr/>
        </p:nvSpPr>
        <p:spPr>
          <a:xfrm>
            <a:off x="8001000" y="2011680"/>
            <a:ext cx="3520440" cy="301752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2240280"/>
            <a:ext cx="2971800" cy="822960"/>
          </a:xfrm>
          <a:prstGeom prst="rect">
            <a:avLst/>
          </a:prstGeom>
          <a:noFill/>
        </p:spPr>
        <p:txBody>
          <a:bodyPr wrap="square" lIns="0" rIns="0" tIns="0" bIns="0" anchor="t">
            <a:spAutoFit/>
          </a:bodyPr>
          <a:lstStyle/>
          <a:p>
            <a:pPr algn="l">
              <a:lnSpc>
                <a:spcPct val="110000"/>
              </a:lnSpc>
            </a:pPr>
            <a:r>
              <a:rPr sz="4000" b="0" i="0">
                <a:solidFill>
                  <a:srgbClr val="FB7185"/>
                </a:solidFill>
                <a:latin typeface="Segoe UI Semibold"/>
              </a:rPr>
              <a:t>Vardah</a:t>
            </a:r>
          </a:p>
        </p:txBody>
      </p:sp>
      <p:sp>
        <p:nvSpPr>
          <p:cNvPr id="15" name="TextBox 14"/>
          <p:cNvSpPr txBox="1"/>
          <p:nvPr/>
        </p:nvSpPr>
        <p:spPr>
          <a:xfrm>
            <a:off x="8275320" y="3154680"/>
            <a:ext cx="2971800" cy="1737360"/>
          </a:xfrm>
          <a:prstGeom prst="rect">
            <a:avLst/>
          </a:prstGeom>
          <a:noFill/>
        </p:spPr>
        <p:txBody>
          <a:bodyPr wrap="square" lIns="0" rIns="0" tIns="0" bIns="0" anchor="t">
            <a:spAutoFit/>
          </a:bodyPr>
          <a:lstStyle/>
          <a:p>
            <a:pPr algn="l">
              <a:lnSpc>
                <a:spcPct val="115000"/>
              </a:lnSpc>
            </a:pPr>
            <a:r>
              <a:rPr sz="1400" b="0" i="0">
                <a:solidFill>
                  <a:srgbClr val="94A3B8"/>
                </a:solidFill>
                <a:latin typeface="Segoe UI"/>
              </a:rPr>
              <a:t>2016 cyclone: supply cut in many parts; fallen trees delayed restoration.</a:t>
            </a:r>
          </a:p>
        </p:txBody>
      </p:sp>
      <p:sp>
        <p:nvSpPr>
          <p:cNvPr id="16" name="Rounded Rectangle 15"/>
          <p:cNvSpPr/>
          <p:nvPr/>
        </p:nvSpPr>
        <p:spPr>
          <a:xfrm>
            <a:off x="685800" y="5303520"/>
            <a:ext cx="10835640" cy="777240"/>
          </a:xfrm>
          <a:prstGeom prst="roundRect">
            <a:avLst>
              <a:gd name="adj" fmla="val 6000"/>
            </a:avLst>
          </a:prstGeom>
          <a:solidFill>
            <a:srgbClr val="0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303520"/>
            <a:ext cx="10332720" cy="77724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A control room has minutes, not hours, to find the right line for the right substation.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OUR INSIGHT</a:t>
            </a:r>
          </a:p>
        </p:txBody>
      </p:sp>
      <p:sp>
        <p:nvSpPr>
          <p:cNvPr id="4" name="TextBox 3"/>
          <p:cNvSpPr txBox="1"/>
          <p:nvPr/>
        </p:nvSpPr>
        <p:spPr>
          <a:xfrm>
            <a:off x="685800" y="777240"/>
            <a:ext cx="10789920" cy="914400"/>
          </a:xfrm>
          <a:prstGeom prst="rect">
            <a:avLst/>
          </a:prstGeom>
          <a:noFill/>
        </p:spPr>
        <p:txBody>
          <a:bodyPr wrap="square" lIns="0" rIns="0" tIns="0" bIns="0" anchor="t">
            <a:spAutoFit/>
          </a:bodyPr>
          <a:lstStyle/>
          <a:p>
            <a:pPr algn="l">
              <a:lnSpc>
                <a:spcPct val="100000"/>
              </a:lnSpc>
            </a:pPr>
            <a:r>
              <a:rPr sz="3200" b="0" i="0">
                <a:solidFill>
                  <a:srgbClr val="F1F5F9"/>
                </a:solidFill>
                <a:latin typeface="Segoe UI Semibold"/>
              </a:rPr>
              <a:t>The plans never give a number that forces a shut-off. So we don't invent one.</a:t>
            </a:r>
          </a:p>
        </p:txBody>
      </p:sp>
      <p:sp>
        <p:nvSpPr>
          <p:cNvPr id="5" name="TextBox 4"/>
          <p:cNvSpPr txBox="1"/>
          <p:nvPr/>
        </p:nvSpPr>
        <p:spPr>
          <a:xfrm>
            <a:off x="685800" y="6419088"/>
            <a:ext cx="5486400" cy="228600"/>
          </a:xfrm>
          <a:prstGeom prst="rect">
            <a:avLst/>
          </a:prstGeom>
          <a:noFill/>
        </p:spPr>
        <p:txBody>
          <a:bodyPr wrap="square" lIns="0" rIns="0" tIns="0" bIns="0" anchor="t">
            <a:spAutoFit/>
          </a:bodyPr>
          <a:lstStyle/>
          <a:p>
            <a:pPr algn="l">
              <a:lnSpc>
                <a:spcPct val="110000"/>
              </a:lnSpc>
            </a:pPr>
            <a:r>
              <a:rPr sz="1000" b="0" i="0">
                <a:solidFill>
                  <a:srgbClr val="94A3B8"/>
                </a:solidFill>
                <a:latin typeface="Segoe UI"/>
              </a:rPr>
              <a:t>SurgeGrid AI  ·  surgegrid.web.app</a:t>
            </a:r>
          </a:p>
        </p:txBody>
      </p:sp>
      <p:sp>
        <p:nvSpPr>
          <p:cNvPr id="6" name="TextBox 5"/>
          <p:cNvSpPr txBox="1"/>
          <p:nvPr/>
        </p:nvSpPr>
        <p:spPr>
          <a:xfrm>
            <a:off x="10607040" y="6419088"/>
            <a:ext cx="914400" cy="228600"/>
          </a:xfrm>
          <a:prstGeom prst="rect">
            <a:avLst/>
          </a:prstGeom>
          <a:noFill/>
        </p:spPr>
        <p:txBody>
          <a:bodyPr wrap="square" lIns="0" rIns="0" tIns="0" bIns="0" anchor="t">
            <a:spAutoFit/>
          </a:bodyPr>
          <a:lstStyle/>
          <a:p>
            <a:pPr algn="r">
              <a:lnSpc>
                <a:spcPct val="110000"/>
              </a:lnSpc>
            </a:pPr>
            <a:r>
              <a:rPr sz="1000" b="0" i="0">
                <a:solidFill>
                  <a:srgbClr val="94A3B8"/>
                </a:solidFill>
                <a:latin typeface="Segoe UI"/>
              </a:rPr>
              <a:t>3 / 12</a:t>
            </a:r>
          </a:p>
        </p:txBody>
      </p:sp>
      <p:sp>
        <p:nvSpPr>
          <p:cNvPr id="7" name="Rounded Rectangle 6"/>
          <p:cNvSpPr/>
          <p:nvPr/>
        </p:nvSpPr>
        <p:spPr>
          <a:xfrm>
            <a:off x="685800" y="1920240"/>
            <a:ext cx="10835640" cy="1371600"/>
          </a:xfrm>
          <a:prstGeom prst="roundRect">
            <a:avLst>
              <a:gd name="adj" fmla="val 6000"/>
            </a:avLst>
          </a:prstGeom>
          <a:solidFill>
            <a:srgbClr val="0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20240"/>
            <a:ext cx="10241280" cy="1371600"/>
          </a:xfrm>
          <a:prstGeom prst="rect">
            <a:avLst/>
          </a:prstGeom>
          <a:noFill/>
        </p:spPr>
        <p:txBody>
          <a:bodyPr wrap="square" lIns="0" rIns="0" tIns="0" bIns="0" anchor="ctr">
            <a:spAutoFit/>
          </a:bodyPr>
          <a:lstStyle/>
          <a:p>
            <a:pPr algn="l">
              <a:lnSpc>
                <a:spcPct val="110000"/>
              </a:lnSpc>
            </a:pPr>
            <a:r>
              <a:rPr sz="2400" b="0" i="0">
                <a:solidFill>
                  <a:srgbClr val="F1F5F9"/>
                </a:solidFill>
                <a:latin typeface="Segoe UI Semibold"/>
              </a:rPr>
              <a:t>Official plans: supply may be switched off </a:t>
            </a:r>
            <a:r>
              <a:rPr sz="2400" b="0" i="0">
                <a:solidFill>
                  <a:srgbClr val="2DD4BF"/>
                </a:solidFill>
                <a:latin typeface="Segoe UI Semibold"/>
              </a:rPr>
              <a:t>"if required"</a:t>
            </a:r>
            <a:r>
              <a:rPr sz="2400" b="0" i="0">
                <a:solidFill>
                  <a:srgbClr val="F1F5F9"/>
                </a:solidFill>
                <a:latin typeface="Segoe UI Semibold"/>
              </a:rPr>
              <a:t>. No wind speed or flood depth is given.</a:t>
            </a:r>
          </a:p>
        </p:txBody>
      </p:sp>
      <p:sp>
        <p:nvSpPr>
          <p:cNvPr id="9" name="Rounded Rectangle 8"/>
          <p:cNvSpPr/>
          <p:nvPr/>
        </p:nvSpPr>
        <p:spPr>
          <a:xfrm>
            <a:off x="685800" y="3566160"/>
            <a:ext cx="5257800" cy="251460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3767328"/>
            <a:ext cx="54864" cy="457200"/>
          </a:xfrm>
          <a:prstGeom prst="rect">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76732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Many tools</a:t>
            </a:r>
          </a:p>
        </p:txBody>
      </p:sp>
      <p:sp>
        <p:nvSpPr>
          <p:cNvPr id="12" name="TextBox 11"/>
          <p:cNvSpPr txBox="1"/>
          <p:nvPr/>
        </p:nvSpPr>
        <p:spPr>
          <a:xfrm>
            <a:off x="960120" y="4389120"/>
            <a:ext cx="4754880" cy="155448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Invent thresholds and present them as rules.
A control room cannot tell which numbers are official.</a:t>
            </a:r>
          </a:p>
        </p:txBody>
      </p:sp>
      <p:sp>
        <p:nvSpPr>
          <p:cNvPr id="13" name="Rounded Rectangle 12"/>
          <p:cNvSpPr/>
          <p:nvPr/>
        </p:nvSpPr>
        <p:spPr>
          <a:xfrm>
            <a:off x="6263640" y="3566160"/>
            <a:ext cx="5257800" cy="251460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3767328"/>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76732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SurgeGrid</a:t>
            </a:r>
          </a:p>
        </p:txBody>
      </p:sp>
      <p:sp>
        <p:nvSpPr>
          <p:cNvPr id="16" name="TextBox 15"/>
          <p:cNvSpPr txBox="1"/>
          <p:nvPr/>
        </p:nvSpPr>
        <p:spPr>
          <a:xfrm>
            <a:off x="6537959" y="4389120"/>
            <a:ext cx="4754880" cy="155448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We checked four plans and removed every rule they do not contain.
The screen shows an operator decision, backed by the exact quote.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WHAT SURGEGRID DOES</a:t>
            </a:r>
          </a:p>
        </p:txBody>
      </p:sp>
      <p:sp>
        <p:nvSpPr>
          <p:cNvPr id="4" name="TextBox 3"/>
          <p:cNvSpPr txBox="1"/>
          <p:nvPr/>
        </p:nvSpPr>
        <p:spPr>
          <a:xfrm>
            <a:off x="685800" y="777240"/>
            <a:ext cx="10789920" cy="914400"/>
          </a:xfrm>
          <a:prstGeom prst="rect">
            <a:avLst/>
          </a:prstGeom>
          <a:noFill/>
        </p:spPr>
        <p:txBody>
          <a:bodyPr wrap="square" lIns="0" rIns="0" tIns="0" bIns="0" anchor="t">
            <a:spAutoFit/>
          </a:bodyPr>
          <a:lstStyle/>
          <a:p>
            <a:pPr algn="l">
              <a:lnSpc>
                <a:spcPct val="100000"/>
              </a:lnSpc>
            </a:pPr>
            <a:r>
              <a:rPr sz="3200" b="0" i="0">
                <a:solidFill>
                  <a:srgbClr val="F1F5F9"/>
                </a:solidFill>
                <a:latin typeface="Segoe UI Semibold"/>
              </a:rPr>
              <a:t>Four things, in the order a control room needs them.</a:t>
            </a:r>
          </a:p>
        </p:txBody>
      </p:sp>
      <p:sp>
        <p:nvSpPr>
          <p:cNvPr id="5" name="TextBox 4"/>
          <p:cNvSpPr txBox="1"/>
          <p:nvPr/>
        </p:nvSpPr>
        <p:spPr>
          <a:xfrm>
            <a:off x="685800" y="6419088"/>
            <a:ext cx="5486400" cy="228600"/>
          </a:xfrm>
          <a:prstGeom prst="rect">
            <a:avLst/>
          </a:prstGeom>
          <a:noFill/>
        </p:spPr>
        <p:txBody>
          <a:bodyPr wrap="square" lIns="0" rIns="0" tIns="0" bIns="0" anchor="t">
            <a:spAutoFit/>
          </a:bodyPr>
          <a:lstStyle/>
          <a:p>
            <a:pPr algn="l">
              <a:lnSpc>
                <a:spcPct val="110000"/>
              </a:lnSpc>
            </a:pPr>
            <a:r>
              <a:rPr sz="1000" b="0" i="0">
                <a:solidFill>
                  <a:srgbClr val="94A3B8"/>
                </a:solidFill>
                <a:latin typeface="Segoe UI"/>
              </a:rPr>
              <a:t>SurgeGrid AI  ·  surgegrid.web.app</a:t>
            </a:r>
          </a:p>
        </p:txBody>
      </p:sp>
      <p:sp>
        <p:nvSpPr>
          <p:cNvPr id="6" name="TextBox 5"/>
          <p:cNvSpPr txBox="1"/>
          <p:nvPr/>
        </p:nvSpPr>
        <p:spPr>
          <a:xfrm>
            <a:off x="10607040" y="6419088"/>
            <a:ext cx="914400" cy="228600"/>
          </a:xfrm>
          <a:prstGeom prst="rect">
            <a:avLst/>
          </a:prstGeom>
          <a:noFill/>
        </p:spPr>
        <p:txBody>
          <a:bodyPr wrap="square" lIns="0" rIns="0" tIns="0" bIns="0" anchor="t">
            <a:spAutoFit/>
          </a:bodyPr>
          <a:lstStyle/>
          <a:p>
            <a:pPr algn="r">
              <a:lnSpc>
                <a:spcPct val="110000"/>
              </a:lnSpc>
            </a:pPr>
            <a:r>
              <a:rPr sz="1000" b="0" i="0">
                <a:solidFill>
                  <a:srgbClr val="94A3B8"/>
                </a:solidFill>
                <a:latin typeface="Segoe UI"/>
              </a:rPr>
              <a:t>4 / 12</a:t>
            </a:r>
          </a:p>
        </p:txBody>
      </p:sp>
      <p:sp>
        <p:nvSpPr>
          <p:cNvPr id="7" name="Rounded Rectangle 6"/>
          <p:cNvSpPr/>
          <p:nvPr/>
        </p:nvSpPr>
        <p:spPr>
          <a:xfrm>
            <a:off x="685800" y="1874519"/>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2075688"/>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07568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1  Replay</a:t>
            </a:r>
          </a:p>
        </p:txBody>
      </p:sp>
      <p:sp>
        <p:nvSpPr>
          <p:cNvPr id="10" name="TextBox 9"/>
          <p:cNvSpPr txBox="1"/>
          <p:nvPr/>
        </p:nvSpPr>
        <p:spPr>
          <a:xfrm>
            <a:off x="960120" y="2697479"/>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Cyclone Michaung in five steps: two before the peak, the peak, two after. Rain by area on the map.</a:t>
            </a:r>
          </a:p>
        </p:txBody>
      </p:sp>
      <p:sp>
        <p:nvSpPr>
          <p:cNvPr id="11" name="Rounded Rectangle 10"/>
          <p:cNvSpPr/>
          <p:nvPr/>
        </p:nvSpPr>
        <p:spPr>
          <a:xfrm>
            <a:off x="6263640" y="1874519"/>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2075688"/>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207568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2  Exposure</a:t>
            </a:r>
          </a:p>
        </p:txBody>
      </p:sp>
      <p:sp>
        <p:nvSpPr>
          <p:cNvPr id="14" name="TextBox 13"/>
          <p:cNvSpPr txBox="1"/>
          <p:nvPr/>
        </p:nvSpPr>
        <p:spPr>
          <a:xfrm>
            <a:off x="6537959" y="2697479"/>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286 substations: yard elevation, official flood maps, and an exposed-now list at each step.</a:t>
            </a:r>
          </a:p>
        </p:txBody>
      </p:sp>
      <p:sp>
        <p:nvSpPr>
          <p:cNvPr id="15" name="Rounded Rectangle 14"/>
          <p:cNvSpPr/>
          <p:nvPr/>
        </p:nvSpPr>
        <p:spPr>
          <a:xfrm>
            <a:off x="685800" y="4069080"/>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270248"/>
            <a:ext cx="54864"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27024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3  AI Directive</a:t>
            </a:r>
          </a:p>
        </p:txBody>
      </p:sp>
      <p:sp>
        <p:nvSpPr>
          <p:cNvPr id="18" name="TextBox 17"/>
          <p:cNvSpPr txBox="1"/>
          <p:nvPr/>
        </p:nvSpPr>
        <p:spPr>
          <a:xfrm>
            <a:off x="960120" y="4892040"/>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The official actions for this hour, each a quote with plan and page, and the substations they apply to.</a:t>
            </a:r>
          </a:p>
        </p:txBody>
      </p:sp>
      <p:sp>
        <p:nvSpPr>
          <p:cNvPr id="19" name="Rounded Rectangle 18"/>
          <p:cNvSpPr/>
          <p:nvPr/>
        </p:nvSpPr>
        <p:spPr>
          <a:xfrm>
            <a:off x="6263640" y="4069080"/>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4270248"/>
            <a:ext cx="54864" cy="457200"/>
          </a:xfrm>
          <a:prstGeom prst="rect">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427024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4  Substation card</a:t>
            </a:r>
          </a:p>
        </p:txBody>
      </p:sp>
      <p:sp>
        <p:nvSpPr>
          <p:cNvPr id="22" name="TextBox 21"/>
          <p:cNvSpPr txBox="1"/>
          <p:nvPr/>
        </p:nvSpPr>
        <p:spPr>
          <a:xfrm>
            <a:off x="6537959" y="4892040"/>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Flood facts, a copilot with quoted actions, GCC relief centres for the ward, and a backup suggestion.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HOW IT WORKS</a:t>
            </a:r>
          </a:p>
        </p:txBody>
      </p:sp>
      <p:sp>
        <p:nvSpPr>
          <p:cNvPr id="4" name="TextBox 3"/>
          <p:cNvSpPr txBox="1"/>
          <p:nvPr/>
        </p:nvSpPr>
        <p:spPr>
          <a:xfrm>
            <a:off x="685800" y="777240"/>
            <a:ext cx="10789920" cy="914400"/>
          </a:xfrm>
          <a:prstGeom prst="rect">
            <a:avLst/>
          </a:prstGeom>
          <a:noFill/>
        </p:spPr>
        <p:txBody>
          <a:bodyPr wrap="square" lIns="0" rIns="0" tIns="0" bIns="0" anchor="t">
            <a:spAutoFit/>
          </a:bodyPr>
          <a:lstStyle/>
          <a:p>
            <a:pPr algn="l">
              <a:lnSpc>
                <a:spcPct val="100000"/>
              </a:lnSpc>
            </a:pPr>
            <a:r>
              <a:rPr sz="3200" b="0" i="0">
                <a:solidFill>
                  <a:srgbClr val="F1F5F9"/>
                </a:solidFill>
                <a:latin typeface="Segoe UI Semibold"/>
              </a:rPr>
              <a:t>Real data in. Rules choose. Quotes speak. Gemini adds one note.</a:t>
            </a:r>
          </a:p>
        </p:txBody>
      </p:sp>
      <p:sp>
        <p:nvSpPr>
          <p:cNvPr id="5" name="TextBox 4"/>
          <p:cNvSpPr txBox="1"/>
          <p:nvPr/>
        </p:nvSpPr>
        <p:spPr>
          <a:xfrm>
            <a:off x="685800" y="6419088"/>
            <a:ext cx="5486400" cy="228600"/>
          </a:xfrm>
          <a:prstGeom prst="rect">
            <a:avLst/>
          </a:prstGeom>
          <a:noFill/>
        </p:spPr>
        <p:txBody>
          <a:bodyPr wrap="square" lIns="0" rIns="0" tIns="0" bIns="0" anchor="t">
            <a:spAutoFit/>
          </a:bodyPr>
          <a:lstStyle/>
          <a:p>
            <a:pPr algn="l">
              <a:lnSpc>
                <a:spcPct val="110000"/>
              </a:lnSpc>
            </a:pPr>
            <a:r>
              <a:rPr sz="1000" b="0" i="0">
                <a:solidFill>
                  <a:srgbClr val="94A3B8"/>
                </a:solidFill>
                <a:latin typeface="Segoe UI"/>
              </a:rPr>
              <a:t>SurgeGrid AI  ·  surgegrid.web.app</a:t>
            </a:r>
          </a:p>
        </p:txBody>
      </p:sp>
      <p:sp>
        <p:nvSpPr>
          <p:cNvPr id="6" name="TextBox 5"/>
          <p:cNvSpPr txBox="1"/>
          <p:nvPr/>
        </p:nvSpPr>
        <p:spPr>
          <a:xfrm>
            <a:off x="10607040" y="6419088"/>
            <a:ext cx="914400" cy="228600"/>
          </a:xfrm>
          <a:prstGeom prst="rect">
            <a:avLst/>
          </a:prstGeom>
          <a:noFill/>
        </p:spPr>
        <p:txBody>
          <a:bodyPr wrap="square" lIns="0" rIns="0" tIns="0" bIns="0" anchor="t">
            <a:spAutoFit/>
          </a:bodyPr>
          <a:lstStyle/>
          <a:p>
            <a:pPr algn="r">
              <a:lnSpc>
                <a:spcPct val="110000"/>
              </a:lnSpc>
            </a:pPr>
            <a:r>
              <a:rPr sz="1000" b="0" i="0">
                <a:solidFill>
                  <a:srgbClr val="94A3B8"/>
                </a:solidFill>
                <a:latin typeface="Segoe UI"/>
              </a:rPr>
              <a:t>5 / 12</a:t>
            </a:r>
          </a:p>
        </p:txBody>
      </p:sp>
      <p:sp>
        <p:nvSpPr>
          <p:cNvPr id="7" name="Rounded Rectangle 6"/>
          <p:cNvSpPr/>
          <p:nvPr/>
        </p:nvSpPr>
        <p:spPr>
          <a:xfrm>
            <a:off x="685800" y="2011680"/>
            <a:ext cx="2011680" cy="310896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2011680"/>
            <a:ext cx="2011680" cy="82296"/>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86000"/>
            <a:ext cx="1645920" cy="365760"/>
          </a:xfrm>
          <a:prstGeom prst="rect">
            <a:avLst/>
          </a:prstGeom>
          <a:noFill/>
        </p:spPr>
        <p:txBody>
          <a:bodyPr wrap="square" lIns="0" rIns="0" tIns="0" bIns="0" anchor="t">
            <a:spAutoFit/>
          </a:bodyPr>
          <a:lstStyle/>
          <a:p>
            <a:pPr algn="l">
              <a:lnSpc>
                <a:spcPct val="110000"/>
              </a:lnSpc>
            </a:pPr>
            <a:r>
              <a:rPr sz="1800" b="0" i="0">
                <a:solidFill>
                  <a:srgbClr val="F1F5F9"/>
                </a:solidFill>
                <a:latin typeface="Segoe UI Semibold"/>
              </a:rPr>
              <a:t>Real data</a:t>
            </a:r>
          </a:p>
        </p:txBody>
      </p:sp>
      <p:sp>
        <p:nvSpPr>
          <p:cNvPr id="10" name="TextBox 9"/>
          <p:cNvSpPr txBox="1"/>
          <p:nvPr/>
        </p:nvSpPr>
        <p:spPr>
          <a:xfrm>
            <a:off x="868680" y="2788920"/>
            <a:ext cx="1645920" cy="2286000"/>
          </a:xfrm>
          <a:prstGeom prst="rect">
            <a:avLst/>
          </a:prstGeom>
          <a:noFill/>
        </p:spPr>
        <p:txBody>
          <a:bodyPr wrap="square" lIns="0" rIns="0" tIns="0" bIns="0" anchor="t">
            <a:spAutoFit/>
          </a:bodyPr>
          <a:lstStyle/>
          <a:p>
            <a:pPr algn="l">
              <a:lnSpc>
                <a:spcPct val="120000"/>
              </a:lnSpc>
            </a:pPr>
            <a:r>
              <a:rPr sz="1300" b="0" i="0">
                <a:solidFill>
                  <a:srgbClr val="94A3B8"/>
                </a:solidFill>
                <a:latin typeface="Segoe UI"/>
              </a:rPr>
              <a:t>NASA IMERG rain
ERA5-Land wind
SRTM terrain
OpenCity flood maps
TNEB grid
Live TANGEDCO notices</a:t>
            </a:r>
          </a:p>
        </p:txBody>
      </p:sp>
      <p:sp>
        <p:nvSpPr>
          <p:cNvPr id="11" name="TextBox 10"/>
          <p:cNvSpPr txBox="1"/>
          <p:nvPr/>
        </p:nvSpPr>
        <p:spPr>
          <a:xfrm>
            <a:off x="2697480" y="3291840"/>
            <a:ext cx="256032" cy="457200"/>
          </a:xfrm>
          <a:prstGeom prst="rect">
            <a:avLst/>
          </a:prstGeom>
          <a:noFill/>
        </p:spPr>
        <p:txBody>
          <a:bodyPr wrap="square" lIns="0" rIns="0" tIns="0" bIns="0" anchor="t">
            <a:spAutoFit/>
          </a:bodyPr>
          <a:lstStyle/>
          <a:p>
            <a:pPr algn="ctr">
              <a:lnSpc>
                <a:spcPct val="110000"/>
              </a:lnSpc>
            </a:pPr>
            <a:r>
              <a:rPr sz="2800" b="0" i="0">
                <a:solidFill>
                  <a:srgbClr val="94A3B8"/>
                </a:solidFill>
                <a:latin typeface="Segoe UI Semibold"/>
              </a:rPr>
              <a:t>›</a:t>
            </a:r>
          </a:p>
        </p:txBody>
      </p:sp>
      <p:sp>
        <p:nvSpPr>
          <p:cNvPr id="12" name="Rounded Rectangle 11"/>
          <p:cNvSpPr/>
          <p:nvPr/>
        </p:nvSpPr>
        <p:spPr>
          <a:xfrm>
            <a:off x="2880360" y="2011680"/>
            <a:ext cx="2011680" cy="310896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2011680" cy="82296"/>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286000"/>
            <a:ext cx="1645920" cy="365760"/>
          </a:xfrm>
          <a:prstGeom prst="rect">
            <a:avLst/>
          </a:prstGeom>
          <a:noFill/>
        </p:spPr>
        <p:txBody>
          <a:bodyPr wrap="square" lIns="0" rIns="0" tIns="0" bIns="0" anchor="t">
            <a:spAutoFit/>
          </a:bodyPr>
          <a:lstStyle/>
          <a:p>
            <a:pPr algn="l">
              <a:lnSpc>
                <a:spcPct val="110000"/>
              </a:lnSpc>
            </a:pPr>
            <a:r>
              <a:rPr sz="1800" b="0" i="0">
                <a:solidFill>
                  <a:srgbClr val="F1F5F9"/>
                </a:solidFill>
                <a:latin typeface="Segoe UI Semibold"/>
              </a:rPr>
              <a:t>Rules</a:t>
            </a:r>
          </a:p>
        </p:txBody>
      </p:sp>
      <p:sp>
        <p:nvSpPr>
          <p:cNvPr id="15" name="TextBox 14"/>
          <p:cNvSpPr txBox="1"/>
          <p:nvPr/>
        </p:nvSpPr>
        <p:spPr>
          <a:xfrm>
            <a:off x="3063240" y="2788920"/>
            <a:ext cx="1645920" cy="2286000"/>
          </a:xfrm>
          <a:prstGeom prst="rect">
            <a:avLst/>
          </a:prstGeom>
          <a:noFill/>
        </p:spPr>
        <p:txBody>
          <a:bodyPr wrap="square" lIns="0" rIns="0" tIns="0" bIns="0" anchor="t">
            <a:spAutoFit/>
          </a:bodyPr>
          <a:lstStyle/>
          <a:p>
            <a:pPr algn="l">
              <a:lnSpc>
                <a:spcPct val="120000"/>
              </a:lnSpc>
            </a:pPr>
            <a:r>
              <a:rPr sz="1300" b="0" i="0">
                <a:solidFill>
                  <a:srgbClr val="94A3B8"/>
                </a:solidFill>
                <a:latin typeface="Segoe UI"/>
              </a:rPr>
              <a:t>Phase from the data:
watch, impact,
restoration.
Pick the substations.</a:t>
            </a:r>
          </a:p>
        </p:txBody>
      </p:sp>
      <p:sp>
        <p:nvSpPr>
          <p:cNvPr id="16" name="TextBox 15"/>
          <p:cNvSpPr txBox="1"/>
          <p:nvPr/>
        </p:nvSpPr>
        <p:spPr>
          <a:xfrm>
            <a:off x="4892040" y="3291840"/>
            <a:ext cx="256032" cy="457200"/>
          </a:xfrm>
          <a:prstGeom prst="rect">
            <a:avLst/>
          </a:prstGeom>
          <a:noFill/>
        </p:spPr>
        <p:txBody>
          <a:bodyPr wrap="square" lIns="0" rIns="0" tIns="0" bIns="0" anchor="t">
            <a:spAutoFit/>
          </a:bodyPr>
          <a:lstStyle/>
          <a:p>
            <a:pPr algn="ctr">
              <a:lnSpc>
                <a:spcPct val="110000"/>
              </a:lnSpc>
            </a:pPr>
            <a:r>
              <a:rPr sz="2800" b="0" i="0">
                <a:solidFill>
                  <a:srgbClr val="94A3B8"/>
                </a:solidFill>
                <a:latin typeface="Segoe UI Semibold"/>
              </a:rPr>
              <a:t>›</a:t>
            </a:r>
          </a:p>
        </p:txBody>
      </p:sp>
      <p:sp>
        <p:nvSpPr>
          <p:cNvPr id="17" name="Rounded Rectangle 16"/>
          <p:cNvSpPr/>
          <p:nvPr/>
        </p:nvSpPr>
        <p:spPr>
          <a:xfrm>
            <a:off x="5074920" y="2011680"/>
            <a:ext cx="2011680" cy="310896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74920" y="2011680"/>
            <a:ext cx="20116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2286000"/>
            <a:ext cx="1645920" cy="365760"/>
          </a:xfrm>
          <a:prstGeom prst="rect">
            <a:avLst/>
          </a:prstGeom>
          <a:noFill/>
        </p:spPr>
        <p:txBody>
          <a:bodyPr wrap="square" lIns="0" rIns="0" tIns="0" bIns="0" anchor="t">
            <a:spAutoFit/>
          </a:bodyPr>
          <a:lstStyle/>
          <a:p>
            <a:pPr algn="l">
              <a:lnSpc>
                <a:spcPct val="110000"/>
              </a:lnSpc>
            </a:pPr>
            <a:r>
              <a:rPr sz="1800" b="0" i="0">
                <a:solidFill>
                  <a:srgbClr val="F1F5F9"/>
                </a:solidFill>
                <a:latin typeface="Segoe UI Semibold"/>
              </a:rPr>
              <a:t>37 quotes</a:t>
            </a:r>
          </a:p>
        </p:txBody>
      </p:sp>
      <p:sp>
        <p:nvSpPr>
          <p:cNvPr id="20" name="TextBox 19"/>
          <p:cNvSpPr txBox="1"/>
          <p:nvPr/>
        </p:nvSpPr>
        <p:spPr>
          <a:xfrm>
            <a:off x="5257800" y="2788920"/>
            <a:ext cx="1645920" cy="2286000"/>
          </a:xfrm>
          <a:prstGeom prst="rect">
            <a:avLst/>
          </a:prstGeom>
          <a:noFill/>
        </p:spPr>
        <p:txBody>
          <a:bodyPr wrap="square" lIns="0" rIns="0" tIns="0" bIns="0" anchor="t">
            <a:spAutoFit/>
          </a:bodyPr>
          <a:lstStyle/>
          <a:p>
            <a:pPr algn="l">
              <a:lnSpc>
                <a:spcPct val="120000"/>
              </a:lnSpc>
            </a:pPr>
            <a:r>
              <a:rPr sz="1300" b="0" i="0">
                <a:solidFill>
                  <a:srgbClr val="94A3B8"/>
                </a:solidFill>
                <a:latin typeface="Segoe UI"/>
              </a:rPr>
              <a:t>Word for word,
with plan and page,
from four official
plans.</a:t>
            </a:r>
          </a:p>
        </p:txBody>
      </p:sp>
      <p:sp>
        <p:nvSpPr>
          <p:cNvPr id="21" name="TextBox 20"/>
          <p:cNvSpPr txBox="1"/>
          <p:nvPr/>
        </p:nvSpPr>
        <p:spPr>
          <a:xfrm>
            <a:off x="7086600" y="3291840"/>
            <a:ext cx="256032" cy="457200"/>
          </a:xfrm>
          <a:prstGeom prst="rect">
            <a:avLst/>
          </a:prstGeom>
          <a:noFill/>
        </p:spPr>
        <p:txBody>
          <a:bodyPr wrap="square" lIns="0" rIns="0" tIns="0" bIns="0" anchor="t">
            <a:spAutoFit/>
          </a:bodyPr>
          <a:lstStyle/>
          <a:p>
            <a:pPr algn="ctr">
              <a:lnSpc>
                <a:spcPct val="110000"/>
              </a:lnSpc>
            </a:pPr>
            <a:r>
              <a:rPr sz="2800" b="0" i="0">
                <a:solidFill>
                  <a:srgbClr val="94A3B8"/>
                </a:solidFill>
                <a:latin typeface="Segoe UI Semibold"/>
              </a:rPr>
              <a:t>›</a:t>
            </a:r>
          </a:p>
        </p:txBody>
      </p:sp>
      <p:sp>
        <p:nvSpPr>
          <p:cNvPr id="22" name="Rounded Rectangle 21"/>
          <p:cNvSpPr/>
          <p:nvPr/>
        </p:nvSpPr>
        <p:spPr>
          <a:xfrm>
            <a:off x="7269480" y="2011680"/>
            <a:ext cx="2011680" cy="310896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69480" y="2011680"/>
            <a:ext cx="2011680" cy="82296"/>
          </a:xfrm>
          <a:prstGeom prst="rect">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2286000"/>
            <a:ext cx="1645920" cy="365760"/>
          </a:xfrm>
          <a:prstGeom prst="rect">
            <a:avLst/>
          </a:prstGeom>
          <a:noFill/>
        </p:spPr>
        <p:txBody>
          <a:bodyPr wrap="square" lIns="0" rIns="0" tIns="0" bIns="0" anchor="t">
            <a:spAutoFit/>
          </a:bodyPr>
          <a:lstStyle/>
          <a:p>
            <a:pPr algn="l">
              <a:lnSpc>
                <a:spcPct val="110000"/>
              </a:lnSpc>
            </a:pPr>
            <a:r>
              <a:rPr sz="1800" b="0" i="0">
                <a:solidFill>
                  <a:srgbClr val="F1F5F9"/>
                </a:solidFill>
                <a:latin typeface="Segoe UI Semibold"/>
              </a:rPr>
              <a:t>Gemini 2.5</a:t>
            </a:r>
          </a:p>
        </p:txBody>
      </p:sp>
      <p:sp>
        <p:nvSpPr>
          <p:cNvPr id="25" name="TextBox 24"/>
          <p:cNvSpPr txBox="1"/>
          <p:nvPr/>
        </p:nvSpPr>
        <p:spPr>
          <a:xfrm>
            <a:off x="7452360" y="2788920"/>
            <a:ext cx="1645920" cy="2286000"/>
          </a:xfrm>
          <a:prstGeom prst="rect">
            <a:avLst/>
          </a:prstGeom>
          <a:noFill/>
        </p:spPr>
        <p:txBody>
          <a:bodyPr wrap="square" lIns="0" rIns="0" tIns="0" bIns="0" anchor="t">
            <a:spAutoFit/>
          </a:bodyPr>
          <a:lstStyle/>
          <a:p>
            <a:pPr algn="l">
              <a:lnSpc>
                <a:spcPct val="120000"/>
              </a:lnSpc>
            </a:pPr>
            <a:r>
              <a:rPr sz="1300" b="0" i="0">
                <a:solidFill>
                  <a:srgbClr val="94A3B8"/>
                </a:solidFill>
                <a:latin typeface="Segoe UI"/>
              </a:rPr>
              <a:t>Words one short
note. Cannot write
or change a quote.</a:t>
            </a:r>
          </a:p>
        </p:txBody>
      </p:sp>
      <p:sp>
        <p:nvSpPr>
          <p:cNvPr id="26" name="TextBox 25"/>
          <p:cNvSpPr txBox="1"/>
          <p:nvPr/>
        </p:nvSpPr>
        <p:spPr>
          <a:xfrm>
            <a:off x="9281160" y="3291840"/>
            <a:ext cx="256032" cy="457200"/>
          </a:xfrm>
          <a:prstGeom prst="rect">
            <a:avLst/>
          </a:prstGeom>
          <a:noFill/>
        </p:spPr>
        <p:txBody>
          <a:bodyPr wrap="square" lIns="0" rIns="0" tIns="0" bIns="0" anchor="t">
            <a:spAutoFit/>
          </a:bodyPr>
          <a:lstStyle/>
          <a:p>
            <a:pPr algn="ctr">
              <a:lnSpc>
                <a:spcPct val="110000"/>
              </a:lnSpc>
            </a:pPr>
            <a:r>
              <a:rPr sz="2800" b="0" i="0">
                <a:solidFill>
                  <a:srgbClr val="94A3B8"/>
                </a:solidFill>
                <a:latin typeface="Segoe UI Semibold"/>
              </a:rPr>
              <a:t>›</a:t>
            </a:r>
          </a:p>
        </p:txBody>
      </p:sp>
      <p:sp>
        <p:nvSpPr>
          <p:cNvPr id="27" name="Rounded Rectangle 26"/>
          <p:cNvSpPr/>
          <p:nvPr/>
        </p:nvSpPr>
        <p:spPr>
          <a:xfrm>
            <a:off x="9464040" y="2011680"/>
            <a:ext cx="2011680" cy="310896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464040" y="2011680"/>
            <a:ext cx="2011680" cy="82296"/>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46920" y="2286000"/>
            <a:ext cx="1645920" cy="365760"/>
          </a:xfrm>
          <a:prstGeom prst="rect">
            <a:avLst/>
          </a:prstGeom>
          <a:noFill/>
        </p:spPr>
        <p:txBody>
          <a:bodyPr wrap="square" lIns="0" rIns="0" tIns="0" bIns="0" anchor="t">
            <a:spAutoFit/>
          </a:bodyPr>
          <a:lstStyle/>
          <a:p>
            <a:pPr algn="l">
              <a:lnSpc>
                <a:spcPct val="110000"/>
              </a:lnSpc>
            </a:pPr>
            <a:r>
              <a:rPr sz="1800" b="0" i="0">
                <a:solidFill>
                  <a:srgbClr val="F1F5F9"/>
                </a:solidFill>
                <a:latin typeface="Segoe UI Semibold"/>
              </a:rPr>
              <a:t>Screen</a:t>
            </a:r>
          </a:p>
        </p:txBody>
      </p:sp>
      <p:sp>
        <p:nvSpPr>
          <p:cNvPr id="30" name="TextBox 29"/>
          <p:cNvSpPr txBox="1"/>
          <p:nvPr/>
        </p:nvSpPr>
        <p:spPr>
          <a:xfrm>
            <a:off x="9646920" y="2788920"/>
            <a:ext cx="1645920" cy="2286000"/>
          </a:xfrm>
          <a:prstGeom prst="rect">
            <a:avLst/>
          </a:prstGeom>
          <a:noFill/>
        </p:spPr>
        <p:txBody>
          <a:bodyPr wrap="square" lIns="0" rIns="0" tIns="0" bIns="0" anchor="t">
            <a:spAutoFit/>
          </a:bodyPr>
          <a:lstStyle/>
          <a:p>
            <a:pPr algn="l">
              <a:lnSpc>
                <a:spcPct val="120000"/>
              </a:lnSpc>
            </a:pPr>
            <a:r>
              <a:rPr sz="1300" b="0" i="0">
                <a:solidFill>
                  <a:srgbClr val="94A3B8"/>
                </a:solidFill>
                <a:latin typeface="Segoe UI"/>
              </a:rPr>
              <a:t>AI Directive and
substation card.</a:t>
            </a:r>
          </a:p>
        </p:txBody>
      </p:sp>
      <p:sp>
        <p:nvSpPr>
          <p:cNvPr id="31" name="Rounded Rectangle 30"/>
          <p:cNvSpPr/>
          <p:nvPr/>
        </p:nvSpPr>
        <p:spPr>
          <a:xfrm>
            <a:off x="685800" y="5440680"/>
            <a:ext cx="10835640" cy="640080"/>
          </a:xfrm>
          <a:prstGeom prst="roundRect">
            <a:avLst>
              <a:gd name="adj" fmla="val 6000"/>
            </a:avLst>
          </a:prstGeom>
          <a:no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5440680"/>
            <a:ext cx="10332720" cy="640080"/>
          </a:xfrm>
          <a:prstGeom prst="rect">
            <a:avLst/>
          </a:prstGeom>
          <a:noFill/>
        </p:spPr>
        <p:txBody>
          <a:bodyPr wrap="square" lIns="0" rIns="0" tIns="0" bIns="0" anchor="ctr">
            <a:spAutoFit/>
          </a:bodyPr>
          <a:lstStyle/>
          <a:p>
            <a:pPr algn="ctr">
              <a:lnSpc>
                <a:spcPct val="110000"/>
              </a:lnSpc>
            </a:pPr>
            <a:r>
              <a:rPr sz="1400" b="0" i="0">
                <a:solidFill>
                  <a:srgbClr val="94A3B8"/>
                </a:solidFill>
                <a:latin typeface="Segoe UI"/>
              </a:rPr>
              <a:t>Runs on Google Maps Platform  ·  Earth Engine (scenario data)  ·  Gemini via a Cloud Function  ·  Firebase Hosting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REAL DATA</a:t>
            </a:r>
          </a:p>
        </p:txBody>
      </p:sp>
      <p:sp>
        <p:nvSpPr>
          <p:cNvPr id="4" name="TextBox 3"/>
          <p:cNvSpPr txBox="1"/>
          <p:nvPr/>
        </p:nvSpPr>
        <p:spPr>
          <a:xfrm>
            <a:off x="685800" y="777240"/>
            <a:ext cx="10789920" cy="914400"/>
          </a:xfrm>
          <a:prstGeom prst="rect">
            <a:avLst/>
          </a:prstGeom>
          <a:noFill/>
        </p:spPr>
        <p:txBody>
          <a:bodyPr wrap="square" lIns="0" rIns="0" tIns="0" bIns="0" anchor="t">
            <a:spAutoFit/>
          </a:bodyPr>
          <a:lstStyle/>
          <a:p>
            <a:pPr algn="l">
              <a:lnSpc>
                <a:spcPct val="100000"/>
              </a:lnSpc>
            </a:pPr>
            <a:r>
              <a:rPr sz="3200" b="0" i="0">
                <a:solidFill>
                  <a:srgbClr val="F1F5F9"/>
                </a:solidFill>
                <a:latin typeface="Segoe UI Semibold"/>
              </a:rPr>
              <a:t>No synthetic storms. Everything replayed is real rain and wind.</a:t>
            </a:r>
          </a:p>
        </p:txBody>
      </p:sp>
      <p:sp>
        <p:nvSpPr>
          <p:cNvPr id="5" name="TextBox 4"/>
          <p:cNvSpPr txBox="1"/>
          <p:nvPr/>
        </p:nvSpPr>
        <p:spPr>
          <a:xfrm>
            <a:off x="685800" y="6419088"/>
            <a:ext cx="5486400" cy="228600"/>
          </a:xfrm>
          <a:prstGeom prst="rect">
            <a:avLst/>
          </a:prstGeom>
          <a:noFill/>
        </p:spPr>
        <p:txBody>
          <a:bodyPr wrap="square" lIns="0" rIns="0" tIns="0" bIns="0" anchor="t">
            <a:spAutoFit/>
          </a:bodyPr>
          <a:lstStyle/>
          <a:p>
            <a:pPr algn="l">
              <a:lnSpc>
                <a:spcPct val="110000"/>
              </a:lnSpc>
            </a:pPr>
            <a:r>
              <a:rPr sz="1000" b="0" i="0">
                <a:solidFill>
                  <a:srgbClr val="94A3B8"/>
                </a:solidFill>
                <a:latin typeface="Segoe UI"/>
              </a:rPr>
              <a:t>SurgeGrid AI  ·  surgegrid.web.app</a:t>
            </a:r>
          </a:p>
        </p:txBody>
      </p:sp>
      <p:sp>
        <p:nvSpPr>
          <p:cNvPr id="6" name="TextBox 5"/>
          <p:cNvSpPr txBox="1"/>
          <p:nvPr/>
        </p:nvSpPr>
        <p:spPr>
          <a:xfrm>
            <a:off x="10607040" y="6419088"/>
            <a:ext cx="914400" cy="228600"/>
          </a:xfrm>
          <a:prstGeom prst="rect">
            <a:avLst/>
          </a:prstGeom>
          <a:noFill/>
        </p:spPr>
        <p:txBody>
          <a:bodyPr wrap="square" lIns="0" rIns="0" tIns="0" bIns="0" anchor="t">
            <a:spAutoFit/>
          </a:bodyPr>
          <a:lstStyle/>
          <a:p>
            <a:pPr algn="r">
              <a:lnSpc>
                <a:spcPct val="110000"/>
              </a:lnSpc>
            </a:pPr>
            <a:r>
              <a:rPr sz="1000" b="0" i="0">
                <a:solidFill>
                  <a:srgbClr val="94A3B8"/>
                </a:solidFill>
                <a:latin typeface="Segoe UI"/>
              </a:rPr>
              <a:t>6 / 12</a:t>
            </a:r>
          </a:p>
        </p:txBody>
      </p:sp>
      <p:graphicFrame>
        <p:nvGraphicFramePr>
          <p:cNvPr id="7" name="Table 6"/>
          <p:cNvGraphicFramePr>
            <a:graphicFrameLocks noGrp="1"/>
          </p:cNvGraphicFramePr>
          <p:nvPr/>
        </p:nvGraphicFramePr>
        <p:xfrm>
          <a:off x="685800" y="1874519"/>
          <a:ext cx="6400800" cy="2194560"/>
        </p:xfrm>
        <a:graphic>
          <a:graphicData uri="http://schemas.openxmlformats.org/drawingml/2006/table">
            <a:tbl>
              <a:tblPr firstRow="1" bandRow="1">
                <a:tableStyleId>{5C22544A-7EE6-4342-B048-85BDC9FD1C3A}</a:tableStyleId>
              </a:tblPr>
              <a:tblGrid>
                <a:gridCol w="3474720"/>
                <a:gridCol w="1463040"/>
                <a:gridCol w="1463040"/>
              </a:tblGrid>
              <a:tr h="548640">
                <a:tc>
                  <a:txBody>
                    <a:bodyPr/>
                    <a:lstStyle/>
                    <a:p>
                      <a:pPr algn="l"/>
                      <a:r>
                        <a:rPr sz="1400">
                          <a:solidFill>
                            <a:srgbClr val="94A3B8"/>
                          </a:solidFill>
                          <a:latin typeface="Segoe UI Semibold"/>
                        </a:rPr>
                        <a:t>Michaung, Dec 2023</a:t>
                      </a:r>
                    </a:p>
                  </a:txBody>
                  <a:tcPr anchor="ctr" marL="182880">
                    <a:solidFill>
                      <a:srgbClr val="243352"/>
                    </a:solidFill>
                  </a:tcPr>
                </a:tc>
                <a:tc>
                  <a:txBody>
                    <a:bodyPr/>
                    <a:lstStyle/>
                    <a:p>
                      <a:pPr algn="r"/>
                      <a:r>
                        <a:rPr sz="1400">
                          <a:solidFill>
                            <a:srgbClr val="94A3B8"/>
                          </a:solidFill>
                          <a:latin typeface="Segoe UI Semibold"/>
                        </a:rPr>
                        <a:t>Satellite cells</a:t>
                      </a:r>
                    </a:p>
                  </a:txBody>
                  <a:tcPr anchor="ctr" marL="182880">
                    <a:solidFill>
                      <a:srgbClr val="243352"/>
                    </a:solidFill>
                  </a:tcPr>
                </a:tc>
                <a:tc>
                  <a:txBody>
                    <a:bodyPr/>
                    <a:lstStyle/>
                    <a:p>
                      <a:pPr algn="r"/>
                      <a:r>
                        <a:rPr sz="1400">
                          <a:solidFill>
                            <a:srgbClr val="94A3B8"/>
                          </a:solidFill>
                          <a:latin typeface="Segoe UI Semibold"/>
                        </a:rPr>
                        <a:t>IMD gauges</a:t>
                      </a:r>
                    </a:p>
                  </a:txBody>
                  <a:tcPr anchor="ctr" marL="182880">
                    <a:solidFill>
                      <a:srgbClr val="243352"/>
                    </a:solidFill>
                  </a:tcPr>
                </a:tc>
              </a:tr>
              <a:tr h="548640">
                <a:tc>
                  <a:txBody>
                    <a:bodyPr/>
                    <a:lstStyle/>
                    <a:p>
                      <a:pPr algn="l"/>
                      <a:r>
                        <a:rPr sz="1600">
                          <a:solidFill>
                            <a:srgbClr val="F1F5F9"/>
                          </a:solidFill>
                          <a:latin typeface="Segoe UI"/>
                        </a:rPr>
                        <a:t>Rain to 08:30 IST 3 Dec</a:t>
                      </a:r>
                    </a:p>
                  </a:txBody>
                  <a:tcPr anchor="ctr" marL="182880">
                    <a:solidFill>
                      <a:srgbClr val="131D33"/>
                    </a:solidFill>
                  </a:tcPr>
                </a:tc>
                <a:tc>
                  <a:txBody>
                    <a:bodyPr/>
                    <a:lstStyle/>
                    <a:p>
                      <a:pPr algn="r"/>
                      <a:r>
                        <a:rPr sz="1600">
                          <a:solidFill>
                            <a:srgbClr val="2DD4BF"/>
                          </a:solidFill>
                          <a:latin typeface="Segoe UI"/>
                        </a:rPr>
                        <a:t>13 to 37 mm</a:t>
                      </a:r>
                    </a:p>
                  </a:txBody>
                  <a:tcPr anchor="ctr" marL="182880">
                    <a:solidFill>
                      <a:srgbClr val="131D33"/>
                    </a:solidFill>
                  </a:tcPr>
                </a:tc>
                <a:tc>
                  <a:txBody>
                    <a:bodyPr/>
                    <a:lstStyle/>
                    <a:p>
                      <a:pPr algn="r"/>
                      <a:r>
                        <a:rPr sz="1600">
                          <a:solidFill>
                            <a:srgbClr val="2DD4BF"/>
                          </a:solidFill>
                          <a:latin typeface="Segoe UI"/>
                        </a:rPr>
                        <a:t>70 to 100 mm</a:t>
                      </a:r>
                    </a:p>
                  </a:txBody>
                  <a:tcPr anchor="ctr" marL="182880">
                    <a:solidFill>
                      <a:srgbClr val="131D33"/>
                    </a:solidFill>
                  </a:tcPr>
                </a:tc>
              </a:tr>
              <a:tr h="548640">
                <a:tc>
                  <a:txBody>
                    <a:bodyPr/>
                    <a:lstStyle/>
                    <a:p>
                      <a:pPr algn="l"/>
                      <a:r>
                        <a:rPr sz="1600">
                          <a:solidFill>
                            <a:srgbClr val="F1F5F9"/>
                          </a:solidFill>
                          <a:latin typeface="Segoe UI"/>
                        </a:rPr>
                        <a:t>Rain to 08:30 IST 4 Dec</a:t>
                      </a:r>
                    </a:p>
                  </a:txBody>
                  <a:tcPr anchor="ctr" marL="182880">
                    <a:solidFill>
                      <a:srgbClr val="131D33"/>
                    </a:solidFill>
                  </a:tcPr>
                </a:tc>
                <a:tc>
                  <a:txBody>
                    <a:bodyPr/>
                    <a:lstStyle/>
                    <a:p>
                      <a:pPr algn="r"/>
                      <a:r>
                        <a:rPr sz="1600">
                          <a:solidFill>
                            <a:srgbClr val="2DD4BF"/>
                          </a:solidFill>
                          <a:latin typeface="Segoe UI"/>
                        </a:rPr>
                        <a:t>106 to 184 mm</a:t>
                      </a:r>
                    </a:p>
                  </a:txBody>
                  <a:tcPr anchor="ctr" marL="182880">
                    <a:solidFill>
                      <a:srgbClr val="131D33"/>
                    </a:solidFill>
                  </a:tcPr>
                </a:tc>
                <a:tc>
                  <a:txBody>
                    <a:bodyPr/>
                    <a:lstStyle/>
                    <a:p>
                      <a:pPr algn="r"/>
                      <a:r>
                        <a:rPr sz="1600">
                          <a:solidFill>
                            <a:srgbClr val="2DD4BF"/>
                          </a:solidFill>
                          <a:latin typeface="Segoe UI"/>
                        </a:rPr>
                        <a:t>70 to 290 mm</a:t>
                      </a:r>
                    </a:p>
                  </a:txBody>
                  <a:tcPr anchor="ctr" marL="182880">
                    <a:solidFill>
                      <a:srgbClr val="131D33"/>
                    </a:solidFill>
                  </a:tcPr>
                </a:tc>
              </a:tr>
              <a:tr h="548640">
                <a:tc>
                  <a:txBody>
                    <a:bodyPr/>
                    <a:lstStyle/>
                    <a:p>
                      <a:pPr algn="l"/>
                      <a:r>
                        <a:rPr sz="1600">
                          <a:solidFill>
                            <a:srgbClr val="F1F5F9"/>
                          </a:solidFill>
                          <a:latin typeface="Segoe UI"/>
                        </a:rPr>
                        <a:t>Whole event, mean</a:t>
                      </a:r>
                    </a:p>
                  </a:txBody>
                  <a:tcPr anchor="ctr" marL="182880">
                    <a:solidFill>
                      <a:srgbClr val="131D33"/>
                    </a:solidFill>
                  </a:tcPr>
                </a:tc>
                <a:tc>
                  <a:txBody>
                    <a:bodyPr/>
                    <a:lstStyle/>
                    <a:p>
                      <a:pPr algn="r"/>
                      <a:r>
                        <a:rPr sz="1600">
                          <a:solidFill>
                            <a:srgbClr val="2DD4BF"/>
                          </a:solidFill>
                          <a:latin typeface="Segoe UI"/>
                        </a:rPr>
                        <a:t>273 mm</a:t>
                      </a:r>
                    </a:p>
                  </a:txBody>
                  <a:tcPr anchor="ctr" marL="182880">
                    <a:solidFill>
                      <a:srgbClr val="131D33"/>
                    </a:solidFill>
                  </a:tcPr>
                </a:tc>
                <a:tc>
                  <a:txBody>
                    <a:bodyPr/>
                    <a:lstStyle/>
                    <a:p>
                      <a:pPr algn="r"/>
                      <a:r>
                        <a:rPr sz="1600">
                          <a:solidFill>
                            <a:srgbClr val="2DD4BF"/>
                          </a:solidFill>
                          <a:latin typeface="Segoe UI"/>
                        </a:rPr>
                        <a:t>not reported</a:t>
                      </a:r>
                    </a:p>
                  </a:txBody>
                  <a:tcPr anchor="ctr" marL="182880">
                    <a:solidFill>
                      <a:srgbClr val="131D33"/>
                    </a:solidFill>
                  </a:tcPr>
                </a:tc>
              </a:tr>
            </a:tbl>
          </a:graphicData>
        </a:graphic>
      </p:graphicFrame>
      <p:sp>
        <p:nvSpPr>
          <p:cNvPr id="8" name="Rounded Rectangle 7"/>
          <p:cNvSpPr/>
          <p:nvPr/>
        </p:nvSpPr>
        <p:spPr>
          <a:xfrm>
            <a:off x="7360920" y="1874519"/>
            <a:ext cx="4160520" cy="219456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2103120"/>
            <a:ext cx="3611879" cy="822960"/>
          </a:xfrm>
          <a:prstGeom prst="rect">
            <a:avLst/>
          </a:prstGeom>
          <a:noFill/>
        </p:spPr>
        <p:txBody>
          <a:bodyPr wrap="square" lIns="0" rIns="0" tIns="0" bIns="0" anchor="t">
            <a:spAutoFit/>
          </a:bodyPr>
          <a:lstStyle/>
          <a:p>
            <a:pPr algn="l">
              <a:lnSpc>
                <a:spcPct val="110000"/>
              </a:lnSpc>
            </a:pPr>
            <a:r>
              <a:rPr sz="4000" b="0" i="0">
                <a:solidFill>
                  <a:srgbClr val="818CF8"/>
                </a:solidFill>
                <a:latin typeface="Segoe UI Semibold"/>
              </a:rPr>
              <a:t>286</a:t>
            </a:r>
          </a:p>
        </p:txBody>
      </p:sp>
      <p:sp>
        <p:nvSpPr>
          <p:cNvPr id="10" name="TextBox 9"/>
          <p:cNvSpPr txBox="1"/>
          <p:nvPr/>
        </p:nvSpPr>
        <p:spPr>
          <a:xfrm>
            <a:off x="7635240" y="3017520"/>
            <a:ext cx="3611879" cy="914400"/>
          </a:xfrm>
          <a:prstGeom prst="rect">
            <a:avLst/>
          </a:prstGeom>
          <a:noFill/>
        </p:spPr>
        <p:txBody>
          <a:bodyPr wrap="square" lIns="0" rIns="0" tIns="0" bIns="0" anchor="t">
            <a:spAutoFit/>
          </a:bodyPr>
          <a:lstStyle/>
          <a:p>
            <a:pPr algn="l">
              <a:lnSpc>
                <a:spcPct val="115000"/>
              </a:lnSpc>
            </a:pPr>
            <a:r>
              <a:rPr sz="1400" b="0" i="0">
                <a:solidFill>
                  <a:srgbClr val="94A3B8"/>
                </a:solidFill>
                <a:latin typeface="Segoe UI"/>
              </a:rPr>
              <a:t>substations, 2,678 feeders, 65,557 transformers, about 4.9 million consumers on mapped transformers</a:t>
            </a:r>
          </a:p>
        </p:txBody>
      </p:sp>
      <p:sp>
        <p:nvSpPr>
          <p:cNvPr id="11" name="Rounded Rectangle 10"/>
          <p:cNvSpPr/>
          <p:nvPr/>
        </p:nvSpPr>
        <p:spPr>
          <a:xfrm>
            <a:off x="685800" y="4343400"/>
            <a:ext cx="5303520" cy="17830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572000"/>
            <a:ext cx="4754880" cy="822960"/>
          </a:xfrm>
          <a:prstGeom prst="rect">
            <a:avLst/>
          </a:prstGeom>
          <a:noFill/>
        </p:spPr>
        <p:txBody>
          <a:bodyPr wrap="square" lIns="0" rIns="0" tIns="0" bIns="0" anchor="t">
            <a:spAutoFit/>
          </a:bodyPr>
          <a:lstStyle/>
          <a:p>
            <a:pPr algn="l">
              <a:lnSpc>
                <a:spcPct val="110000"/>
              </a:lnSpc>
            </a:pPr>
            <a:r>
              <a:rPr sz="4000" b="0" i="0">
                <a:solidFill>
                  <a:srgbClr val="F59E0B"/>
                </a:solidFill>
                <a:latin typeface="Segoe UI Semibold"/>
              </a:rPr>
              <a:t>48 · 114</a:t>
            </a:r>
          </a:p>
        </p:txBody>
      </p:sp>
      <p:sp>
        <p:nvSpPr>
          <p:cNvPr id="13" name="TextBox 12"/>
          <p:cNvSpPr txBox="1"/>
          <p:nvPr/>
        </p:nvSpPr>
        <p:spPr>
          <a:xfrm>
            <a:off x="960120" y="5486400"/>
            <a:ext cx="4754880" cy="502920"/>
          </a:xfrm>
          <a:prstGeom prst="rect">
            <a:avLst/>
          </a:prstGeom>
          <a:noFill/>
        </p:spPr>
        <p:txBody>
          <a:bodyPr wrap="square" lIns="0" rIns="0" tIns="0" bIns="0" anchor="t">
            <a:spAutoFit/>
          </a:bodyPr>
          <a:lstStyle/>
          <a:p>
            <a:pPr algn="l">
              <a:lnSpc>
                <a:spcPct val="115000"/>
              </a:lnSpc>
            </a:pPr>
            <a:r>
              <a:rPr sz="1400" b="0" i="0">
                <a:solidFill>
                  <a:srgbClr val="94A3B8"/>
                </a:solidFill>
                <a:latin typeface="Segoe UI"/>
              </a:rPr>
              <a:t>substations inside the 2015 flood extent · inside the 100-year flood-hazard map</a:t>
            </a:r>
          </a:p>
        </p:txBody>
      </p:sp>
      <p:sp>
        <p:nvSpPr>
          <p:cNvPr id="14" name="Rounded Rectangle 13"/>
          <p:cNvSpPr/>
          <p:nvPr/>
        </p:nvSpPr>
        <p:spPr>
          <a:xfrm>
            <a:off x="6217920" y="4343400"/>
            <a:ext cx="5303520" cy="17830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572000"/>
            <a:ext cx="4754880" cy="822960"/>
          </a:xfrm>
          <a:prstGeom prst="rect">
            <a:avLst/>
          </a:prstGeom>
          <a:noFill/>
        </p:spPr>
        <p:txBody>
          <a:bodyPr wrap="square" lIns="0" rIns="0" tIns="0" bIns="0" anchor="t">
            <a:spAutoFit/>
          </a:bodyPr>
          <a:lstStyle/>
          <a:p>
            <a:pPr algn="l">
              <a:lnSpc>
                <a:spcPct val="110000"/>
              </a:lnSpc>
            </a:pPr>
            <a:r>
              <a:rPr sz="4000" b="0" i="0">
                <a:solidFill>
                  <a:srgbClr val="FB7185"/>
                </a:solidFill>
                <a:latin typeface="Segoe UI Semibold"/>
              </a:rPr>
              <a:t>162 · 120</a:t>
            </a:r>
          </a:p>
        </p:txBody>
      </p:sp>
      <p:sp>
        <p:nvSpPr>
          <p:cNvPr id="16" name="TextBox 15"/>
          <p:cNvSpPr txBox="1"/>
          <p:nvPr/>
        </p:nvSpPr>
        <p:spPr>
          <a:xfrm>
            <a:off x="6492240" y="5486400"/>
            <a:ext cx="4754880" cy="502920"/>
          </a:xfrm>
          <a:prstGeom prst="rect">
            <a:avLst/>
          </a:prstGeom>
          <a:noFill/>
        </p:spPr>
        <p:txBody>
          <a:bodyPr wrap="square" lIns="0" rIns="0" tIns="0" bIns="0" anchor="t">
            <a:spAutoFit/>
          </a:bodyPr>
          <a:lstStyle/>
          <a:p>
            <a:pPr algn="l">
              <a:lnSpc>
                <a:spcPct val="115000"/>
              </a:lnSpc>
            </a:pPr>
            <a:r>
              <a:rPr sz="1400" b="0" i="0">
                <a:solidFill>
                  <a:srgbClr val="94A3B8"/>
                </a:solidFill>
                <a:latin typeface="Segoe UI"/>
              </a:rPr>
              <a:t>GCC relief centres · wards they cover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THE AI</a:t>
            </a:r>
          </a:p>
        </p:txBody>
      </p:sp>
      <p:sp>
        <p:nvSpPr>
          <p:cNvPr id="4" name="TextBox 3"/>
          <p:cNvSpPr txBox="1"/>
          <p:nvPr/>
        </p:nvSpPr>
        <p:spPr>
          <a:xfrm>
            <a:off x="685800" y="777240"/>
            <a:ext cx="10789920" cy="914400"/>
          </a:xfrm>
          <a:prstGeom prst="rect">
            <a:avLst/>
          </a:prstGeom>
          <a:noFill/>
        </p:spPr>
        <p:txBody>
          <a:bodyPr wrap="square" lIns="0" rIns="0" tIns="0" bIns="0" anchor="t">
            <a:spAutoFit/>
          </a:bodyPr>
          <a:lstStyle/>
          <a:p>
            <a:pPr algn="l">
              <a:lnSpc>
                <a:spcPct val="100000"/>
              </a:lnSpc>
            </a:pPr>
            <a:r>
              <a:rPr sz="3200" b="0" i="0">
                <a:solidFill>
                  <a:srgbClr val="F1F5F9"/>
                </a:solidFill>
                <a:latin typeface="Segoe UI Semibold"/>
              </a:rPr>
              <a:t>What Gemini does, and what it never does.</a:t>
            </a:r>
          </a:p>
        </p:txBody>
      </p:sp>
      <p:sp>
        <p:nvSpPr>
          <p:cNvPr id="5" name="TextBox 4"/>
          <p:cNvSpPr txBox="1"/>
          <p:nvPr/>
        </p:nvSpPr>
        <p:spPr>
          <a:xfrm>
            <a:off x="685800" y="6419088"/>
            <a:ext cx="5486400" cy="228600"/>
          </a:xfrm>
          <a:prstGeom prst="rect">
            <a:avLst/>
          </a:prstGeom>
          <a:noFill/>
        </p:spPr>
        <p:txBody>
          <a:bodyPr wrap="square" lIns="0" rIns="0" tIns="0" bIns="0" anchor="t">
            <a:spAutoFit/>
          </a:bodyPr>
          <a:lstStyle/>
          <a:p>
            <a:pPr algn="l">
              <a:lnSpc>
                <a:spcPct val="110000"/>
              </a:lnSpc>
            </a:pPr>
            <a:r>
              <a:rPr sz="1000" b="0" i="0">
                <a:solidFill>
                  <a:srgbClr val="94A3B8"/>
                </a:solidFill>
                <a:latin typeface="Segoe UI"/>
              </a:rPr>
              <a:t>SurgeGrid AI  ·  surgegrid.web.app</a:t>
            </a:r>
          </a:p>
        </p:txBody>
      </p:sp>
      <p:sp>
        <p:nvSpPr>
          <p:cNvPr id="6" name="TextBox 5"/>
          <p:cNvSpPr txBox="1"/>
          <p:nvPr/>
        </p:nvSpPr>
        <p:spPr>
          <a:xfrm>
            <a:off x="10607040" y="6419088"/>
            <a:ext cx="914400" cy="228600"/>
          </a:xfrm>
          <a:prstGeom prst="rect">
            <a:avLst/>
          </a:prstGeom>
          <a:noFill/>
        </p:spPr>
        <p:txBody>
          <a:bodyPr wrap="square" lIns="0" rIns="0" tIns="0" bIns="0" anchor="t">
            <a:spAutoFit/>
          </a:bodyPr>
          <a:lstStyle/>
          <a:p>
            <a:pPr algn="r">
              <a:lnSpc>
                <a:spcPct val="110000"/>
              </a:lnSpc>
            </a:pPr>
            <a:r>
              <a:rPr sz="1000" b="0" i="0">
                <a:solidFill>
                  <a:srgbClr val="94A3B8"/>
                </a:solidFill>
                <a:latin typeface="Segoe UI"/>
              </a:rPr>
              <a:t>7 / 12</a:t>
            </a:r>
          </a:p>
        </p:txBody>
      </p:sp>
      <p:sp>
        <p:nvSpPr>
          <p:cNvPr id="7" name="Rounded Rectangle 6"/>
          <p:cNvSpPr/>
          <p:nvPr/>
        </p:nvSpPr>
        <p:spPr>
          <a:xfrm>
            <a:off x="685800" y="1874519"/>
            <a:ext cx="5257800" cy="233172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2075688"/>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07568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Does</a:t>
            </a:r>
          </a:p>
        </p:txBody>
      </p:sp>
      <p:sp>
        <p:nvSpPr>
          <p:cNvPr id="10" name="TextBox 9"/>
          <p:cNvSpPr txBox="1"/>
          <p:nvPr/>
        </p:nvSpPr>
        <p:spPr>
          <a:xfrm>
            <a:off x="960120" y="2697479"/>
            <a:ext cx="4754880" cy="1371599"/>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Picks substation and feeder names from lists we send.
Writes one short note, or a live-day summary of our data.
Gemini 2.5 Flash on Google Cloud, no API key in the app.</a:t>
            </a:r>
          </a:p>
        </p:txBody>
      </p:sp>
      <p:sp>
        <p:nvSpPr>
          <p:cNvPr id="11" name="Rounded Rectangle 10"/>
          <p:cNvSpPr/>
          <p:nvPr/>
        </p:nvSpPr>
        <p:spPr>
          <a:xfrm>
            <a:off x="6263640" y="1874519"/>
            <a:ext cx="5257800" cy="233172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2075688"/>
            <a:ext cx="54864" cy="457200"/>
          </a:xfrm>
          <a:prstGeom prst="rect">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207568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Never does</a:t>
            </a:r>
          </a:p>
        </p:txBody>
      </p:sp>
      <p:sp>
        <p:nvSpPr>
          <p:cNvPr id="14" name="TextBox 13"/>
          <p:cNvSpPr txBox="1"/>
          <p:nvPr/>
        </p:nvSpPr>
        <p:spPr>
          <a:xfrm>
            <a:off x="6537959" y="2697479"/>
            <a:ext cx="4754880" cy="1371599"/>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Write, reword or cite the plan quotes.
Invent a number: a note with a number not in the prompt is discarded.</a:t>
            </a:r>
          </a:p>
        </p:txBody>
      </p:sp>
      <p:sp>
        <p:nvSpPr>
          <p:cNvPr id="15" name="TextBox 14"/>
          <p:cNvSpPr txBox="1"/>
          <p:nvPr/>
        </p:nvSpPr>
        <p:spPr>
          <a:xfrm>
            <a:off x="685800" y="4480560"/>
            <a:ext cx="5486400" cy="32004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GUARDRAILS</a:t>
            </a:r>
          </a:p>
        </p:txBody>
      </p:sp>
      <p:sp>
        <p:nvSpPr>
          <p:cNvPr id="16" name="Rounded Rectangle 15"/>
          <p:cNvSpPr/>
          <p:nvPr/>
        </p:nvSpPr>
        <p:spPr>
          <a:xfrm>
            <a:off x="685800" y="4846320"/>
            <a:ext cx="2560320" cy="123444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983480"/>
            <a:ext cx="2194560" cy="365760"/>
          </a:xfrm>
          <a:prstGeom prst="rect">
            <a:avLst/>
          </a:prstGeom>
          <a:noFill/>
        </p:spPr>
        <p:txBody>
          <a:bodyPr wrap="square" lIns="0" rIns="0" tIns="0" bIns="0" anchor="t">
            <a:spAutoFit/>
          </a:bodyPr>
          <a:lstStyle/>
          <a:p>
            <a:pPr algn="l">
              <a:lnSpc>
                <a:spcPct val="110000"/>
              </a:lnSpc>
            </a:pPr>
            <a:r>
              <a:rPr sz="1500" b="0" i="0">
                <a:solidFill>
                  <a:srgbClr val="F1F5F9"/>
                </a:solidFill>
                <a:latin typeface="Segoe UI Semibold"/>
              </a:rPr>
              <a:t>Fixed answer format</a:t>
            </a:r>
          </a:p>
        </p:txBody>
      </p:sp>
      <p:sp>
        <p:nvSpPr>
          <p:cNvPr id="18" name="TextBox 17"/>
          <p:cNvSpPr txBox="1"/>
          <p:nvPr/>
        </p:nvSpPr>
        <p:spPr>
          <a:xfrm>
            <a:off x="868680" y="5440680"/>
            <a:ext cx="2194560" cy="548640"/>
          </a:xfrm>
          <a:prstGeom prst="rect">
            <a:avLst/>
          </a:prstGeom>
          <a:noFill/>
        </p:spPr>
        <p:txBody>
          <a:bodyPr wrap="square" lIns="0" rIns="0" tIns="0" bIns="0" anchor="t">
            <a:spAutoFit/>
          </a:bodyPr>
          <a:lstStyle/>
          <a:p>
            <a:pPr algn="l">
              <a:lnSpc>
                <a:spcPct val="110000"/>
              </a:lnSpc>
            </a:pPr>
            <a:r>
              <a:rPr sz="1300" b="0" i="0">
                <a:solidFill>
                  <a:srgbClr val="94A3B8"/>
                </a:solidFill>
                <a:latin typeface="Segoe UI"/>
              </a:rPr>
              <a:t>JSON schema</a:t>
            </a:r>
          </a:p>
        </p:txBody>
      </p:sp>
      <p:sp>
        <p:nvSpPr>
          <p:cNvPr id="19" name="Rounded Rectangle 18"/>
          <p:cNvSpPr/>
          <p:nvPr/>
        </p:nvSpPr>
        <p:spPr>
          <a:xfrm>
            <a:off x="3447288" y="4846320"/>
            <a:ext cx="2560320" cy="123444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30168" y="4983480"/>
            <a:ext cx="2194560" cy="365760"/>
          </a:xfrm>
          <a:prstGeom prst="rect">
            <a:avLst/>
          </a:prstGeom>
          <a:noFill/>
        </p:spPr>
        <p:txBody>
          <a:bodyPr wrap="square" lIns="0" rIns="0" tIns="0" bIns="0" anchor="t">
            <a:spAutoFit/>
          </a:bodyPr>
          <a:lstStyle/>
          <a:p>
            <a:pPr algn="l">
              <a:lnSpc>
                <a:spcPct val="110000"/>
              </a:lnSpc>
            </a:pPr>
            <a:r>
              <a:rPr sz="1500" b="0" i="0">
                <a:solidFill>
                  <a:srgbClr val="F1F5F9"/>
                </a:solidFill>
                <a:latin typeface="Segoe UI Semibold"/>
              </a:rPr>
              <a:t>Names filtered</a:t>
            </a:r>
          </a:p>
        </p:txBody>
      </p:sp>
      <p:sp>
        <p:nvSpPr>
          <p:cNvPr id="21" name="TextBox 20"/>
          <p:cNvSpPr txBox="1"/>
          <p:nvPr/>
        </p:nvSpPr>
        <p:spPr>
          <a:xfrm>
            <a:off x="3630168" y="5440680"/>
            <a:ext cx="2194560" cy="548640"/>
          </a:xfrm>
          <a:prstGeom prst="rect">
            <a:avLst/>
          </a:prstGeom>
          <a:noFill/>
        </p:spPr>
        <p:txBody>
          <a:bodyPr wrap="square" lIns="0" rIns="0" tIns="0" bIns="0" anchor="t">
            <a:spAutoFit/>
          </a:bodyPr>
          <a:lstStyle/>
          <a:p>
            <a:pPr algn="l">
              <a:lnSpc>
                <a:spcPct val="110000"/>
              </a:lnSpc>
            </a:pPr>
            <a:r>
              <a:rPr sz="1300" b="0" i="0">
                <a:solidFill>
                  <a:srgbClr val="94A3B8"/>
                </a:solidFill>
                <a:latin typeface="Segoe UI"/>
              </a:rPr>
              <a:t>to our lists</a:t>
            </a:r>
          </a:p>
        </p:txBody>
      </p:sp>
      <p:sp>
        <p:nvSpPr>
          <p:cNvPr id="22" name="Rounded Rectangle 21"/>
          <p:cNvSpPr/>
          <p:nvPr/>
        </p:nvSpPr>
        <p:spPr>
          <a:xfrm>
            <a:off x="6208776" y="4846320"/>
            <a:ext cx="2560320" cy="123444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1656" y="4983480"/>
            <a:ext cx="2194560" cy="365760"/>
          </a:xfrm>
          <a:prstGeom prst="rect">
            <a:avLst/>
          </a:prstGeom>
          <a:noFill/>
        </p:spPr>
        <p:txBody>
          <a:bodyPr wrap="square" lIns="0" rIns="0" tIns="0" bIns="0" anchor="t">
            <a:spAutoFit/>
          </a:bodyPr>
          <a:lstStyle/>
          <a:p>
            <a:pPr algn="l">
              <a:lnSpc>
                <a:spcPct val="110000"/>
              </a:lnSpc>
            </a:pPr>
            <a:r>
              <a:rPr sz="1500" b="0" i="0">
                <a:solidFill>
                  <a:srgbClr val="F1F5F9"/>
                </a:solidFill>
                <a:latin typeface="Segoe UI Semibold"/>
              </a:rPr>
              <a:t>Numbers checked</a:t>
            </a:r>
          </a:p>
        </p:txBody>
      </p:sp>
      <p:sp>
        <p:nvSpPr>
          <p:cNvPr id="24" name="TextBox 23"/>
          <p:cNvSpPr txBox="1"/>
          <p:nvPr/>
        </p:nvSpPr>
        <p:spPr>
          <a:xfrm>
            <a:off x="6391656" y="5440680"/>
            <a:ext cx="2194560" cy="548640"/>
          </a:xfrm>
          <a:prstGeom prst="rect">
            <a:avLst/>
          </a:prstGeom>
          <a:noFill/>
        </p:spPr>
        <p:txBody>
          <a:bodyPr wrap="square" lIns="0" rIns="0" tIns="0" bIns="0" anchor="t">
            <a:spAutoFit/>
          </a:bodyPr>
          <a:lstStyle/>
          <a:p>
            <a:pPr algn="l">
              <a:lnSpc>
                <a:spcPct val="110000"/>
              </a:lnSpc>
            </a:pPr>
            <a:r>
              <a:rPr sz="1300" b="0" i="0">
                <a:solidFill>
                  <a:srgbClr val="94A3B8"/>
                </a:solidFill>
                <a:latin typeface="Segoe UI"/>
              </a:rPr>
              <a:t>against the prompt</a:t>
            </a:r>
          </a:p>
        </p:txBody>
      </p:sp>
      <p:sp>
        <p:nvSpPr>
          <p:cNvPr id="25" name="Rounded Rectangle 24"/>
          <p:cNvSpPr/>
          <p:nvPr/>
        </p:nvSpPr>
        <p:spPr>
          <a:xfrm>
            <a:off x="8970264" y="4846320"/>
            <a:ext cx="2560320" cy="123444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3144" y="4983480"/>
            <a:ext cx="2194560" cy="365760"/>
          </a:xfrm>
          <a:prstGeom prst="rect">
            <a:avLst/>
          </a:prstGeom>
          <a:noFill/>
        </p:spPr>
        <p:txBody>
          <a:bodyPr wrap="square" lIns="0" rIns="0" tIns="0" bIns="0" anchor="t">
            <a:spAutoFit/>
          </a:bodyPr>
          <a:lstStyle/>
          <a:p>
            <a:pPr algn="l">
              <a:lnSpc>
                <a:spcPct val="110000"/>
              </a:lnSpc>
            </a:pPr>
            <a:r>
              <a:rPr sz="1500" b="0" i="0">
                <a:solidFill>
                  <a:srgbClr val="F1F5F9"/>
                </a:solidFill>
                <a:latin typeface="Segoe UI Semibold"/>
              </a:rPr>
              <a:t>Gemini down?</a:t>
            </a:r>
          </a:p>
        </p:txBody>
      </p:sp>
      <p:sp>
        <p:nvSpPr>
          <p:cNvPr id="27" name="TextBox 26"/>
          <p:cNvSpPr txBox="1"/>
          <p:nvPr/>
        </p:nvSpPr>
        <p:spPr>
          <a:xfrm>
            <a:off x="9153144" y="5440680"/>
            <a:ext cx="2194560" cy="548640"/>
          </a:xfrm>
          <a:prstGeom prst="rect">
            <a:avLst/>
          </a:prstGeom>
          <a:noFill/>
        </p:spPr>
        <p:txBody>
          <a:bodyPr wrap="square" lIns="0" rIns="0" tIns="0" bIns="0" anchor="t">
            <a:spAutoFit/>
          </a:bodyPr>
          <a:lstStyle/>
          <a:p>
            <a:pPr algn="l">
              <a:lnSpc>
                <a:spcPct val="110000"/>
              </a:lnSpc>
            </a:pPr>
            <a:r>
              <a:rPr sz="1300" b="0" i="0">
                <a:solidFill>
                  <a:srgbClr val="94A3B8"/>
                </a:solidFill>
                <a:latin typeface="Segoe UI"/>
              </a:rPr>
              <a:t>Same quotes, rule-based notes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LIVE DEMO  ·  ABOUT 3 MINUTES</a:t>
            </a:r>
          </a:p>
        </p:txBody>
      </p:sp>
      <p:sp>
        <p:nvSpPr>
          <p:cNvPr id="4" name="TextBox 3"/>
          <p:cNvSpPr txBox="1"/>
          <p:nvPr/>
        </p:nvSpPr>
        <p:spPr>
          <a:xfrm>
            <a:off x="685800" y="777240"/>
            <a:ext cx="10789920" cy="914400"/>
          </a:xfrm>
          <a:prstGeom prst="rect">
            <a:avLst/>
          </a:prstGeom>
          <a:noFill/>
        </p:spPr>
        <p:txBody>
          <a:bodyPr wrap="square" lIns="0" rIns="0" tIns="0" bIns="0" anchor="t">
            <a:spAutoFit/>
          </a:bodyPr>
          <a:lstStyle/>
          <a:p>
            <a:pPr algn="l">
              <a:lnSpc>
                <a:spcPct val="100000"/>
              </a:lnSpc>
            </a:pPr>
            <a:r>
              <a:rPr sz="3200" b="0" i="0">
                <a:solidFill>
                  <a:srgbClr val="F1F5F9"/>
                </a:solidFill>
                <a:latin typeface="Segoe UI Semibold"/>
              </a:rPr>
              <a:t>Watch one storm go from watch to restoration.</a:t>
            </a:r>
          </a:p>
        </p:txBody>
      </p:sp>
      <p:sp>
        <p:nvSpPr>
          <p:cNvPr id="5" name="TextBox 4"/>
          <p:cNvSpPr txBox="1"/>
          <p:nvPr/>
        </p:nvSpPr>
        <p:spPr>
          <a:xfrm>
            <a:off x="685800" y="6419088"/>
            <a:ext cx="5486400" cy="228600"/>
          </a:xfrm>
          <a:prstGeom prst="rect">
            <a:avLst/>
          </a:prstGeom>
          <a:noFill/>
        </p:spPr>
        <p:txBody>
          <a:bodyPr wrap="square" lIns="0" rIns="0" tIns="0" bIns="0" anchor="t">
            <a:spAutoFit/>
          </a:bodyPr>
          <a:lstStyle/>
          <a:p>
            <a:pPr algn="l">
              <a:lnSpc>
                <a:spcPct val="110000"/>
              </a:lnSpc>
            </a:pPr>
            <a:r>
              <a:rPr sz="1000" b="0" i="0">
                <a:solidFill>
                  <a:srgbClr val="94A3B8"/>
                </a:solidFill>
                <a:latin typeface="Segoe UI"/>
              </a:rPr>
              <a:t>SurgeGrid AI  ·  surgegrid.web.app</a:t>
            </a:r>
          </a:p>
        </p:txBody>
      </p:sp>
      <p:sp>
        <p:nvSpPr>
          <p:cNvPr id="6" name="TextBox 5"/>
          <p:cNvSpPr txBox="1"/>
          <p:nvPr/>
        </p:nvSpPr>
        <p:spPr>
          <a:xfrm>
            <a:off x="10607040" y="6419088"/>
            <a:ext cx="914400" cy="228600"/>
          </a:xfrm>
          <a:prstGeom prst="rect">
            <a:avLst/>
          </a:prstGeom>
          <a:noFill/>
        </p:spPr>
        <p:txBody>
          <a:bodyPr wrap="square" lIns="0" rIns="0" tIns="0" bIns="0" anchor="t">
            <a:spAutoFit/>
          </a:bodyPr>
          <a:lstStyle/>
          <a:p>
            <a:pPr algn="r">
              <a:lnSpc>
                <a:spcPct val="110000"/>
              </a:lnSpc>
            </a:pPr>
            <a:r>
              <a:rPr sz="1000" b="0" i="0">
                <a:solidFill>
                  <a:srgbClr val="94A3B8"/>
                </a:solidFill>
                <a:latin typeface="Segoe UI"/>
              </a:rPr>
              <a:t>8 / 12</a:t>
            </a:r>
          </a:p>
        </p:txBody>
      </p:sp>
      <p:sp>
        <p:nvSpPr>
          <p:cNvPr id="7" name="Rounded Rectangle 6"/>
          <p:cNvSpPr/>
          <p:nvPr/>
        </p:nvSpPr>
        <p:spPr>
          <a:xfrm>
            <a:off x="685800" y="1874519"/>
            <a:ext cx="10835640" cy="77724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68680" y="2029967"/>
            <a:ext cx="457200" cy="457200"/>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29967"/>
            <a:ext cx="457200" cy="457200"/>
          </a:xfrm>
          <a:prstGeom prst="rect">
            <a:avLst/>
          </a:prstGeom>
          <a:noFill/>
        </p:spPr>
        <p:txBody>
          <a:bodyPr wrap="square" lIns="0" rIns="0" tIns="0" bIns="0" anchor="ctr">
            <a:spAutoFit/>
          </a:bodyPr>
          <a:lstStyle/>
          <a:p>
            <a:pPr algn="ctr">
              <a:lnSpc>
                <a:spcPct val="110000"/>
              </a:lnSpc>
            </a:pPr>
            <a:r>
              <a:rPr sz="1600" b="0" i="0">
                <a:solidFill>
                  <a:srgbClr val="0B1220"/>
                </a:solidFill>
                <a:latin typeface="Segoe UI Semibold"/>
              </a:rPr>
              <a:t>1</a:t>
            </a:r>
          </a:p>
        </p:txBody>
      </p:sp>
      <p:sp>
        <p:nvSpPr>
          <p:cNvPr id="10" name="TextBox 9"/>
          <p:cNvSpPr txBox="1"/>
          <p:nvPr/>
        </p:nvSpPr>
        <p:spPr>
          <a:xfrm>
            <a:off x="1554480" y="1874519"/>
            <a:ext cx="9784080" cy="777240"/>
          </a:xfrm>
          <a:prstGeom prst="rect">
            <a:avLst/>
          </a:prstGeom>
          <a:noFill/>
        </p:spPr>
        <p:txBody>
          <a:bodyPr wrap="square" lIns="0" rIns="0" tIns="0" bIns="0" anchor="ctr">
            <a:spAutoFit/>
          </a:bodyPr>
          <a:lstStyle/>
          <a:p>
            <a:pPr algn="l">
              <a:lnSpc>
                <a:spcPct val="110000"/>
              </a:lnSpc>
            </a:pPr>
            <a:r>
              <a:rPr sz="1500" b="0" i="0">
                <a:solidFill>
                  <a:srgbClr val="F1F5F9"/>
                </a:solidFill>
                <a:latin typeface="Segoe UI"/>
              </a:rPr>
              <a:t>Open the site, pick Michaung. It starts at T-24h. The satellite rain is nearly clear (IMD's gauges read higher). The AI Directive shows 6 quoted actions with page numbers.</a:t>
            </a:r>
          </a:p>
        </p:txBody>
      </p:sp>
      <p:sp>
        <p:nvSpPr>
          <p:cNvPr id="11" name="Rounded Rectangle 10"/>
          <p:cNvSpPr/>
          <p:nvPr/>
        </p:nvSpPr>
        <p:spPr>
          <a:xfrm>
            <a:off x="685800" y="2761487"/>
            <a:ext cx="10835640" cy="77724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916935"/>
            <a:ext cx="457200" cy="457200"/>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6935"/>
            <a:ext cx="457200" cy="457200"/>
          </a:xfrm>
          <a:prstGeom prst="rect">
            <a:avLst/>
          </a:prstGeom>
          <a:noFill/>
        </p:spPr>
        <p:txBody>
          <a:bodyPr wrap="square" lIns="0" rIns="0" tIns="0" bIns="0" anchor="ctr">
            <a:spAutoFit/>
          </a:bodyPr>
          <a:lstStyle/>
          <a:p>
            <a:pPr algn="ctr">
              <a:lnSpc>
                <a:spcPct val="110000"/>
              </a:lnSpc>
            </a:pPr>
            <a:r>
              <a:rPr sz="1600" b="0" i="0">
                <a:solidFill>
                  <a:srgbClr val="0B1220"/>
                </a:solidFill>
                <a:latin typeface="Segoe UI Semibold"/>
              </a:rPr>
              <a:t>2</a:t>
            </a:r>
          </a:p>
        </p:txBody>
      </p:sp>
      <p:sp>
        <p:nvSpPr>
          <p:cNvPr id="14" name="TextBox 13"/>
          <p:cNvSpPr txBox="1"/>
          <p:nvPr/>
        </p:nvSpPr>
        <p:spPr>
          <a:xfrm>
            <a:off x="1554480" y="2761487"/>
            <a:ext cx="9784080" cy="777240"/>
          </a:xfrm>
          <a:prstGeom prst="rect">
            <a:avLst/>
          </a:prstGeom>
          <a:noFill/>
        </p:spPr>
        <p:txBody>
          <a:bodyPr wrap="square" lIns="0" rIns="0" tIns="0" bIns="0" anchor="ctr">
            <a:spAutoFit/>
          </a:bodyPr>
          <a:lstStyle/>
          <a:p>
            <a:pPr algn="l">
              <a:lnSpc>
                <a:spcPct val="110000"/>
              </a:lnSpc>
            </a:pPr>
            <a:r>
              <a:rPr sz="1500" b="0" i="0">
                <a:solidFill>
                  <a:srgbClr val="F1F5F9"/>
                </a:solidFill>
                <a:latin typeface="Segoe UI"/>
              </a:rPr>
              <a:t>Press play: five steps, 6 seconds each. Rain fills in by cell, exposed substations get red rings, and IMD's own bulletin for each step is quoted under the timeline.</a:t>
            </a:r>
          </a:p>
        </p:txBody>
      </p:sp>
      <p:sp>
        <p:nvSpPr>
          <p:cNvPr id="15" name="Rounded Rectangle 14"/>
          <p:cNvSpPr/>
          <p:nvPr/>
        </p:nvSpPr>
        <p:spPr>
          <a:xfrm>
            <a:off x="685800" y="3648455"/>
            <a:ext cx="10835640" cy="77724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803903"/>
            <a:ext cx="457200" cy="457200"/>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803903"/>
            <a:ext cx="457200" cy="457200"/>
          </a:xfrm>
          <a:prstGeom prst="rect">
            <a:avLst/>
          </a:prstGeom>
          <a:noFill/>
        </p:spPr>
        <p:txBody>
          <a:bodyPr wrap="square" lIns="0" rIns="0" tIns="0" bIns="0" anchor="ctr">
            <a:spAutoFit/>
          </a:bodyPr>
          <a:lstStyle/>
          <a:p>
            <a:pPr algn="ctr">
              <a:lnSpc>
                <a:spcPct val="110000"/>
              </a:lnSpc>
            </a:pPr>
            <a:r>
              <a:rPr sz="1600" b="0" i="0">
                <a:solidFill>
                  <a:srgbClr val="0B1220"/>
                </a:solidFill>
                <a:latin typeface="Segoe UI Semibold"/>
              </a:rPr>
              <a:t>3</a:t>
            </a:r>
          </a:p>
        </p:txBody>
      </p:sp>
      <p:sp>
        <p:nvSpPr>
          <p:cNvPr id="18" name="TextBox 17"/>
          <p:cNvSpPr txBox="1"/>
          <p:nvPr/>
        </p:nvSpPr>
        <p:spPr>
          <a:xfrm>
            <a:off x="1554480" y="3648455"/>
            <a:ext cx="9784080" cy="777240"/>
          </a:xfrm>
          <a:prstGeom prst="rect">
            <a:avLst/>
          </a:prstGeom>
          <a:noFill/>
        </p:spPr>
        <p:txBody>
          <a:bodyPr wrap="square" lIns="0" rIns="0" tIns="0" bIns="0" anchor="ctr">
            <a:spAutoFit/>
          </a:bodyPr>
          <a:lstStyle/>
          <a:p>
            <a:pPr algn="l">
              <a:lnSpc>
                <a:spcPct val="110000"/>
              </a:lnSpc>
            </a:pPr>
            <a:r>
              <a:rPr sz="1500" b="0" i="0">
                <a:solidFill>
                  <a:srgbClr val="F1F5F9"/>
                </a:solidFill>
                <a:latin typeface="Segoe UI"/>
              </a:rPr>
              <a:t>Point at a cell for its 24-hour rain and IMD class. Switch on the fixed official flood maps.</a:t>
            </a:r>
          </a:p>
        </p:txBody>
      </p:sp>
      <p:sp>
        <p:nvSpPr>
          <p:cNvPr id="19" name="Rounded Rectangle 18"/>
          <p:cNvSpPr/>
          <p:nvPr/>
        </p:nvSpPr>
        <p:spPr>
          <a:xfrm>
            <a:off x="685800" y="4535423"/>
            <a:ext cx="10835640" cy="77724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68680" y="4690871"/>
            <a:ext cx="457200" cy="457200"/>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690871"/>
            <a:ext cx="457200" cy="457200"/>
          </a:xfrm>
          <a:prstGeom prst="rect">
            <a:avLst/>
          </a:prstGeom>
          <a:noFill/>
        </p:spPr>
        <p:txBody>
          <a:bodyPr wrap="square" lIns="0" rIns="0" tIns="0" bIns="0" anchor="ctr">
            <a:spAutoFit/>
          </a:bodyPr>
          <a:lstStyle/>
          <a:p>
            <a:pPr algn="ctr">
              <a:lnSpc>
                <a:spcPct val="110000"/>
              </a:lnSpc>
            </a:pPr>
            <a:r>
              <a:rPr sz="1600" b="0" i="0">
                <a:solidFill>
                  <a:srgbClr val="0B1220"/>
                </a:solidFill>
                <a:latin typeface="Segoe UI Semibold"/>
              </a:rPr>
              <a:t>4</a:t>
            </a:r>
          </a:p>
        </p:txBody>
      </p:sp>
      <p:sp>
        <p:nvSpPr>
          <p:cNvPr id="22" name="TextBox 21"/>
          <p:cNvSpPr txBox="1"/>
          <p:nvPr/>
        </p:nvSpPr>
        <p:spPr>
          <a:xfrm>
            <a:off x="1554480" y="4535423"/>
            <a:ext cx="9784080" cy="777240"/>
          </a:xfrm>
          <a:prstGeom prst="rect">
            <a:avLst/>
          </a:prstGeom>
          <a:noFill/>
        </p:spPr>
        <p:txBody>
          <a:bodyPr wrap="square" lIns="0" rIns="0" tIns="0" bIns="0" anchor="ctr">
            <a:spAutoFit/>
          </a:bodyPr>
          <a:lstStyle/>
          <a:p>
            <a:pPr algn="l">
              <a:lnSpc>
                <a:spcPct val="110000"/>
              </a:lnSpc>
            </a:pPr>
            <a:r>
              <a:rPr sz="1500" b="0" i="0">
                <a:solidFill>
                  <a:srgbClr val="F1F5F9"/>
                </a:solidFill>
                <a:latin typeface="Segoe UI"/>
              </a:rPr>
              <a:t>Open a low-lying substation: status line, Overview (flood facts), then Respond: copilot actions, relief centre, backup.</a:t>
            </a:r>
          </a:p>
        </p:txBody>
      </p:sp>
      <p:sp>
        <p:nvSpPr>
          <p:cNvPr id="23" name="Rounded Rectangle 22"/>
          <p:cNvSpPr/>
          <p:nvPr/>
        </p:nvSpPr>
        <p:spPr>
          <a:xfrm>
            <a:off x="685800" y="5422391"/>
            <a:ext cx="10835640" cy="77724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68680" y="5577839"/>
            <a:ext cx="457200" cy="457200"/>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5577839"/>
            <a:ext cx="457200" cy="457200"/>
          </a:xfrm>
          <a:prstGeom prst="rect">
            <a:avLst/>
          </a:prstGeom>
          <a:noFill/>
        </p:spPr>
        <p:txBody>
          <a:bodyPr wrap="square" lIns="0" rIns="0" tIns="0" bIns="0" anchor="ctr">
            <a:spAutoFit/>
          </a:bodyPr>
          <a:lstStyle/>
          <a:p>
            <a:pPr algn="ctr">
              <a:lnSpc>
                <a:spcPct val="110000"/>
              </a:lnSpc>
            </a:pPr>
            <a:r>
              <a:rPr sz="1600" b="0" i="0">
                <a:solidFill>
                  <a:srgbClr val="0B1220"/>
                </a:solidFill>
                <a:latin typeface="Segoe UI Semibold"/>
              </a:rPr>
              <a:t>5</a:t>
            </a:r>
          </a:p>
        </p:txBody>
      </p:sp>
      <p:sp>
        <p:nvSpPr>
          <p:cNvPr id="26" name="TextBox 25"/>
          <p:cNvSpPr txBox="1"/>
          <p:nvPr/>
        </p:nvSpPr>
        <p:spPr>
          <a:xfrm>
            <a:off x="1554480" y="5422391"/>
            <a:ext cx="9784080" cy="777240"/>
          </a:xfrm>
          <a:prstGeom prst="rect">
            <a:avLst/>
          </a:prstGeom>
          <a:noFill/>
        </p:spPr>
        <p:txBody>
          <a:bodyPr wrap="square" lIns="0" rIns="0" tIns="0" bIns="0" anchor="ctr">
            <a:spAutoFit/>
          </a:bodyPr>
          <a:lstStyle/>
          <a:p>
            <a:pPr algn="l">
              <a:lnSpc>
                <a:spcPct val="110000"/>
              </a:lnSpc>
            </a:pPr>
            <a:r>
              <a:rPr sz="1500" b="0" i="0">
                <a:solidFill>
                  <a:srgbClr val="F1F5F9"/>
                </a:solidFill>
                <a:latin typeface="Segoe UI"/>
              </a:rPr>
              <a:t>Open a substation inside no flood layer. It stays quiet: no false alarms.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TRACK 5 FIT</a:t>
            </a:r>
          </a:p>
        </p:txBody>
      </p:sp>
      <p:sp>
        <p:nvSpPr>
          <p:cNvPr id="4" name="TextBox 3"/>
          <p:cNvSpPr txBox="1"/>
          <p:nvPr/>
        </p:nvSpPr>
        <p:spPr>
          <a:xfrm>
            <a:off x="685800" y="777240"/>
            <a:ext cx="10789920" cy="914400"/>
          </a:xfrm>
          <a:prstGeom prst="rect">
            <a:avLst/>
          </a:prstGeom>
          <a:noFill/>
        </p:spPr>
        <p:txBody>
          <a:bodyPr wrap="square" lIns="0" rIns="0" tIns="0" bIns="0" anchor="t">
            <a:spAutoFit/>
          </a:bodyPr>
          <a:lstStyle/>
          <a:p>
            <a:pPr algn="l">
              <a:lnSpc>
                <a:spcPct val="100000"/>
              </a:lnSpc>
            </a:pPr>
            <a:r>
              <a:rPr sz="3200" b="0" i="0">
                <a:solidFill>
                  <a:srgbClr val="F1F5F9"/>
                </a:solidFill>
                <a:latin typeface="Segoe UI Semibold"/>
              </a:rPr>
              <a:t>What the brief asks, what we deliver, and the honest gaps.</a:t>
            </a:r>
          </a:p>
        </p:txBody>
      </p:sp>
      <p:sp>
        <p:nvSpPr>
          <p:cNvPr id="5" name="TextBox 4"/>
          <p:cNvSpPr txBox="1"/>
          <p:nvPr/>
        </p:nvSpPr>
        <p:spPr>
          <a:xfrm>
            <a:off x="685800" y="6419088"/>
            <a:ext cx="5486400" cy="228600"/>
          </a:xfrm>
          <a:prstGeom prst="rect">
            <a:avLst/>
          </a:prstGeom>
          <a:noFill/>
        </p:spPr>
        <p:txBody>
          <a:bodyPr wrap="square" lIns="0" rIns="0" tIns="0" bIns="0" anchor="t">
            <a:spAutoFit/>
          </a:bodyPr>
          <a:lstStyle/>
          <a:p>
            <a:pPr algn="l">
              <a:lnSpc>
                <a:spcPct val="110000"/>
              </a:lnSpc>
            </a:pPr>
            <a:r>
              <a:rPr sz="1000" b="0" i="0">
                <a:solidFill>
                  <a:srgbClr val="94A3B8"/>
                </a:solidFill>
                <a:latin typeface="Segoe UI"/>
              </a:rPr>
              <a:t>SurgeGrid AI  ·  surgegrid.web.app</a:t>
            </a:r>
          </a:p>
        </p:txBody>
      </p:sp>
      <p:sp>
        <p:nvSpPr>
          <p:cNvPr id="6" name="TextBox 5"/>
          <p:cNvSpPr txBox="1"/>
          <p:nvPr/>
        </p:nvSpPr>
        <p:spPr>
          <a:xfrm>
            <a:off x="10607040" y="6419088"/>
            <a:ext cx="914400" cy="228600"/>
          </a:xfrm>
          <a:prstGeom prst="rect">
            <a:avLst/>
          </a:prstGeom>
          <a:noFill/>
        </p:spPr>
        <p:txBody>
          <a:bodyPr wrap="square" lIns="0" rIns="0" tIns="0" bIns="0" anchor="t">
            <a:spAutoFit/>
          </a:bodyPr>
          <a:lstStyle/>
          <a:p>
            <a:pPr algn="r">
              <a:lnSpc>
                <a:spcPct val="110000"/>
              </a:lnSpc>
            </a:pPr>
            <a:r>
              <a:rPr sz="1000" b="0" i="0">
                <a:solidFill>
                  <a:srgbClr val="94A3B8"/>
                </a:solidFill>
                <a:latin typeface="Segoe UI"/>
              </a:rPr>
              <a:t>9 / 12</a:t>
            </a:r>
          </a:p>
        </p:txBody>
      </p:sp>
      <p:graphicFrame>
        <p:nvGraphicFramePr>
          <p:cNvPr id="7" name="Table 6"/>
          <p:cNvGraphicFramePr>
            <a:graphicFrameLocks noGrp="1"/>
          </p:cNvGraphicFramePr>
          <p:nvPr/>
        </p:nvGraphicFramePr>
        <p:xfrm>
          <a:off x="685800" y="1828800"/>
          <a:ext cx="10835640" cy="4206240"/>
        </p:xfrm>
        <a:graphic>
          <a:graphicData uri="http://schemas.openxmlformats.org/drawingml/2006/table">
            <a:tbl>
              <a:tblPr firstRow="1" bandRow="1">
                <a:tableStyleId>{5C22544A-7EE6-4342-B048-85BDC9FD1C3A}</a:tableStyleId>
              </a:tblPr>
              <a:tblGrid>
                <a:gridCol w="3108960"/>
                <a:gridCol w="4572000"/>
                <a:gridCol w="3154680"/>
              </a:tblGrid>
              <a:tr h="701040">
                <a:tc>
                  <a:txBody>
                    <a:bodyPr/>
                    <a:lstStyle/>
                    <a:p>
                      <a:r>
                        <a:rPr sz="1300">
                          <a:solidFill>
                            <a:srgbClr val="94A3B8"/>
                          </a:solidFill>
                          <a:latin typeface="Segoe UI Semibold"/>
                        </a:rPr>
                        <a:t>The brief asks</a:t>
                      </a:r>
                    </a:p>
                  </a:txBody>
                  <a:tcPr anchor="ctr" marL="182880">
                    <a:solidFill>
                      <a:srgbClr val="243352"/>
                    </a:solidFill>
                  </a:tcPr>
                </a:tc>
                <a:tc>
                  <a:txBody>
                    <a:bodyPr/>
                    <a:lstStyle/>
                    <a:p>
                      <a:r>
                        <a:rPr sz="1300">
                          <a:solidFill>
                            <a:srgbClr val="94A3B8"/>
                          </a:solidFill>
                          <a:latin typeface="Segoe UI Semibold"/>
                        </a:rPr>
                        <a:t>We deliver</a:t>
                      </a:r>
                    </a:p>
                  </a:txBody>
                  <a:tcPr anchor="ctr" marL="182880">
                    <a:solidFill>
                      <a:srgbClr val="243352"/>
                    </a:solidFill>
                  </a:tcPr>
                </a:tc>
                <a:tc>
                  <a:txBody>
                    <a:bodyPr/>
                    <a:lstStyle/>
                    <a:p>
                      <a:r>
                        <a:rPr sz="1300">
                          <a:solidFill>
                            <a:srgbClr val="94A3B8"/>
                          </a:solidFill>
                          <a:latin typeface="Segoe UI Semibold"/>
                        </a:rPr>
                        <a:t>Honest gap</a:t>
                      </a:r>
                    </a:p>
                  </a:txBody>
                  <a:tcPr anchor="ctr" marL="182880">
                    <a:solidFill>
                      <a:srgbClr val="243352"/>
                    </a:solidFill>
                  </a:tcPr>
                </a:tc>
              </a:tr>
              <a:tr h="701040">
                <a:tc>
                  <a:txBody>
                    <a:bodyPr/>
                    <a:lstStyle/>
                    <a:p>
                      <a:r>
                        <a:rPr sz="1400">
                          <a:solidFill>
                            <a:srgbClr val="F1F5F9"/>
                          </a:solidFill>
                          <a:latin typeface="Segoe UI"/>
                        </a:rPr>
                        <a:t>Earth Engine + real met data</a:t>
                      </a:r>
                    </a:p>
                  </a:txBody>
                  <a:tcPr anchor="ctr" marL="182880">
                    <a:solidFill>
                      <a:srgbClr val="131D33"/>
                    </a:solidFill>
                  </a:tcPr>
                </a:tc>
                <a:tc>
                  <a:txBody>
                    <a:bodyPr/>
                    <a:lstStyle/>
                    <a:p>
                      <a:r>
                        <a:rPr sz="1400">
                          <a:solidFill>
                            <a:srgbClr val="F1F5F9"/>
                          </a:solidFill>
                          <a:latin typeface="Segoe UI"/>
                        </a:rPr>
                        <a:t>IMERG rain, ERA5-Land wind, SRTM; Google Weather API</a:t>
                      </a:r>
                    </a:p>
                  </a:txBody>
                  <a:tcPr anchor="ctr" marL="182880">
                    <a:solidFill>
                      <a:srgbClr val="131D33"/>
                    </a:solidFill>
                  </a:tcPr>
                </a:tc>
                <a:tc>
                  <a:txBody>
                    <a:bodyPr/>
                    <a:lstStyle/>
                    <a:p>
                      <a:r>
                        <a:rPr sz="1400">
                          <a:solidFill>
                            <a:srgbClr val="F59E0B"/>
                          </a:solidFill>
                          <a:latin typeface="Segoe UI"/>
                        </a:rPr>
                        <a:t>Wind is an area average</a:t>
                      </a:r>
                    </a:p>
                  </a:txBody>
                  <a:tcPr anchor="ctr" marL="182880">
                    <a:solidFill>
                      <a:srgbClr val="131D33"/>
                    </a:solidFill>
                  </a:tcPr>
                </a:tc>
              </a:tr>
              <a:tr h="701040">
                <a:tc>
                  <a:txBody>
                    <a:bodyPr/>
                    <a:lstStyle/>
                    <a:p>
                      <a:r>
                        <a:rPr sz="1400">
                          <a:solidFill>
                            <a:srgbClr val="F1F5F9"/>
                          </a:solidFill>
                          <a:latin typeface="Segoe UI"/>
                        </a:rPr>
                        <a:t>Simulate storm scenarios</a:t>
                      </a:r>
                    </a:p>
                  </a:txBody>
                  <a:tcPr anchor="ctr" marL="182880">
                    <a:solidFill>
                      <a:srgbClr val="131D33"/>
                    </a:solidFill>
                  </a:tcPr>
                </a:tc>
                <a:tc>
                  <a:txBody>
                    <a:bodyPr/>
                    <a:lstStyle/>
                    <a:p>
                      <a:r>
                        <a:rPr sz="1400">
                          <a:solidFill>
                            <a:srgbClr val="F1F5F9"/>
                          </a:solidFill>
                          <a:latin typeface="Segoe UI"/>
                        </a:rPr>
                        <a:t>One real hindcast (Michaung), five steps, rain by area</a:t>
                      </a:r>
                    </a:p>
                  </a:txBody>
                  <a:tcPr anchor="ctr" marL="182880">
                    <a:solidFill>
                      <a:srgbClr val="131D33"/>
                    </a:solidFill>
                  </a:tcPr>
                </a:tc>
                <a:tc>
                  <a:txBody>
                    <a:bodyPr/>
                    <a:lstStyle/>
                    <a:p>
                      <a:r>
                        <a:rPr sz="1400">
                          <a:solidFill>
                            <a:srgbClr val="F59E0B"/>
                          </a:solidFill>
                          <a:latin typeface="Segoe UI"/>
                        </a:rPr>
                        <a:t>No storm surge or track; no flood prediction</a:t>
                      </a:r>
                    </a:p>
                  </a:txBody>
                  <a:tcPr anchor="ctr" marL="182880">
                    <a:solidFill>
                      <a:srgbClr val="131D33"/>
                    </a:solidFill>
                  </a:tcPr>
                </a:tc>
              </a:tr>
              <a:tr h="701040">
                <a:tc>
                  <a:txBody>
                    <a:bodyPr/>
                    <a:lstStyle/>
                    <a:p>
                      <a:r>
                        <a:rPr sz="1400">
                          <a:solidFill>
                            <a:srgbClr val="F1F5F9"/>
                          </a:solidFill>
                          <a:latin typeface="Segoe UI"/>
                        </a:rPr>
                        <a:t>Map grid and shelter exposure</a:t>
                      </a:r>
                    </a:p>
                  </a:txBody>
                  <a:tcPr anchor="ctr" marL="182880">
                    <a:solidFill>
                      <a:srgbClr val="131D33"/>
                    </a:solidFill>
                  </a:tcPr>
                </a:tc>
                <a:tc>
                  <a:txBody>
                    <a:bodyPr/>
                    <a:lstStyle/>
                    <a:p>
                      <a:r>
                        <a:rPr sz="1400">
                          <a:solidFill>
                            <a:srgbClr val="F1F5F9"/>
                          </a:solidFill>
                          <a:latin typeface="Segoe UI"/>
                        </a:rPr>
                        <a:t>286 substations checked; 162 relief centres by ward</a:t>
                      </a:r>
                    </a:p>
                  </a:txBody>
                  <a:tcPr anchor="ctr" marL="182880">
                    <a:solidFill>
                      <a:srgbClr val="131D33"/>
                    </a:solidFill>
                  </a:tcPr>
                </a:tc>
                <a:tc>
                  <a:txBody>
                    <a:bodyPr/>
                    <a:lstStyle/>
                    <a:p>
                      <a:r>
                        <a:rPr sz="1400">
                          <a:solidFill>
                            <a:srgbClr val="F59E0B"/>
                          </a:solidFill>
                          <a:latin typeface="Segoe UI"/>
                        </a:rPr>
                        <a:t>Centres have no coordinates</a:t>
                      </a:r>
                    </a:p>
                  </a:txBody>
                  <a:tcPr anchor="ctr" marL="182880">
                    <a:solidFill>
                      <a:srgbClr val="131D33"/>
                    </a:solidFill>
                  </a:tcPr>
                </a:tc>
              </a:tr>
              <a:tr h="701040">
                <a:tc>
                  <a:txBody>
                    <a:bodyPr/>
                    <a:lstStyle/>
                    <a:p>
                      <a:r>
                        <a:rPr sz="1400">
                          <a:solidFill>
                            <a:srgbClr val="F1F5F9"/>
                          </a:solidFill>
                          <a:latin typeface="Segoe UI"/>
                        </a:rPr>
                        <a:t>Early-warning advisories</a:t>
                      </a:r>
                    </a:p>
                  </a:txBody>
                  <a:tcPr anchor="ctr" marL="182880">
                    <a:solidFill>
                      <a:srgbClr val="131D33"/>
                    </a:solidFill>
                  </a:tcPr>
                </a:tc>
                <a:tc>
                  <a:txBody>
                    <a:bodyPr/>
                    <a:lstStyle/>
                    <a:p>
                      <a:r>
                        <a:rPr sz="1400">
                          <a:solidFill>
                            <a:srgbClr val="F1F5F9"/>
                          </a:solidFill>
                          <a:latin typeface="Segoe UI"/>
                        </a:rPr>
                        <a:t>Quoted actions per hour and substation; copy-SMS</a:t>
                      </a:r>
                    </a:p>
                  </a:txBody>
                  <a:tcPr anchor="ctr" marL="182880">
                    <a:solidFill>
                      <a:srgbClr val="131D33"/>
                    </a:solidFill>
                  </a:tcPr>
                </a:tc>
                <a:tc>
                  <a:txBody>
                    <a:bodyPr/>
                    <a:lstStyle/>
                    <a:p>
                      <a:r>
                        <a:rPr sz="1400">
                          <a:solidFill>
                            <a:srgbClr val="F59E0B"/>
                          </a:solidFill>
                          <a:latin typeface="Segoe UI"/>
                        </a:rPr>
                        <a:t>No automatic dispatch</a:t>
                      </a:r>
                    </a:p>
                  </a:txBody>
                  <a:tcPr anchor="ctr" marL="182880">
                    <a:solidFill>
                      <a:srgbClr val="131D33"/>
                    </a:solidFill>
                  </a:tcPr>
                </a:tc>
              </a:tr>
              <a:tr h="701040">
                <a:tc>
                  <a:txBody>
                    <a:bodyPr/>
                    <a:lstStyle/>
                    <a:p>
                      <a:r>
                        <a:rPr sz="1400">
                          <a:solidFill>
                            <a:srgbClr val="F1F5F9"/>
                          </a:solidFill>
                          <a:latin typeface="Segoe UI"/>
                        </a:rPr>
                        <a:t>Gemini reasoning</a:t>
                      </a:r>
                    </a:p>
                  </a:txBody>
                  <a:tcPr anchor="ctr" marL="182880">
                    <a:solidFill>
                      <a:srgbClr val="131D33"/>
                    </a:solidFill>
                  </a:tcPr>
                </a:tc>
                <a:tc>
                  <a:txBody>
                    <a:bodyPr/>
                    <a:lstStyle/>
                    <a:p>
                      <a:r>
                        <a:rPr sz="1400">
                          <a:solidFill>
                            <a:srgbClr val="F1F5F9"/>
                          </a:solidFill>
                          <a:latin typeface="Segoe UI"/>
                        </a:rPr>
                        <a:t>Gemini 2.5 Flash notes with guardrails</a:t>
                      </a:r>
                    </a:p>
                  </a:txBody>
                  <a:tcPr anchor="ctr" marL="182880">
                    <a:solidFill>
                      <a:srgbClr val="131D33"/>
                    </a:solidFill>
                  </a:tcPr>
                </a:tc>
                <a:tc>
                  <a:txBody>
                    <a:bodyPr/>
                    <a:lstStyle/>
                    <a:p>
                      <a:r>
                        <a:rPr sz="1400">
                          <a:solidFill>
                            <a:srgbClr val="F59E0B"/>
                          </a:solidFill>
                          <a:latin typeface="Segoe UI"/>
                        </a:rPr>
                        <a:t>Not multimodal</a:t>
                      </a:r>
                    </a:p>
                  </a:txBody>
                  <a:tcPr anchor="ctr" marL="182880">
                    <a:solidFill>
                      <a:srgbClr val="131D33"/>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BUILT FOR INDIA</a:t>
            </a:r>
          </a:p>
        </p:txBody>
      </p:sp>
      <p:sp>
        <p:nvSpPr>
          <p:cNvPr id="4" name="TextBox 3"/>
          <p:cNvSpPr txBox="1"/>
          <p:nvPr/>
        </p:nvSpPr>
        <p:spPr>
          <a:xfrm>
            <a:off x="685800" y="777240"/>
            <a:ext cx="10789920" cy="914400"/>
          </a:xfrm>
          <a:prstGeom prst="rect">
            <a:avLst/>
          </a:prstGeom>
          <a:noFill/>
        </p:spPr>
        <p:txBody>
          <a:bodyPr wrap="square" lIns="0" rIns="0" tIns="0" bIns="0" anchor="t">
            <a:spAutoFit/>
          </a:bodyPr>
          <a:lstStyle/>
          <a:p>
            <a:pPr algn="l">
              <a:lnSpc>
                <a:spcPct val="100000"/>
              </a:lnSpc>
            </a:pPr>
            <a:r>
              <a:rPr sz="3200" b="0" i="0">
                <a:solidFill>
                  <a:srgbClr val="F1F5F9"/>
                </a:solidFill>
                <a:latin typeface="Segoe UI Semibold"/>
              </a:rPr>
              <a:t>Live today. National by design. Chennai only, for now.</a:t>
            </a:r>
          </a:p>
        </p:txBody>
      </p:sp>
      <p:sp>
        <p:nvSpPr>
          <p:cNvPr id="5" name="TextBox 4"/>
          <p:cNvSpPr txBox="1"/>
          <p:nvPr/>
        </p:nvSpPr>
        <p:spPr>
          <a:xfrm>
            <a:off x="685800" y="6419088"/>
            <a:ext cx="5486400" cy="228600"/>
          </a:xfrm>
          <a:prstGeom prst="rect">
            <a:avLst/>
          </a:prstGeom>
          <a:noFill/>
        </p:spPr>
        <p:txBody>
          <a:bodyPr wrap="square" lIns="0" rIns="0" tIns="0" bIns="0" anchor="t">
            <a:spAutoFit/>
          </a:bodyPr>
          <a:lstStyle/>
          <a:p>
            <a:pPr algn="l">
              <a:lnSpc>
                <a:spcPct val="110000"/>
              </a:lnSpc>
            </a:pPr>
            <a:r>
              <a:rPr sz="1000" b="0" i="0">
                <a:solidFill>
                  <a:srgbClr val="94A3B8"/>
                </a:solidFill>
                <a:latin typeface="Segoe UI"/>
              </a:rPr>
              <a:t>SurgeGrid AI  ·  surgegrid.web.app</a:t>
            </a:r>
          </a:p>
        </p:txBody>
      </p:sp>
      <p:sp>
        <p:nvSpPr>
          <p:cNvPr id="6" name="TextBox 5"/>
          <p:cNvSpPr txBox="1"/>
          <p:nvPr/>
        </p:nvSpPr>
        <p:spPr>
          <a:xfrm>
            <a:off x="10607040" y="6419088"/>
            <a:ext cx="914400" cy="228600"/>
          </a:xfrm>
          <a:prstGeom prst="rect">
            <a:avLst/>
          </a:prstGeom>
          <a:noFill/>
        </p:spPr>
        <p:txBody>
          <a:bodyPr wrap="square" lIns="0" rIns="0" tIns="0" bIns="0" anchor="t">
            <a:spAutoFit/>
          </a:bodyPr>
          <a:lstStyle/>
          <a:p>
            <a:pPr algn="r">
              <a:lnSpc>
                <a:spcPct val="110000"/>
              </a:lnSpc>
            </a:pPr>
            <a:r>
              <a:rPr sz="1000" b="0" i="0">
                <a:solidFill>
                  <a:srgbClr val="94A3B8"/>
                </a:solidFill>
                <a:latin typeface="Segoe UI"/>
              </a:rPr>
              <a:t>10 / 12</a:t>
            </a:r>
          </a:p>
        </p:txBody>
      </p:sp>
      <p:sp>
        <p:nvSpPr>
          <p:cNvPr id="7" name="Rounded Rectangle 6"/>
          <p:cNvSpPr/>
          <p:nvPr/>
        </p:nvSpPr>
        <p:spPr>
          <a:xfrm>
            <a:off x="685800" y="1874519"/>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2075688"/>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07568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Live today</a:t>
            </a:r>
          </a:p>
        </p:txBody>
      </p:sp>
      <p:sp>
        <p:nvSpPr>
          <p:cNvPr id="10" name="TextBox 9"/>
          <p:cNvSpPr txBox="1"/>
          <p:nvPr/>
        </p:nvSpPr>
        <p:spPr>
          <a:xfrm>
            <a:off x="960120" y="2697479"/>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surgegrid.web.app: static hosting plus one small Cloud Function. Keyless Gemini, origin allow-list, rate limit.</a:t>
            </a:r>
          </a:p>
        </p:txBody>
      </p:sp>
      <p:sp>
        <p:nvSpPr>
          <p:cNvPr id="11" name="Rounded Rectangle 10"/>
          <p:cNvSpPr/>
          <p:nvPr/>
        </p:nvSpPr>
        <p:spPr>
          <a:xfrm>
            <a:off x="6263640" y="1874519"/>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2075688"/>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207568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National by design</a:t>
            </a:r>
          </a:p>
        </p:txBody>
      </p:sp>
      <p:sp>
        <p:nvSpPr>
          <p:cNvPr id="14" name="TextBox 13"/>
          <p:cNvSpPr txBox="1"/>
          <p:nvPr/>
        </p:nvSpPr>
        <p:spPr>
          <a:xfrm>
            <a:off x="6537959" y="2697479"/>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The MoP 2021 power-sector plan and IMD cyclone classes apply across India. City plans plug in as more quotes.</a:t>
            </a:r>
          </a:p>
        </p:txBody>
      </p:sp>
      <p:sp>
        <p:nvSpPr>
          <p:cNvPr id="15" name="Rounded Rectangle 14"/>
          <p:cNvSpPr/>
          <p:nvPr/>
        </p:nvSpPr>
        <p:spPr>
          <a:xfrm>
            <a:off x="685800" y="4114800"/>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315968"/>
            <a:ext cx="54864"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31596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Repeatable</a:t>
            </a:r>
          </a:p>
        </p:txBody>
      </p:sp>
      <p:sp>
        <p:nvSpPr>
          <p:cNvPr id="18" name="TextBox 17"/>
          <p:cNvSpPr txBox="1"/>
          <p:nvPr/>
        </p:nvSpPr>
        <p:spPr>
          <a:xfrm>
            <a:off x="960120" y="4937760"/>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The scenario builder takes any area and date. City inputs sit in one config file.</a:t>
            </a:r>
          </a:p>
        </p:txBody>
      </p:sp>
      <p:sp>
        <p:nvSpPr>
          <p:cNvPr id="19" name="Rounded Rectangle 18"/>
          <p:cNvSpPr/>
          <p:nvPr/>
        </p:nvSpPr>
        <p:spPr>
          <a:xfrm>
            <a:off x="6263640" y="4114800"/>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4315968"/>
            <a:ext cx="54864" cy="457200"/>
          </a:xfrm>
          <a:prstGeom prst="rect">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431596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The honest bit</a:t>
            </a:r>
          </a:p>
        </p:txBody>
      </p:sp>
      <p:sp>
        <p:nvSpPr>
          <p:cNvPr id="22" name="TextBox 21"/>
          <p:cNvSpPr txBox="1"/>
          <p:nvPr/>
        </p:nvSpPr>
        <p:spPr>
          <a:xfrm>
            <a:off x="6537959" y="4937760"/>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Chennai only today. A new city needs its grid data, its local plan and its flood layers.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EVIDENCE AND HONESTY</a:t>
            </a:r>
          </a:p>
        </p:txBody>
      </p:sp>
      <p:sp>
        <p:nvSpPr>
          <p:cNvPr id="4" name="TextBox 3"/>
          <p:cNvSpPr txBox="1"/>
          <p:nvPr/>
        </p:nvSpPr>
        <p:spPr>
          <a:xfrm>
            <a:off x="685800" y="777240"/>
            <a:ext cx="10789920" cy="914400"/>
          </a:xfrm>
          <a:prstGeom prst="rect">
            <a:avLst/>
          </a:prstGeom>
          <a:noFill/>
        </p:spPr>
        <p:txBody>
          <a:bodyPr wrap="square" lIns="0" rIns="0" tIns="0" bIns="0" anchor="t">
            <a:spAutoFit/>
          </a:bodyPr>
          <a:lstStyle/>
          <a:p>
            <a:pPr algn="l">
              <a:lnSpc>
                <a:spcPct val="100000"/>
              </a:lnSpc>
            </a:pPr>
            <a:r>
              <a:rPr sz="3200" b="0" i="0">
                <a:solidFill>
                  <a:srgbClr val="F1F5F9"/>
                </a:solidFill>
                <a:latin typeface="Segoe UI Semibold"/>
              </a:rPr>
              <a:t>We removed what we couldn't source, and say so.</a:t>
            </a:r>
          </a:p>
        </p:txBody>
      </p:sp>
      <p:sp>
        <p:nvSpPr>
          <p:cNvPr id="5" name="TextBox 4"/>
          <p:cNvSpPr txBox="1"/>
          <p:nvPr/>
        </p:nvSpPr>
        <p:spPr>
          <a:xfrm>
            <a:off x="685800" y="6419088"/>
            <a:ext cx="5486400" cy="228600"/>
          </a:xfrm>
          <a:prstGeom prst="rect">
            <a:avLst/>
          </a:prstGeom>
          <a:noFill/>
        </p:spPr>
        <p:txBody>
          <a:bodyPr wrap="square" lIns="0" rIns="0" tIns="0" bIns="0" anchor="t">
            <a:spAutoFit/>
          </a:bodyPr>
          <a:lstStyle/>
          <a:p>
            <a:pPr algn="l">
              <a:lnSpc>
                <a:spcPct val="110000"/>
              </a:lnSpc>
            </a:pPr>
            <a:r>
              <a:rPr sz="1000" b="0" i="0">
                <a:solidFill>
                  <a:srgbClr val="94A3B8"/>
                </a:solidFill>
                <a:latin typeface="Segoe UI"/>
              </a:rPr>
              <a:t>SurgeGrid AI  ·  surgegrid.web.app</a:t>
            </a:r>
          </a:p>
        </p:txBody>
      </p:sp>
      <p:sp>
        <p:nvSpPr>
          <p:cNvPr id="6" name="TextBox 5"/>
          <p:cNvSpPr txBox="1"/>
          <p:nvPr/>
        </p:nvSpPr>
        <p:spPr>
          <a:xfrm>
            <a:off x="10607040" y="6419088"/>
            <a:ext cx="914400" cy="228600"/>
          </a:xfrm>
          <a:prstGeom prst="rect">
            <a:avLst/>
          </a:prstGeom>
          <a:noFill/>
        </p:spPr>
        <p:txBody>
          <a:bodyPr wrap="square" lIns="0" rIns="0" tIns="0" bIns="0" anchor="t">
            <a:spAutoFit/>
          </a:bodyPr>
          <a:lstStyle/>
          <a:p>
            <a:pPr algn="r">
              <a:lnSpc>
                <a:spcPct val="110000"/>
              </a:lnSpc>
            </a:pPr>
            <a:r>
              <a:rPr sz="1000" b="0" i="0">
                <a:solidFill>
                  <a:srgbClr val="94A3B8"/>
                </a:solidFill>
                <a:latin typeface="Segoe UI"/>
              </a:rPr>
              <a:t>11 / 12</a:t>
            </a:r>
          </a:p>
        </p:txBody>
      </p:sp>
      <p:sp>
        <p:nvSpPr>
          <p:cNvPr id="7" name="Rounded Rectangle 6"/>
          <p:cNvSpPr/>
          <p:nvPr/>
        </p:nvSpPr>
        <p:spPr>
          <a:xfrm>
            <a:off x="685800" y="1874519"/>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2075688"/>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07568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Every plan line is a quote</a:t>
            </a:r>
          </a:p>
        </p:txBody>
      </p:sp>
      <p:sp>
        <p:nvSpPr>
          <p:cNvPr id="10" name="TextBox 9"/>
          <p:cNvSpPr txBox="1"/>
          <p:nvPr/>
        </p:nvSpPr>
        <p:spPr>
          <a:xfrm>
            <a:off x="960120" y="2697479"/>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Word for word, with plan and page. 37 quotes, each checked against the PDF text.</a:t>
            </a:r>
          </a:p>
        </p:txBody>
      </p:sp>
      <p:sp>
        <p:nvSpPr>
          <p:cNvPr id="11" name="Rounded Rectangle 10"/>
          <p:cNvSpPr/>
          <p:nvPr/>
        </p:nvSpPr>
        <p:spPr>
          <a:xfrm>
            <a:off x="6263640" y="1874519"/>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2075688"/>
            <a:ext cx="54864" cy="457200"/>
          </a:xfrm>
          <a:prstGeom prst="rect">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207568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Removed: no plan says it</a:t>
            </a:r>
          </a:p>
        </p:txBody>
      </p:sp>
      <p:sp>
        <p:nvSpPr>
          <p:cNvPr id="14" name="TextBox 13"/>
          <p:cNvSpPr txBox="1"/>
          <p:nvPr/>
        </p:nvSpPr>
        <p:spPr>
          <a:xfrm>
            <a:off x="6537959" y="2697479"/>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Wind and flood trip limits, restoration hours, a five-stage protocol, plinth heights, gang and pump counts.</a:t>
            </a:r>
          </a:p>
        </p:txBody>
      </p:sp>
      <p:sp>
        <p:nvSpPr>
          <p:cNvPr id="15" name="Rounded Rectangle 14"/>
          <p:cNvSpPr/>
          <p:nvPr/>
        </p:nvSpPr>
        <p:spPr>
          <a:xfrm>
            <a:off x="685800" y="4114800"/>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315968"/>
            <a:ext cx="54864"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31596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Official maps, not model depths</a:t>
            </a:r>
          </a:p>
        </p:txBody>
      </p:sp>
      <p:sp>
        <p:nvSpPr>
          <p:cNvPr id="18" name="TextBox 17"/>
          <p:cNvSpPr txBox="1"/>
          <p:nvPr/>
        </p:nvSpPr>
        <p:spPr>
          <a:xfrm>
            <a:off x="960120" y="4937760"/>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Our flood score matched the city's 53 hotspots (AUC 0.76) but not the 2015 satellite map. So we show map checks.</a:t>
            </a:r>
          </a:p>
        </p:txBody>
      </p:sp>
      <p:sp>
        <p:nvSpPr>
          <p:cNvPr id="19" name="Rounded Rectangle 18"/>
          <p:cNvSpPr/>
          <p:nvPr/>
        </p:nvSpPr>
        <p:spPr>
          <a:xfrm>
            <a:off x="6263640" y="4114800"/>
            <a:ext cx="5257800" cy="20116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4315968"/>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4315968"/>
            <a:ext cx="4754880" cy="457200"/>
          </a:xfrm>
          <a:prstGeom prst="rect">
            <a:avLst/>
          </a:prstGeom>
          <a:noFill/>
        </p:spPr>
        <p:txBody>
          <a:bodyPr wrap="square" lIns="0" rIns="0" tIns="0" bIns="0" anchor="ctr">
            <a:spAutoFit/>
          </a:bodyPr>
          <a:lstStyle/>
          <a:p>
            <a:pPr algn="l">
              <a:lnSpc>
                <a:spcPct val="110000"/>
              </a:lnSpc>
            </a:pPr>
            <a:r>
              <a:rPr sz="1800" b="0" i="0">
                <a:solidFill>
                  <a:srgbClr val="F1F5F9"/>
                </a:solidFill>
                <a:latin typeface="Segoe UI Semibold"/>
              </a:rPr>
              <a:t>Live site, Lighthouse</a:t>
            </a:r>
          </a:p>
        </p:txBody>
      </p:sp>
      <p:sp>
        <p:nvSpPr>
          <p:cNvPr id="22" name="TextBox 21"/>
          <p:cNvSpPr txBox="1"/>
          <p:nvPr/>
        </p:nvSpPr>
        <p:spPr>
          <a:xfrm>
            <a:off x="6537959" y="4937760"/>
            <a:ext cx="4754880" cy="1051560"/>
          </a:xfrm>
          <a:prstGeom prst="rect">
            <a:avLst/>
          </a:prstGeom>
          <a:noFill/>
        </p:spPr>
        <p:txBody>
          <a:bodyPr wrap="square" lIns="0" rIns="0" tIns="0" bIns="0" anchor="t">
            <a:spAutoFit/>
          </a:bodyPr>
          <a:lstStyle/>
          <a:p>
            <a:pPr algn="l">
              <a:lnSpc>
                <a:spcPct val="115000"/>
              </a:lnSpc>
            </a:pPr>
            <a:r>
              <a:rPr sz="1600" b="0" i="0">
                <a:solidFill>
                  <a:srgbClr val="94A3B8"/>
                </a:solidFill>
                <a:latin typeface="Segoe UI"/>
              </a:rPr>
              <a:t>Accessibility 100. Desktop performance 91. Mobile performance 54, and we say so.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138160" y="-1097280"/>
            <a:ext cx="5943600" cy="5943600"/>
          </a:xfrm>
          <a:prstGeom prst="ellipse">
            <a:avLst/>
          </a:prstGeom>
          <a:solidFill>
            <a:srgbClr val="0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457200"/>
            <a:ext cx="7315200" cy="274320"/>
          </a:xfrm>
          <a:prstGeom prst="rect">
            <a:avLst/>
          </a:prstGeom>
          <a:noFill/>
        </p:spPr>
        <p:txBody>
          <a:bodyPr wrap="square" lIns="0" rIns="0" tIns="0" bIns="0" anchor="t">
            <a:spAutoFit/>
          </a:bodyPr>
          <a:lstStyle/>
          <a:p>
            <a:pPr algn="l">
              <a:lnSpc>
                <a:spcPct val="110000"/>
              </a:lnSpc>
            </a:pPr>
            <a:r>
              <a:rPr sz="1200" b="0" i="0">
                <a:solidFill>
                  <a:srgbClr val="2DD4BF"/>
                </a:solidFill>
                <a:latin typeface="Segoe UI Semibold"/>
              </a:rPr>
              <a:t>ROADMAP AND CLOSE</a:t>
            </a:r>
          </a:p>
        </p:txBody>
      </p:sp>
      <p:sp>
        <p:nvSpPr>
          <p:cNvPr id="5" name="TextBox 4"/>
          <p:cNvSpPr txBox="1"/>
          <p:nvPr/>
        </p:nvSpPr>
        <p:spPr>
          <a:xfrm>
            <a:off x="685800" y="822960"/>
            <a:ext cx="8686800" cy="1463040"/>
          </a:xfrm>
          <a:prstGeom prst="rect">
            <a:avLst/>
          </a:prstGeom>
          <a:noFill/>
        </p:spPr>
        <p:txBody>
          <a:bodyPr wrap="square" lIns="0" rIns="0" tIns="0" bIns="0" anchor="t">
            <a:spAutoFit/>
          </a:bodyPr>
          <a:lstStyle/>
          <a:p>
            <a:pPr algn="l">
              <a:lnSpc>
                <a:spcPct val="105000"/>
              </a:lnSpc>
            </a:pPr>
            <a:r>
              <a:rPr sz="3400" b="0" i="0">
                <a:solidFill>
                  <a:srgbClr val="F1F5F9"/>
                </a:solidFill>
                <a:latin typeface="Segoe UI Semibold"/>
              </a:rPr>
              <a:t>SurgeGrid AI puts the plan's own words in front of the operator, </a:t>
            </a:r>
            <a:r>
              <a:rPr sz="3400" b="0" i="0">
                <a:solidFill>
                  <a:srgbClr val="2DD4BF"/>
                </a:solidFill>
                <a:latin typeface="Segoe UI Semibold"/>
              </a:rPr>
              <a:t>and makes no rule up.</a:t>
            </a:r>
          </a:p>
        </p:txBody>
      </p:sp>
      <p:sp>
        <p:nvSpPr>
          <p:cNvPr id="6" name="Rounded Rectangle 5"/>
          <p:cNvSpPr/>
          <p:nvPr/>
        </p:nvSpPr>
        <p:spPr>
          <a:xfrm>
            <a:off x="685800" y="2926080"/>
            <a:ext cx="6949440" cy="13258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108960"/>
            <a:ext cx="6400800" cy="365760"/>
          </a:xfrm>
          <a:prstGeom prst="rect">
            <a:avLst/>
          </a:prstGeom>
          <a:noFill/>
        </p:spPr>
        <p:txBody>
          <a:bodyPr wrap="square" lIns="0" rIns="0" tIns="0" bIns="0" anchor="t">
            <a:spAutoFit/>
          </a:bodyPr>
          <a:lstStyle/>
          <a:p>
            <a:pPr algn="l">
              <a:lnSpc>
                <a:spcPct val="110000"/>
              </a:lnSpc>
            </a:pPr>
            <a:r>
              <a:rPr sz="1700" b="0" i="0">
                <a:solidFill>
                  <a:srgbClr val="2DD4BF"/>
                </a:solidFill>
                <a:latin typeface="Segoe UI Semibold"/>
              </a:rPr>
              <a:t>Next</a:t>
            </a:r>
          </a:p>
        </p:txBody>
      </p:sp>
      <p:sp>
        <p:nvSpPr>
          <p:cNvPr id="8" name="TextBox 7"/>
          <p:cNvSpPr txBox="1"/>
          <p:nvPr/>
        </p:nvSpPr>
        <p:spPr>
          <a:xfrm>
            <a:off x="960120" y="3520440"/>
            <a:ext cx="6400800" cy="731520"/>
          </a:xfrm>
          <a:prstGeom prst="rect">
            <a:avLst/>
          </a:prstGeom>
          <a:noFill/>
        </p:spPr>
        <p:txBody>
          <a:bodyPr wrap="square" lIns="0" rIns="0" tIns="0" bIns="0" anchor="t">
            <a:spAutoFit/>
          </a:bodyPr>
          <a:lstStyle/>
          <a:p>
            <a:pPr algn="l">
              <a:lnSpc>
                <a:spcPct val="115000"/>
              </a:lnSpc>
            </a:pPr>
            <a:r>
              <a:rPr sz="1400" b="0" i="0">
                <a:solidFill>
                  <a:srgbClr val="94A3B8"/>
                </a:solidFill>
                <a:latin typeface="Segoe UI"/>
              </a:rPr>
              <a:t>More storms and cities. Substations ranked by homes in mapped flood areas. Hospital and shelter exposure. Finer rain data. Tamil advisories. Faster mobile load.</a:t>
            </a:r>
          </a:p>
        </p:txBody>
      </p:sp>
      <p:sp>
        <p:nvSpPr>
          <p:cNvPr id="9" name="Rounded Rectangle 8"/>
          <p:cNvSpPr/>
          <p:nvPr/>
        </p:nvSpPr>
        <p:spPr>
          <a:xfrm>
            <a:off x="685800" y="4434840"/>
            <a:ext cx="6949440" cy="1325880"/>
          </a:xfrm>
          <a:prstGeom prst="roundRect">
            <a:avLst>
              <a:gd name="adj" fmla="val 6000"/>
            </a:avLst>
          </a:prstGeom>
          <a:solidFill>
            <a:srgbClr val="131D33"/>
          </a:solidFill>
          <a:ln w="9525">
            <a:solidFill>
              <a:srgbClr val="24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4617720"/>
            <a:ext cx="6400800" cy="365760"/>
          </a:xfrm>
          <a:prstGeom prst="rect">
            <a:avLst/>
          </a:prstGeom>
          <a:noFill/>
        </p:spPr>
        <p:txBody>
          <a:bodyPr wrap="square" lIns="0" rIns="0" tIns="0" bIns="0" anchor="t">
            <a:spAutoFit/>
          </a:bodyPr>
          <a:lstStyle/>
          <a:p>
            <a:pPr algn="l">
              <a:lnSpc>
                <a:spcPct val="110000"/>
              </a:lnSpc>
            </a:pPr>
            <a:r>
              <a:rPr sz="1700" b="0" i="0">
                <a:solidFill>
                  <a:srgbClr val="2DD4BF"/>
                </a:solidFill>
                <a:latin typeface="Segoe UI Semibold"/>
              </a:rPr>
              <a:t>Pilot path</a:t>
            </a:r>
          </a:p>
        </p:txBody>
      </p:sp>
      <p:sp>
        <p:nvSpPr>
          <p:cNvPr id="11" name="TextBox 10"/>
          <p:cNvSpPr txBox="1"/>
          <p:nvPr/>
        </p:nvSpPr>
        <p:spPr>
          <a:xfrm>
            <a:off x="960120" y="5029200"/>
            <a:ext cx="6400800" cy="731520"/>
          </a:xfrm>
          <a:prstGeom prst="rect">
            <a:avLst/>
          </a:prstGeom>
          <a:noFill/>
        </p:spPr>
        <p:txBody>
          <a:bodyPr wrap="square" lIns="0" rIns="0" tIns="0" bIns="0" anchor="t">
            <a:spAutoFit/>
          </a:bodyPr>
          <a:lstStyle/>
          <a:p>
            <a:pPr algn="l">
              <a:lnSpc>
                <a:spcPct val="115000"/>
              </a:lnSpc>
            </a:pPr>
            <a:r>
              <a:rPr sz="1400" b="0" i="0">
                <a:solidFill>
                  <a:srgbClr val="94A3B8"/>
                </a:solidFill>
                <a:latin typeface="Segoe UI"/>
              </a:rPr>
              <a:t>A TANGEDCO or GCC control room uses it as a plan-lookup layer on its own grid data.</a:t>
            </a:r>
          </a:p>
        </p:txBody>
      </p:sp>
      <p:sp>
        <p:nvSpPr>
          <p:cNvPr id="12" name="TextBox 11"/>
          <p:cNvSpPr txBox="1"/>
          <p:nvPr/>
        </p:nvSpPr>
        <p:spPr>
          <a:xfrm>
            <a:off x="685800" y="5989320"/>
            <a:ext cx="8229600" cy="365760"/>
          </a:xfrm>
          <a:prstGeom prst="rect">
            <a:avLst/>
          </a:prstGeom>
          <a:noFill/>
        </p:spPr>
        <p:txBody>
          <a:bodyPr wrap="square" lIns="0" rIns="0" tIns="0" bIns="0" anchor="t">
            <a:spAutoFit/>
          </a:bodyPr>
          <a:lstStyle/>
          <a:p>
            <a:pPr algn="l">
              <a:lnSpc>
                <a:spcPct val="110000"/>
              </a:lnSpc>
            </a:pPr>
            <a:r>
              <a:rPr sz="1500" b="0" i="0">
                <a:solidFill>
                  <a:srgbClr val="94A3B8"/>
                </a:solidFill>
                <a:latin typeface="Segoe UI"/>
              </a:rPr>
              <a:t>Live: </a:t>
            </a:r>
            <a:r>
              <a:rPr sz="1500" b="0" i="0">
                <a:solidFill>
                  <a:srgbClr val="2DD4BF"/>
                </a:solidFill>
                <a:latin typeface="Segoe UI Semibold"/>
              </a:rPr>
              <a:t>surgegrid.web.app</a:t>
            </a:r>
            <a:r>
              <a:rPr sz="1500" b="0" i="0">
                <a:solidFill>
                  <a:srgbClr val="94A3B8"/>
                </a:solidFill>
                <a:latin typeface="Segoe UI"/>
              </a:rPr>
              <a:t>     Repo: </a:t>
            </a:r>
            <a:r>
              <a:rPr sz="1500" b="0" i="0">
                <a:solidFill>
                  <a:srgbClr val="2DD4BF"/>
                </a:solidFill>
                <a:latin typeface="Segoe UI Semibold"/>
              </a:rPr>
              <a:t>github.com/rsiva2294/surgegrid-ai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