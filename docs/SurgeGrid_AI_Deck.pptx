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line: we built a tool a control room can trust because nothing on screen is invented.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pain is not missing plans. It is finding and applying them under pressure.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our differentiator: trust. A wrong invented trip level is worse than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four things in that order during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Gemini is the last step and cannot change the quotes.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checked our satellite rain station by station against IMD's own gauges (17 gauges matched by exact name, coordinates from the Tamil Nadu gauge list; 7, 16 and 9 stations on 3, 4 and 5 Dec). The satellite cell held about a third of the gauge total on 3 Dec and two-thirds to three-quarters after, so the early steps look quieter than the gauges say. We show that and do not scale it up. Our wind (37 km/h) is also below IMD's Chennai stations (56 to 68 km/h, gusts 75 to 90). We deleted our earlier synthetic cyclone and two other events to focus on one real storm.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Meaningful AI work, with a safety design judges can inspect in gemini-proxy/ and geminiSopService.ts.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quote and page number: 'this is the plan's own text'.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Judges reward honesty here; say the gaps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claim more than this; present it as the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proof of engineering judgement, not a weakness.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 with the live URL and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-1097280"/>
            <a:ext cx="5943600" cy="5943600"/>
          </a:xfrm>
          <a:prstGeom prst="ellipse">
            <a:avLst/>
          </a:prstGeom>
          <a:solidFill>
            <a:srgbClr val="0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3291840"/>
            <a:ext cx="4023360" cy="4023360"/>
          </a:xfrm>
          <a:prstGeom prst="ellipse">
            <a:avLst/>
          </a:prstGeom>
          <a:solidFill>
            <a:srgbClr val="12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ew-logo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008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737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DD4BF"/>
                </a:solidFill>
                <a:latin typeface="Segoe UI Semibold"/>
              </a:rPr>
              <a:t>HACKATHON  ·  BUILD WITH AI: CODE FOR COMMUNITIES  ·  TRACK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0" b="0" i="0">
                <a:solidFill>
                  <a:srgbClr val="F1F5F9"/>
                </a:solidFill>
                <a:latin typeface="Segoe UI Semibold"/>
              </a:rPr>
              <a:t>SurgeGrid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8412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F1F5F9"/>
                </a:solidFill>
                <a:latin typeface="Segoe UI Semibold"/>
              </a:rPr>
              <a:t>What the plan says, </a:t>
            </a:r>
            <a:r>
              <a:rPr sz="3200" b="0" i="0">
                <a:solidFill>
                  <a:srgbClr val="2DD4BF"/>
                </a:solidFill>
                <a:latin typeface="Segoe UI Semibold"/>
              </a:rPr>
              <a:t>at the substation, at the right hour.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0916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94A3B8"/>
                </a:solidFill>
                <a:latin typeface="Segoe UI"/>
              </a:rPr>
              <a:t>Chennai's power grid and flood console. Real rain, official maps, quoted plans.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943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DD4BF"/>
                </a:solidFill>
                <a:latin typeface="Segoe UI Semibold"/>
              </a:rPr>
              <a:t>surgegrid.web.app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DD4BF"/>
                </a:solidFill>
                <a:latin typeface="Segoe UI Semibold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5F9"/>
                </a:solidFill>
                <a:latin typeface="Segoe UI Semibold"/>
              </a:rPr>
              <a:t>The plans exist. Finding the right line in time is the hard part.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SurgeGrid AI  ·  surgegrid.web.app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3520440" cy="301752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0" i="0">
                <a:solidFill>
                  <a:srgbClr val="2DD4BF"/>
                </a:solidFill>
                <a:latin typeface="Segoe UI Semibold"/>
              </a:rPr>
              <a:t>2.0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54680"/>
            <a:ext cx="2971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Segoe UI"/>
              </a:rPr>
              <a:t>Chennai averages "barely 2.0 m above mean sea level".
GCC City Disaster Management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011680"/>
            <a:ext cx="3520440" cy="301752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24028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0" i="0">
                <a:solidFill>
                  <a:srgbClr val="F59E0B"/>
                </a:solidFill>
                <a:latin typeface="Segoe UI Semibold"/>
              </a:rPr>
              <a:t>6 ft · 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154680"/>
            <a:ext cx="2971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Segoe UI"/>
              </a:rPr>
              <a:t>2015 floods: water up to 6 feet in substations, and 41 substations kept off.
TANGEDCO Disaster Management Plan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011680"/>
            <a:ext cx="3520440" cy="301752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24028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0" i="0">
                <a:solidFill>
                  <a:srgbClr val="FB7185"/>
                </a:solidFill>
                <a:latin typeface="Segoe UI Semibold"/>
              </a:rPr>
              <a:t>Vardah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154680"/>
            <a:ext cx="2971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Segoe UI"/>
              </a:rPr>
              <a:t>2016 cyclone: supply cut in many parts; fallen trees delayed restoration.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303520"/>
            <a:ext cx="10835640" cy="777240"/>
          </a:xfrm>
          <a:prstGeom prst="roundRect">
            <a:avLst>
              <a:gd name="adj" fmla="val 6000"/>
            </a:avLst>
          </a:prstGeom>
          <a:solidFill>
            <a:srgbClr val="0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303520"/>
            <a:ext cx="10332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1F5F9"/>
                </a:solidFill>
                <a:latin typeface="Segoe UI Semibold"/>
              </a:rPr>
              <a:t>A control room has minutes, not hours, to find the right line for the right substation.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DD4BF"/>
                </a:solidFill>
                <a:latin typeface="Segoe UI Semibold"/>
              </a:rPr>
              <a:t>OUR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5F9"/>
                </a:solidFill>
                <a:latin typeface="Segoe UI Semibold"/>
              </a:rPr>
              <a:t>The plans never give a number that forces a shut-off. So we don't invent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SurgeGrid AI  ·  surgegrid.web.app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10835640" cy="1371600"/>
          </a:xfrm>
          <a:prstGeom prst="roundRect">
            <a:avLst>
              <a:gd name="adj" fmla="val 6000"/>
            </a:avLst>
          </a:prstGeom>
          <a:solidFill>
            <a:srgbClr val="0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102412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F1F5F9"/>
                </a:solidFill>
                <a:latin typeface="Segoe UI Semibold"/>
              </a:rPr>
              <a:t>Official plans: supply may be switched off </a:t>
            </a:r>
            <a:r>
              <a:rPr sz="2400" b="0" i="0">
                <a:solidFill>
                  <a:srgbClr val="2DD4BF"/>
                </a:solidFill>
                <a:latin typeface="Segoe UI Semibold"/>
              </a:rPr>
              <a:t>"if required"</a:t>
            </a:r>
            <a:r>
              <a:rPr sz="2400" b="0" i="0">
                <a:solidFill>
                  <a:srgbClr val="F1F5F9"/>
                </a:solidFill>
                <a:latin typeface="Segoe UI Semibold"/>
              </a:rPr>
              <a:t>. No wind speed or flood depth is given.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66160"/>
            <a:ext cx="5257800" cy="251460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767328"/>
            <a:ext cx="54864" cy="4572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76732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1F5F9"/>
                </a:solidFill>
                <a:latin typeface="Segoe UI Semibold"/>
              </a:rPr>
              <a:t>Many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8912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4A3B8"/>
                </a:solidFill>
                <a:latin typeface="Segoe UI"/>
              </a:rPr>
              <a:t>Invent thresholds and present them as rules.
A control room cannot tell which numbers are official.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566160"/>
            <a:ext cx="5257800" cy="251460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3767328"/>
            <a:ext cx="54864" cy="4572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376732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1F5F9"/>
                </a:solidFill>
                <a:latin typeface="Segoe UI Semibold"/>
              </a:rPr>
              <a:t>SurgeGrid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438912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4A3B8"/>
                </a:solidFill>
                <a:latin typeface="Segoe UI"/>
              </a:rPr>
              <a:t>We checked four plans and removed every rule they do not contain.
The screen shows an operator decision, backed by the exact quote.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DD4BF"/>
                </a:solidFill>
                <a:latin typeface="Segoe UI Semibold"/>
              </a:rPr>
              <a:t>WHAT SURGEGRID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5F9"/>
                </a:solidFill>
                <a:latin typeface="Segoe UI Semibold"/>
              </a:rPr>
              <a:t>Four things, in the order a control room needs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SurgeGrid AI  ·  surgegrid.web.app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5257800" cy="201168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75688"/>
            <a:ext cx="54864" cy="4572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7568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1F5F9"/>
                </a:solidFill>
                <a:latin typeface="Segoe UI Semibold"/>
              </a:rPr>
              <a:t>1  Replay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79"/>
            <a:ext cx="47548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4A3B8"/>
                </a:solidFill>
                <a:latin typeface="Segoe UI"/>
              </a:rPr>
              <a:t>Cyclone Michaung in five steps: two before the peak, the peak, two after. Rain by area on the map.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257800" cy="201168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075688"/>
            <a:ext cx="54864" cy="4572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207568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1F5F9"/>
                </a:solidFill>
                <a:latin typeface="Segoe UI Semibold"/>
              </a:rPr>
              <a:t>2  Exposure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697479"/>
            <a:ext cx="47548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4A3B8"/>
                </a:solidFill>
                <a:latin typeface="Segoe UI"/>
              </a:rPr>
              <a:t>286 substations: yard elevation, official flood maps, and an exposed-now list at each step.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069080"/>
            <a:ext cx="5257800" cy="201168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270248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7024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1F5F9"/>
                </a:solidFill>
                <a:latin typeface="Segoe UI Semibold"/>
              </a:rPr>
              <a:t>3  AI Directive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92040"/>
            <a:ext cx="47548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4A3B8"/>
                </a:solidFill>
                <a:latin typeface="Segoe UI"/>
              </a:rPr>
              <a:t>The official actions for this hour, each a quote with plan and page, and the substations they apply 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069080"/>
            <a:ext cx="5257800" cy="201168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4270248"/>
            <a:ext cx="54864" cy="4572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427024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1F5F9"/>
                </a:solidFill>
                <a:latin typeface="Segoe UI Semibold"/>
              </a:rPr>
              <a:t>4  Substation card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4892040"/>
            <a:ext cx="47548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4A3B8"/>
                </a:solidFill>
                <a:latin typeface="Segoe UI"/>
              </a:rPr>
              <a:t>Flood facts, a copilot with quoted actions, GCC relief centres for the ward, and a backup suggestion.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DD4BF"/>
                </a:solidFill>
                <a:latin typeface="Segoe UI Semibold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5F9"/>
                </a:solidFill>
                <a:latin typeface="Segoe UI Semibold"/>
              </a:rPr>
              <a:t>Real data in. Rules choose. Quotes speak. Gemini adds one note.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SurgeGrid AI  ·  surgegrid.web.app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2011680" cy="310896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11680"/>
            <a:ext cx="2011680" cy="8229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1F5F9"/>
                </a:solidFill>
                <a:latin typeface="Segoe UI Semibold"/>
              </a:rPr>
              <a:t>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16459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4A3B8"/>
                </a:solidFill>
                <a:latin typeface="Segoe UI"/>
              </a:rPr>
              <a:t>NASA IMERG rain
ERA5-Land wind
SRTM terrain
OpenCity flood maps
TNEB grid
Live TANGEDCO notices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3291840"/>
            <a:ext cx="2560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 i="0">
                <a:solidFill>
                  <a:srgbClr val="94A3B8"/>
                </a:solidFill>
                <a:latin typeface="Segoe UI Semibold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011680"/>
            <a:ext cx="2011680" cy="310896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360" y="2011680"/>
            <a:ext cx="2011680" cy="82296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22860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1F5F9"/>
                </a:solidFill>
                <a:latin typeface="Segoe UI Semibold"/>
              </a:rPr>
              <a:t>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788920"/>
            <a:ext cx="16459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4A3B8"/>
                </a:solidFill>
                <a:latin typeface="Segoe UI"/>
              </a:rPr>
              <a:t>Phase from the data:
watch, impact,
restoration.
Pick the substations.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291840"/>
            <a:ext cx="2560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 i="0">
                <a:solidFill>
                  <a:srgbClr val="94A3B8"/>
                </a:solidFill>
                <a:latin typeface="Segoe UI Semibold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2011680"/>
            <a:ext cx="2011680" cy="310896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74920" y="2011680"/>
            <a:ext cx="201168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22860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1F5F9"/>
                </a:solidFill>
                <a:latin typeface="Segoe UI Semibold"/>
              </a:rPr>
              <a:t>37 quotes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788920"/>
            <a:ext cx="16459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4A3B8"/>
                </a:solidFill>
                <a:latin typeface="Segoe UI"/>
              </a:rPr>
              <a:t>Word for word,
with plan and page,
from four official
plans.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291840"/>
            <a:ext cx="2560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 i="0">
                <a:solidFill>
                  <a:srgbClr val="94A3B8"/>
                </a:solidFill>
                <a:latin typeface="Segoe UI Semibold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011680"/>
            <a:ext cx="2011680" cy="310896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69480" y="2011680"/>
            <a:ext cx="2011680" cy="8229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22860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1F5F9"/>
                </a:solidFill>
                <a:latin typeface="Segoe UI Semibold"/>
              </a:rPr>
              <a:t>Gemini 2.5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788920"/>
            <a:ext cx="16459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4A3B8"/>
                </a:solidFill>
                <a:latin typeface="Segoe UI"/>
              </a:rPr>
              <a:t>Words one short
note. Cannot write
or change a quote.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3291840"/>
            <a:ext cx="2560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 i="0">
                <a:solidFill>
                  <a:srgbClr val="94A3B8"/>
                </a:solidFill>
                <a:latin typeface="Segoe UI Semibold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64040" y="2011680"/>
            <a:ext cx="2011680" cy="310896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64040" y="2011680"/>
            <a:ext cx="2011680" cy="8229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6920" y="22860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1F5F9"/>
                </a:solidFill>
                <a:latin typeface="Segoe UI Semibold"/>
              </a:rPr>
              <a:t>Screen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2788920"/>
            <a:ext cx="16459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4A3B8"/>
                </a:solidFill>
                <a:latin typeface="Segoe UI"/>
              </a:rPr>
              <a:t>AI Directive and
substation card.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440680"/>
            <a:ext cx="10835640" cy="64008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44068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94A3B8"/>
                </a:solidFill>
                <a:latin typeface="Segoe UI"/>
              </a:rPr>
              <a:t>Runs on Google Maps Platform  ·  Earth Engine (scenario data)  ·  Gemini via a Cloud Function  ·  Firebase Hosting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DD4BF"/>
                </a:solidFill>
                <a:latin typeface="Segoe UI Semibold"/>
              </a:rPr>
              <a:t>REAL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5F9"/>
                </a:solidFill>
                <a:latin typeface="Segoe UI Semibold"/>
              </a:rPr>
              <a:t>No synthetic storms. Everything replayed is real rain and wind.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SurgeGrid AI  ·  surgegrid.web.app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6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74519"/>
          <a:ext cx="6400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94A3B8"/>
                          </a:solidFill>
                          <a:latin typeface="Segoe UI Semibold"/>
                        </a:rPr>
                        <a:t>Michaung, Dec 2023 (medians)</a:t>
                      </a:r>
                    </a:p>
                  </a:txBody>
                  <a:tcPr anchor="ctr" marL="182880">
                    <a:solidFill>
                      <a:srgbClr val="24335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94A3B8"/>
                          </a:solidFill>
                          <a:latin typeface="Segoe UI Semibold"/>
                        </a:rPr>
                        <a:t>Satellite cell</a:t>
                      </a:r>
                    </a:p>
                  </a:txBody>
                  <a:tcPr anchor="ctr" marL="182880">
                    <a:solidFill>
                      <a:srgbClr val="24335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94A3B8"/>
                          </a:solidFill>
                          <a:latin typeface="Segoe UI Semibold"/>
                        </a:rPr>
                        <a:t>IMD gauge</a:t>
                      </a:r>
                    </a:p>
                  </a:txBody>
                  <a:tcPr anchor="ctr" marL="182880">
                    <a:solidFill>
                      <a:srgbClr val="24335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1F5F9"/>
                          </a:solidFill>
                          <a:latin typeface="Segoe UI"/>
                        </a:rPr>
                        <a:t>24 h to 08:30 IST, 3 Dec</a:t>
                      </a:r>
                    </a:p>
                  </a:txBody>
                  <a:tcPr anchor="ctr" marL="182880"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>
                          <a:solidFill>
                            <a:srgbClr val="2DD4BF"/>
                          </a:solidFill>
                          <a:latin typeface="Segoe UI"/>
                        </a:rPr>
                        <a:t>30 mm</a:t>
                      </a:r>
                    </a:p>
                  </a:txBody>
                  <a:tcPr anchor="ctr" marL="182880"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>
                          <a:solidFill>
                            <a:srgbClr val="2DD4BF"/>
                          </a:solidFill>
                          <a:latin typeface="Segoe UI"/>
                        </a:rPr>
                        <a:t>80 mm</a:t>
                      </a:r>
                    </a:p>
                  </a:txBody>
                  <a:tcPr anchor="ctr" marL="182880">
                    <a:solidFill>
                      <a:srgbClr val="131D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1F5F9"/>
                          </a:solidFill>
                          <a:latin typeface="Segoe UI"/>
                        </a:rPr>
                        <a:t>24 h to 08:30 IST, 4 Dec</a:t>
                      </a:r>
                    </a:p>
                  </a:txBody>
                  <a:tcPr anchor="ctr" marL="182880"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>
                          <a:solidFill>
                            <a:srgbClr val="2DD4BF"/>
                          </a:solidFill>
                          <a:latin typeface="Segoe UI"/>
                        </a:rPr>
                        <a:t>147 mm</a:t>
                      </a:r>
                    </a:p>
                  </a:txBody>
                  <a:tcPr anchor="ctr" marL="182880"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>
                          <a:solidFill>
                            <a:srgbClr val="2DD4BF"/>
                          </a:solidFill>
                          <a:latin typeface="Segoe UI"/>
                        </a:rPr>
                        <a:t>190 mm</a:t>
                      </a:r>
                    </a:p>
                  </a:txBody>
                  <a:tcPr anchor="ctr" marL="182880">
                    <a:solidFill>
                      <a:srgbClr val="131D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1F5F9"/>
                          </a:solidFill>
                          <a:latin typeface="Segoe UI"/>
                        </a:rPr>
                        <a:t>24 h to 08:30 IST, 5 Dec</a:t>
                      </a:r>
                    </a:p>
                  </a:txBody>
                  <a:tcPr anchor="ctr" marL="182880"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>
                          <a:solidFill>
                            <a:srgbClr val="2DD4BF"/>
                          </a:solidFill>
                          <a:latin typeface="Segoe UI"/>
                        </a:rPr>
                        <a:t>115 mm</a:t>
                      </a:r>
                    </a:p>
                  </a:txBody>
                  <a:tcPr anchor="ctr" marL="182880"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>
                          <a:solidFill>
                            <a:srgbClr val="2DD4BF"/>
                          </a:solidFill>
                          <a:latin typeface="Segoe UI"/>
                        </a:rPr>
                        <a:t>170 mm</a:t>
                      </a:r>
                    </a:p>
                  </a:txBody>
                  <a:tcPr anchor="ctr" marL="182880">
                    <a:solidFill>
                      <a:srgbClr val="131D33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60920" y="1874519"/>
            <a:ext cx="4160520" cy="219456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2103120"/>
            <a:ext cx="36118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0" i="0">
                <a:solidFill>
                  <a:srgbClr val="818CF8"/>
                </a:solidFill>
                <a:latin typeface="Segoe UI Semibold"/>
              </a:rPr>
              <a:t>286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017520"/>
            <a:ext cx="36118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Segoe UI"/>
              </a:rPr>
              <a:t>substations, 2,678 feeders, 65,557 transformers, about 4.9 million consumers on mapped transformers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34340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5720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0" i="0">
                <a:solidFill>
                  <a:srgbClr val="F59E0B"/>
                </a:solidFill>
                <a:latin typeface="Segoe UI Semibold"/>
              </a:rPr>
              <a:t>48 · 114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48640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Segoe UI"/>
              </a:rPr>
              <a:t>substations inside the 2015 flood extent · inside the 100-year flood-hazard 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34340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5720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0" i="0">
                <a:solidFill>
                  <a:srgbClr val="FB7185"/>
                </a:solidFill>
                <a:latin typeface="Segoe UI Semibold"/>
              </a:rPr>
              <a:t>162 · 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48640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Segoe UI"/>
              </a:rPr>
              <a:t>GCC relief centres · wards they cover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DD4BF"/>
                </a:solidFill>
                <a:latin typeface="Segoe UI Semibold"/>
              </a:rPr>
              <a:t>THE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5F9"/>
                </a:solidFill>
                <a:latin typeface="Segoe UI Semibold"/>
              </a:rPr>
              <a:t>What Gemini does, and what it never does.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SurgeGrid AI  ·  surgegrid.web.app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75688"/>
            <a:ext cx="54864" cy="4572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7568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1F5F9"/>
                </a:solidFill>
                <a:latin typeface="Segoe UI Semibold"/>
              </a:rPr>
              <a:t>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79"/>
            <a:ext cx="475488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4A3B8"/>
                </a:solidFill>
                <a:latin typeface="Segoe UI"/>
              </a:rPr>
              <a:t>Picks substation and feeder names from lists we send.
Writes one short note, or a live-day summary of our data.
Gemini 2.5 Flash on Google Cloud, no API key in the app.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075688"/>
            <a:ext cx="54864" cy="4572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207568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1F5F9"/>
                </a:solidFill>
                <a:latin typeface="Segoe UI Semibold"/>
              </a:rPr>
              <a:t>Never does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697479"/>
            <a:ext cx="475488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4A3B8"/>
                </a:solidFill>
                <a:latin typeface="Segoe UI"/>
              </a:rPr>
              <a:t>Write, reword or cite the plan quotes.
Invent a number: a note with a number not in the prompt is discarded.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4805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DD4BF"/>
                </a:solidFill>
                <a:latin typeface="Segoe UI Semibold"/>
              </a:rPr>
              <a:t>GUARDRAILS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846320"/>
            <a:ext cx="2560320" cy="123444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83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1F5F9"/>
                </a:solidFill>
                <a:latin typeface="Segoe UI Semibold"/>
              </a:rPr>
              <a:t>Fixed answer format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4406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4A3B8"/>
                </a:solidFill>
                <a:latin typeface="Segoe UI"/>
              </a:rPr>
              <a:t>JSON schema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47288" y="4846320"/>
            <a:ext cx="2560320" cy="123444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4983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1F5F9"/>
                </a:solidFill>
                <a:latin typeface="Segoe UI Semibold"/>
              </a:rPr>
              <a:t>Names filtered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54406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4A3B8"/>
                </a:solidFill>
                <a:latin typeface="Segoe UI"/>
              </a:rPr>
              <a:t>to our lists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4846320"/>
            <a:ext cx="2560320" cy="123444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4983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1F5F9"/>
                </a:solidFill>
                <a:latin typeface="Segoe UI Semibold"/>
              </a:rPr>
              <a:t>Numbers checked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54406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4A3B8"/>
                </a:solidFill>
                <a:latin typeface="Segoe UI"/>
              </a:rPr>
              <a:t>against the prompt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0264" y="4846320"/>
            <a:ext cx="2560320" cy="123444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3144" y="4983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1F5F9"/>
                </a:solidFill>
                <a:latin typeface="Segoe UI Semibold"/>
              </a:rPr>
              <a:t>Gemini down?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3144" y="54406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4A3B8"/>
                </a:solidFill>
                <a:latin typeface="Segoe UI"/>
              </a:rPr>
              <a:t>Same quotes, rule-based notes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DD4BF"/>
                </a:solidFill>
                <a:latin typeface="Segoe UI Semibold"/>
              </a:rPr>
              <a:t>LIVE DEMO  ·  ABOUT 3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5F9"/>
                </a:solidFill>
                <a:latin typeface="Segoe UI Semibold"/>
              </a:rPr>
              <a:t>Watch one storm go from watch to restoration.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SurgeGrid AI  ·  surgegrid.web.app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10835640" cy="77724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29967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2996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 i="0">
                <a:solidFill>
                  <a:srgbClr val="0B1220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74519"/>
            <a:ext cx="9784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1F5F9"/>
                </a:solidFill>
                <a:latin typeface="Segoe UI"/>
              </a:rPr>
              <a:t>Open the site, pick Michaung. It starts at T-24h. The satellite rain is nearly clear (IMD's gauges read higher). The AI Directive shows 6 quoted actions with page numbers.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61487"/>
            <a:ext cx="10835640" cy="77724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916935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1693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 i="0">
                <a:solidFill>
                  <a:srgbClr val="0B1220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61487"/>
            <a:ext cx="9784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1F5F9"/>
                </a:solidFill>
                <a:latin typeface="Segoe UI"/>
              </a:rPr>
              <a:t>Press play: five steps, 6 seconds each. Rain fills in by cell, exposed substations get red rings, and IMD's own bulletin for each step is quoted under the timeline.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48455"/>
            <a:ext cx="10835640" cy="77724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803903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03903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 i="0">
                <a:solidFill>
                  <a:srgbClr val="0B1220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648455"/>
            <a:ext cx="9784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1F5F9"/>
                </a:solidFill>
                <a:latin typeface="Segoe UI"/>
              </a:rPr>
              <a:t>Point at a cell for its 24-hour rain and IMD class. Switch on the fixed official flood maps.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35423"/>
            <a:ext cx="10835640" cy="77724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690871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690871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 i="0">
                <a:solidFill>
                  <a:srgbClr val="0B1220"/>
                </a:solidFill>
                <a:latin typeface="Segoe UI Semi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535423"/>
            <a:ext cx="9784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1F5F9"/>
                </a:solidFill>
                <a:latin typeface="Segoe UI"/>
              </a:rPr>
              <a:t>Open a low-lying substation: status line, Overview (flood facts), then Respond: copilot actions, relief centre, backup.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422391"/>
            <a:ext cx="10835640" cy="77724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8680" y="5577839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57783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 i="0">
                <a:solidFill>
                  <a:srgbClr val="0B1220"/>
                </a:solidFill>
                <a:latin typeface="Segoe UI Semibold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422391"/>
            <a:ext cx="9784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1F5F9"/>
                </a:solidFill>
                <a:latin typeface="Segoe UI"/>
              </a:rPr>
              <a:t>Open a substation inside no flood layer. It stays quiet: no false alarms.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DD4BF"/>
                </a:solidFill>
                <a:latin typeface="Segoe UI Semibold"/>
              </a:rPr>
              <a:t>TRACK 5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5F9"/>
                </a:solidFill>
                <a:latin typeface="Segoe UI Semibold"/>
              </a:rPr>
              <a:t>What the brief asks, what we deliver, and the honest gaps.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SurgeGrid AI  ·  surgegrid.web.app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9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108356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154680"/>
              </a:tblGrid>
              <a:tr h="701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94A3B8"/>
                          </a:solidFill>
                          <a:latin typeface="Segoe UI Semibold"/>
                        </a:rPr>
                        <a:t>The brief asks</a:t>
                      </a:r>
                    </a:p>
                  </a:txBody>
                  <a:tcPr anchor="ctr" marL="182880">
                    <a:solidFill>
                      <a:srgbClr val="2433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94A3B8"/>
                          </a:solidFill>
                          <a:latin typeface="Segoe UI Semibold"/>
                        </a:rPr>
                        <a:t>We deliver</a:t>
                      </a:r>
                    </a:p>
                  </a:txBody>
                  <a:tcPr anchor="ctr" marL="182880">
                    <a:solidFill>
                      <a:srgbClr val="2433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94A3B8"/>
                          </a:solidFill>
                          <a:latin typeface="Segoe UI Semibold"/>
                        </a:rPr>
                        <a:t>Honest gap</a:t>
                      </a:r>
                    </a:p>
                  </a:txBody>
                  <a:tcPr anchor="ctr" marL="182880">
                    <a:solidFill>
                      <a:srgbClr val="24335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1F5F9"/>
                          </a:solidFill>
                          <a:latin typeface="Segoe UI"/>
                        </a:rPr>
                        <a:t>Earth Engine + real met data</a:t>
                      </a:r>
                    </a:p>
                  </a:txBody>
                  <a:tcPr anchor="ctr" marL="182880"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1F5F9"/>
                          </a:solidFill>
                          <a:latin typeface="Segoe UI"/>
                        </a:rPr>
                        <a:t>IMERG rain, ERA5-Land wind, SRTM; Google Weather API</a:t>
                      </a:r>
                    </a:p>
                  </a:txBody>
                  <a:tcPr anchor="ctr" marL="182880"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9E0B"/>
                          </a:solidFill>
                          <a:latin typeface="Segoe UI"/>
                        </a:rPr>
                        <a:t>Wind is an area average</a:t>
                      </a:r>
                    </a:p>
                  </a:txBody>
                  <a:tcPr anchor="ctr" marL="182880">
                    <a:solidFill>
                      <a:srgbClr val="131D33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1F5F9"/>
                          </a:solidFill>
                          <a:latin typeface="Segoe UI"/>
                        </a:rPr>
                        <a:t>Simulate storm scenarios</a:t>
                      </a:r>
                    </a:p>
                  </a:txBody>
                  <a:tcPr anchor="ctr" marL="182880"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1F5F9"/>
                          </a:solidFill>
                          <a:latin typeface="Segoe UI"/>
                        </a:rPr>
                        <a:t>One real hindcast (Michaung), five steps, rain by area</a:t>
                      </a:r>
                    </a:p>
                  </a:txBody>
                  <a:tcPr anchor="ctr" marL="182880"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9E0B"/>
                          </a:solidFill>
                          <a:latin typeface="Segoe UI"/>
                        </a:rPr>
                        <a:t>No storm surge or track; no flood prediction</a:t>
                      </a:r>
                    </a:p>
                  </a:txBody>
                  <a:tcPr anchor="ctr" marL="182880">
                    <a:solidFill>
                      <a:srgbClr val="131D33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1F5F9"/>
                          </a:solidFill>
                          <a:latin typeface="Segoe UI"/>
                        </a:rPr>
                        <a:t>Map grid and shelter exposure</a:t>
                      </a:r>
                    </a:p>
                  </a:txBody>
                  <a:tcPr anchor="ctr" marL="182880"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1F5F9"/>
                          </a:solidFill>
                          <a:latin typeface="Segoe UI"/>
                        </a:rPr>
                        <a:t>286 substations checked; 162 relief centres by ward</a:t>
                      </a:r>
                    </a:p>
                  </a:txBody>
                  <a:tcPr anchor="ctr" marL="182880"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9E0B"/>
                          </a:solidFill>
                          <a:latin typeface="Segoe UI"/>
                        </a:rPr>
                        <a:t>Centres have no coordinates</a:t>
                      </a:r>
                    </a:p>
                  </a:txBody>
                  <a:tcPr anchor="ctr" marL="182880">
                    <a:solidFill>
                      <a:srgbClr val="131D33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1F5F9"/>
                          </a:solidFill>
                          <a:latin typeface="Segoe UI"/>
                        </a:rPr>
                        <a:t>Early-warning advisories</a:t>
                      </a:r>
                    </a:p>
                  </a:txBody>
                  <a:tcPr anchor="ctr" marL="182880"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1F5F9"/>
                          </a:solidFill>
                          <a:latin typeface="Segoe UI"/>
                        </a:rPr>
                        <a:t>Quoted actions per hour and substation; copy-SMS</a:t>
                      </a:r>
                    </a:p>
                  </a:txBody>
                  <a:tcPr anchor="ctr" marL="182880"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9E0B"/>
                          </a:solidFill>
                          <a:latin typeface="Segoe UI"/>
                        </a:rPr>
                        <a:t>No automatic dispatch</a:t>
                      </a:r>
                    </a:p>
                  </a:txBody>
                  <a:tcPr anchor="ctr" marL="182880">
                    <a:solidFill>
                      <a:srgbClr val="131D33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1F5F9"/>
                          </a:solidFill>
                          <a:latin typeface="Segoe UI"/>
                        </a:rPr>
                        <a:t>Gemini reasoning</a:t>
                      </a:r>
                    </a:p>
                  </a:txBody>
                  <a:tcPr anchor="ctr" marL="182880"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1F5F9"/>
                          </a:solidFill>
                          <a:latin typeface="Segoe UI"/>
                        </a:rPr>
                        <a:t>Gemini 2.5 Flash notes with guardrails</a:t>
                      </a:r>
                    </a:p>
                  </a:txBody>
                  <a:tcPr anchor="ctr" marL="182880"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9E0B"/>
                          </a:solidFill>
                          <a:latin typeface="Segoe UI"/>
                        </a:rPr>
                        <a:t>Not multimodal</a:t>
                      </a:r>
                    </a:p>
                  </a:txBody>
                  <a:tcPr anchor="ctr" marL="182880">
                    <a:solidFill>
                      <a:srgbClr val="131D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DD4BF"/>
                </a:solidFill>
                <a:latin typeface="Segoe UI Semibold"/>
              </a:rPr>
              <a:t>BUILT FOR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5F9"/>
                </a:solidFill>
                <a:latin typeface="Segoe UI Semibold"/>
              </a:rPr>
              <a:t>Live today. National by design. Chennai only, for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SurgeGrid AI  ·  surgegrid.web.app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10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5257800" cy="201168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75688"/>
            <a:ext cx="54864" cy="4572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7568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1F5F9"/>
                </a:solidFill>
                <a:latin typeface="Segoe UI Semibold"/>
              </a:rPr>
              <a:t>Live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79"/>
            <a:ext cx="47548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4A3B8"/>
                </a:solidFill>
                <a:latin typeface="Segoe UI"/>
              </a:rPr>
              <a:t>surgegrid.web.app: static hosting plus one small Cloud Function. Keyless Gemini, origin allow-list, rate limit.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257800" cy="201168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075688"/>
            <a:ext cx="54864" cy="4572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207568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1F5F9"/>
                </a:solidFill>
                <a:latin typeface="Segoe UI Semibold"/>
              </a:rPr>
              <a:t>National by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697479"/>
            <a:ext cx="47548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4A3B8"/>
                </a:solidFill>
                <a:latin typeface="Segoe UI"/>
              </a:rPr>
              <a:t>The MoP 2021 power-sector plan and IMD cyclone classes apply across India. City plans plug in as more quotes.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14800"/>
            <a:ext cx="5257800" cy="201168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315968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31596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1F5F9"/>
                </a:solidFill>
                <a:latin typeface="Segoe UI Semibold"/>
              </a:rPr>
              <a:t>Repeatable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937760"/>
            <a:ext cx="47548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4A3B8"/>
                </a:solidFill>
                <a:latin typeface="Segoe UI"/>
              </a:rPr>
              <a:t>The scenario builder takes any area and date. City inputs sit in one config file.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114800"/>
            <a:ext cx="5257800" cy="201168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4315968"/>
            <a:ext cx="54864" cy="4572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431596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1F5F9"/>
                </a:solidFill>
                <a:latin typeface="Segoe UI Semibold"/>
              </a:rPr>
              <a:t>The honest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4937760"/>
            <a:ext cx="47548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4A3B8"/>
                </a:solidFill>
                <a:latin typeface="Segoe UI"/>
              </a:rPr>
              <a:t>Chennai only today. A new city needs its grid data, its local plan and its flood layers.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DD4BF"/>
                </a:solidFill>
                <a:latin typeface="Segoe UI Semibold"/>
              </a:rPr>
              <a:t>EVIDENCE AND 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5F9"/>
                </a:solidFill>
                <a:latin typeface="Segoe UI Semibold"/>
              </a:rPr>
              <a:t>We removed what we couldn't source, and say 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SurgeGrid AI  ·  surgegrid.web.app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5257800" cy="201168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75688"/>
            <a:ext cx="54864" cy="4572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7568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1F5F9"/>
                </a:solidFill>
                <a:latin typeface="Segoe UI Semibold"/>
              </a:rPr>
              <a:t>Every plan line is a quote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79"/>
            <a:ext cx="47548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4A3B8"/>
                </a:solidFill>
                <a:latin typeface="Segoe UI"/>
              </a:rPr>
              <a:t>Word for word, with plan and page. 37 quotes, each checked against the PDF 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257800" cy="201168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075688"/>
            <a:ext cx="54864" cy="4572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207568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1F5F9"/>
                </a:solidFill>
                <a:latin typeface="Segoe UI Semibold"/>
              </a:rPr>
              <a:t>Removed: no plan says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697479"/>
            <a:ext cx="47548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4A3B8"/>
                </a:solidFill>
                <a:latin typeface="Segoe UI"/>
              </a:rPr>
              <a:t>Wind and flood trip limits, restoration hours, a five-stage protocol, plinth heights, gang and pump counts.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14800"/>
            <a:ext cx="5257800" cy="201168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315968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31596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1F5F9"/>
                </a:solidFill>
                <a:latin typeface="Segoe UI Semibold"/>
              </a:rPr>
              <a:t>Official maps, not model depths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937760"/>
            <a:ext cx="47548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4A3B8"/>
                </a:solidFill>
                <a:latin typeface="Segoe UI"/>
              </a:rPr>
              <a:t>Our flood score matched the city's 53 hotspots (AUC 0.76) but not the 2015 satellite map. So we show map checks.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114800"/>
            <a:ext cx="5257800" cy="201168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4315968"/>
            <a:ext cx="54864" cy="4572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431596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1F5F9"/>
                </a:solidFill>
                <a:latin typeface="Segoe UI Semibold"/>
              </a:rPr>
              <a:t>Live site, Lighthouse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4937760"/>
            <a:ext cx="47548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4A3B8"/>
                </a:solidFill>
                <a:latin typeface="Segoe UI"/>
              </a:rPr>
              <a:t>Accessibility 100. Desktop performance 91. Mobile performance 54, and we say so.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-1097280"/>
            <a:ext cx="5943600" cy="5943600"/>
          </a:xfrm>
          <a:prstGeom prst="ellipse">
            <a:avLst/>
          </a:prstGeom>
          <a:solidFill>
            <a:srgbClr val="0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DD4BF"/>
                </a:solidFill>
                <a:latin typeface="Segoe UI Semibold"/>
              </a:rPr>
              <a:t>ROADMAP AND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1F5F9"/>
                </a:solidFill>
                <a:latin typeface="Segoe UI Semibold"/>
              </a:rPr>
              <a:t>SurgeGrid AI puts the plan's own words in front of the operator, </a:t>
            </a:r>
            <a:r>
              <a:rPr sz="3400" b="0" i="0">
                <a:solidFill>
                  <a:srgbClr val="2DD4BF"/>
                </a:solidFill>
                <a:latin typeface="Segoe UI Semibold"/>
              </a:rPr>
              <a:t>and makes no rule 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926080"/>
            <a:ext cx="6949440" cy="132588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1089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2DD4BF"/>
                </a:solidFill>
                <a:latin typeface="Segoe UI Semibold"/>
              </a:rPr>
              <a:t>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52044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Segoe UI"/>
              </a:rPr>
              <a:t>More storms and cities. Substations ranked by homes in mapped flood areas. Hospital and shelter exposure. Finer rain data. Tamil advisories. Faster mobile 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434840"/>
            <a:ext cx="6949440" cy="1325880"/>
          </a:xfrm>
          <a:prstGeom prst="roundRect">
            <a:avLst>
              <a:gd name="adj" fmla="val 6000"/>
            </a:avLst>
          </a:prstGeom>
          <a:solidFill>
            <a:srgbClr val="131D33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6177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2DD4BF"/>
                </a:solidFill>
                <a:latin typeface="Segoe UI Semibold"/>
              </a:rPr>
              <a:t>Pilot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0292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Segoe UI"/>
              </a:rPr>
              <a:t>A TANGEDCO or GCC control room uses it as a plan-lookup layer on its own grid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9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4A3B8"/>
                </a:solidFill>
                <a:latin typeface="Segoe UI"/>
              </a:rPr>
              <a:t>Live: </a:t>
            </a:r>
            <a:r>
              <a:rPr sz="1500" b="0" i="0">
                <a:solidFill>
                  <a:srgbClr val="2DD4BF"/>
                </a:solidFill>
                <a:latin typeface="Segoe UI Semibold"/>
              </a:rPr>
              <a:t>surgegrid.web.app</a:t>
            </a:r>
            <a:r>
              <a:rPr sz="1500" b="0" i="0">
                <a:solidFill>
                  <a:srgbClr val="94A3B8"/>
                </a:solidFill>
                <a:latin typeface="Segoe UI"/>
              </a:rPr>
              <a:t>     Repo: </a:t>
            </a:r>
            <a:r>
              <a:rPr sz="1500" b="0" i="0">
                <a:solidFill>
                  <a:srgbClr val="2DD4BF"/>
                </a:solidFill>
                <a:latin typeface="Segoe UI Semibold"/>
              </a:rPr>
              <a:t>github.com/rsiva2294/surgegrid-ai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