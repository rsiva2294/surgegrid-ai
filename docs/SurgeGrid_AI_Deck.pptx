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line: we built a tool a control room can trust because nothing on screen is invented.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pain is not missing plans. It is finding and applying them under pressure.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our differentiator: trust. A wrong invented trip level is worse than none.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four things in that order during the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Gemini is the last step and cannot change the quotes.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deleted our earlier synthetic cyclone. Everything replayed is real rain and wind.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Meaningful AI work, with a safety design judges can inspect in gemini-proxy/ and geminiSopService.ts.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quote and page number: 'this is the plan's own text'.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Judges reward honesty here; say the gaps out 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claim more than this; present it as the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proof of engineering judgement, not a weakness.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Finish with the live URL and the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138160" y="-1097280"/>
            <a:ext cx="5943600" cy="5943600"/>
          </a:xfrm>
          <a:prstGeom prst="ellipse">
            <a:avLst/>
          </a:prstGeom>
          <a:solidFill>
            <a:srgbClr val="0F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3291840"/>
            <a:ext cx="4023360" cy="4023360"/>
          </a:xfrm>
          <a:prstGeom prst="ellipse">
            <a:avLst/>
          </a:prstGeom>
          <a:solidFill>
            <a:srgbClr val="122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ew-logo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40080"/>
            <a:ext cx="64008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17373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HACKATHON  ·  BUILD WITH AI: CODE FOR COMMUNITIES  ·  TRACK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94560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0" b="0" i="0">
                <a:solidFill>
                  <a:srgbClr val="F1F5F9"/>
                </a:solidFill>
                <a:latin typeface="Segoe UI Semibold"/>
              </a:rPr>
              <a:t>SurgeGrid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37560"/>
            <a:ext cx="84124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What the plan says, </a:t>
            </a:r>
            <a:r>
              <a:rPr sz="3200" b="0" i="0">
                <a:solidFill>
                  <a:srgbClr val="2DD4BF"/>
                </a:solidFill>
                <a:latin typeface="Segoe UI Semibold"/>
              </a:rPr>
              <a:t>at the substation, at the right hour.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709160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94A3B8"/>
                </a:solidFill>
                <a:latin typeface="Segoe UI"/>
              </a:rPr>
              <a:t>Chennai's power grid and flood console. Real rain, official maps, quoted plans.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9436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2DD4BF"/>
                </a:solidFill>
                <a:latin typeface="Segoe UI Semibold"/>
              </a:rPr>
              <a:t>surgegrid.web.app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The plans exist. Finding the right line in time is the hard part.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2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11680"/>
            <a:ext cx="3520440" cy="301752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40280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0" i="0">
                <a:solidFill>
                  <a:srgbClr val="2DD4BF"/>
                </a:solidFill>
                <a:latin typeface="Segoe UI Semibold"/>
              </a:rPr>
              <a:t>2.0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154680"/>
            <a:ext cx="2971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Chennai averages "barely 2.0 m above mean sea level".
GCC City Disaster Management Plan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011680"/>
            <a:ext cx="3520440" cy="301752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240280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0" i="0">
                <a:solidFill>
                  <a:srgbClr val="F59E0B"/>
                </a:solidFill>
                <a:latin typeface="Segoe UI Semibold"/>
              </a:rPr>
              <a:t>6 ft · 41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154680"/>
            <a:ext cx="2971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2015 floods: water up to 6 feet in substations, and 41 substations kept off.
TANGEDCO Disaster Management Plan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2011680"/>
            <a:ext cx="3520440" cy="301752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2240280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0" i="0">
                <a:solidFill>
                  <a:srgbClr val="FB7185"/>
                </a:solidFill>
                <a:latin typeface="Segoe UI Semibold"/>
              </a:rPr>
              <a:t>Vardah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3154680"/>
            <a:ext cx="2971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2016 cyclone: supply cut in many parts; fallen trees delayed restoration.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5303520"/>
            <a:ext cx="10835640" cy="777240"/>
          </a:xfrm>
          <a:prstGeom prst="roundRect">
            <a:avLst>
              <a:gd name="adj" fmla="val 6000"/>
            </a:avLst>
          </a:prstGeom>
          <a:solidFill>
            <a:srgbClr val="0F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303520"/>
            <a:ext cx="103327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A control room has minutes, not hours, to find the right line for the right substation.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OUR 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The plans never give a number that forces a shut-off. So we don't invent 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3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20240"/>
            <a:ext cx="10835640" cy="1371600"/>
          </a:xfrm>
          <a:prstGeom prst="roundRect">
            <a:avLst>
              <a:gd name="adj" fmla="val 6000"/>
            </a:avLst>
          </a:prstGeom>
          <a:solidFill>
            <a:srgbClr val="0F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20240"/>
            <a:ext cx="1024128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 i="0">
                <a:solidFill>
                  <a:srgbClr val="F1F5F9"/>
                </a:solidFill>
                <a:latin typeface="Segoe UI Semibold"/>
              </a:rPr>
              <a:t>Official plans: supply may be switched off </a:t>
            </a:r>
            <a:r>
              <a:rPr sz="2400" b="0" i="0">
                <a:solidFill>
                  <a:srgbClr val="2DD4BF"/>
                </a:solidFill>
                <a:latin typeface="Segoe UI Semibold"/>
              </a:rPr>
              <a:t>"if required"</a:t>
            </a:r>
            <a:r>
              <a:rPr sz="2400" b="0" i="0">
                <a:solidFill>
                  <a:srgbClr val="F1F5F9"/>
                </a:solidFill>
                <a:latin typeface="Segoe UI Semibold"/>
              </a:rPr>
              <a:t>. No wind speed or flood depth is given.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566160"/>
            <a:ext cx="5257800" cy="251460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3767328"/>
            <a:ext cx="54864" cy="4572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76732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Many tools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389120"/>
            <a:ext cx="47548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Invent thresholds and present them as rules.
A control room cannot tell which numbers are official.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566160"/>
            <a:ext cx="5257800" cy="251460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3767328"/>
            <a:ext cx="54864" cy="4572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376732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SurgeGrid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4389120"/>
            <a:ext cx="47548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We checked four plans and removed every rule they do not contain.
The screen shows an operator decision, backed by the exact quote.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WHAT SURGEGRID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Four things, in the order a control room needs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4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075688"/>
            <a:ext cx="54864" cy="4572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1  Replay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79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Three real rain events, hour by hour: Michaung 2023, the 2015 floods, a Nov 2020 monsoon spell.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874519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2075688"/>
            <a:ext cx="54864" cy="457200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59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2  Exposure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2697479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286 substations with yard elevation and checks against official flood maps.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069080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4270248"/>
            <a:ext cx="54864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7024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3  AI Directive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892040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The official actions for this hour, each a quote with plan and page, and the substations they apply to.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4069080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4270248"/>
            <a:ext cx="54864" cy="4572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427024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4  Substation card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4892040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Flood facts, a copilot with quoted actions, GCC relief centres for the ward, and a backup suggestion.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Real data in. Rules choose. Quotes speak. Gemini adds one note.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5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11680"/>
            <a:ext cx="2011680" cy="310896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011680"/>
            <a:ext cx="2011680" cy="82296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Real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788920"/>
            <a:ext cx="16459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NASA IMERG rain
ERA5-Land wind
SRTM terrain
OpenCity flood maps
TNEB grid
Live TANGEDCO notices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3291840"/>
            <a:ext cx="2560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 b="0" i="0">
                <a:solidFill>
                  <a:srgbClr val="94A3B8"/>
                </a:solidFill>
                <a:latin typeface="Segoe UI Semibold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2011680"/>
            <a:ext cx="2011680" cy="310896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80360" y="2011680"/>
            <a:ext cx="2011680" cy="82296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63240" y="22860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Rules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2788920"/>
            <a:ext cx="16459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Phase from the data:
watch, impact,
restoration.
Pick the substations.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3291840"/>
            <a:ext cx="2560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 b="0" i="0">
                <a:solidFill>
                  <a:srgbClr val="94A3B8"/>
                </a:solidFill>
                <a:latin typeface="Segoe UI Semibold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74920" y="2011680"/>
            <a:ext cx="2011680" cy="310896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74920" y="2011680"/>
            <a:ext cx="2011680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57800" y="22860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37 quotes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2788920"/>
            <a:ext cx="16459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Word for word,
with plan and page,
from four official
plans.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291840"/>
            <a:ext cx="2560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 b="0" i="0">
                <a:solidFill>
                  <a:srgbClr val="94A3B8"/>
                </a:solidFill>
                <a:latin typeface="Segoe UI Semibold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69480" y="2011680"/>
            <a:ext cx="2011680" cy="310896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269480" y="2011680"/>
            <a:ext cx="2011680" cy="82296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52360" y="22860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Gemini 2.5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2360" y="2788920"/>
            <a:ext cx="16459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Words one short
note. Cannot write
or change a quote.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3291840"/>
            <a:ext cx="2560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 b="0" i="0">
                <a:solidFill>
                  <a:srgbClr val="94A3B8"/>
                </a:solidFill>
                <a:latin typeface="Segoe UI Semibold"/>
              </a:rPr>
              <a:t>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64040" y="2011680"/>
            <a:ext cx="2011680" cy="310896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64040" y="2011680"/>
            <a:ext cx="2011680" cy="82296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46920" y="22860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Screen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46920" y="2788920"/>
            <a:ext cx="16459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AI Directive and
substation card.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5440680"/>
            <a:ext cx="10835640" cy="6400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5440680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Runs on Google Maps Platform  ·  Earth Engine (scenario data)  ·  Gemini via a Cloud Function  ·  Firebase Hosting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REAL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No synthetic storms. Everything replayed is real rain and wind.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6 /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874519"/>
          <a:ext cx="6400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1463040"/>
                <a:gridCol w="146304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94A3B8"/>
                          </a:solidFill>
                          <a:latin typeface="Segoe UI Semibold"/>
                        </a:rPr>
                        <a:t>Scenario</a:t>
                      </a:r>
                    </a:p>
                  </a:txBody>
                  <a:tcPr anchor="ctr" marL="182880">
                    <a:solidFill>
                      <a:srgbClr val="24335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94A3B8"/>
                          </a:solidFill>
                          <a:latin typeface="Segoe UI Semibold"/>
                        </a:rPr>
                        <a:t>Peak rain</a:t>
                      </a:r>
                    </a:p>
                  </a:txBody>
                  <a:tcPr anchor="ctr" marL="182880">
                    <a:solidFill>
                      <a:srgbClr val="24335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94A3B8"/>
                          </a:solidFill>
                          <a:latin typeface="Segoe UI Semibold"/>
                        </a:rPr>
                        <a:t>Total rain</a:t>
                      </a:r>
                    </a:p>
                  </a:txBody>
                  <a:tcPr anchor="ctr" marL="182880">
                    <a:solidFill>
                      <a:srgbClr val="24335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F1F5F9"/>
                          </a:solidFill>
                          <a:latin typeface="Segoe UI"/>
                        </a:rPr>
                        <a:t>Cyclone Michaung, Dec 2023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2DD4BF"/>
                          </a:solidFill>
                          <a:latin typeface="Segoe UI"/>
                        </a:rPr>
                        <a:t>14.0 mm/h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2DD4BF"/>
                          </a:solidFill>
                          <a:latin typeface="Segoe UI"/>
                        </a:rPr>
                        <a:t>273 mm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F1F5F9"/>
                          </a:solidFill>
                          <a:latin typeface="Segoe UI"/>
                        </a:rPr>
                        <a:t>2015 floods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2DD4BF"/>
                          </a:solidFill>
                          <a:latin typeface="Segoe UI"/>
                        </a:rPr>
                        <a:t>23.4 mm/h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2DD4BF"/>
                          </a:solidFill>
                          <a:latin typeface="Segoe UI"/>
                        </a:rPr>
                        <a:t>372 mm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F1F5F9"/>
                          </a:solidFill>
                          <a:latin typeface="Segoe UI"/>
                        </a:rPr>
                        <a:t>Monsoon spell, Nov 2020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2DD4BF"/>
                          </a:solidFill>
                          <a:latin typeface="Segoe UI"/>
                        </a:rPr>
                        <a:t>16.8 mm/h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2DD4BF"/>
                          </a:solidFill>
                          <a:latin typeface="Segoe UI"/>
                        </a:rPr>
                        <a:t>198 mm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60920" y="1874519"/>
            <a:ext cx="4160520" cy="219456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35240" y="2103120"/>
            <a:ext cx="361187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0" i="0">
                <a:solidFill>
                  <a:srgbClr val="818CF8"/>
                </a:solidFill>
                <a:latin typeface="Segoe UI Semibold"/>
              </a:rPr>
              <a:t>286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017520"/>
            <a:ext cx="361187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substations, 2,678 feeders, 65,557 transformers, about 4.9 million consumers on mapped transformers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343400"/>
            <a:ext cx="5303520" cy="17830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57200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0" i="0">
                <a:solidFill>
                  <a:srgbClr val="F59E0B"/>
                </a:solidFill>
                <a:latin typeface="Segoe UI Semibold"/>
              </a:rPr>
              <a:t>48 · 114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5486400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substations inside the 2015 flood extent · inside the 100-year flood-hazard map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343400"/>
            <a:ext cx="5303520" cy="17830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57200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0" i="0">
                <a:solidFill>
                  <a:srgbClr val="FB7185"/>
                </a:solidFill>
                <a:latin typeface="Segoe UI Semibold"/>
              </a:rPr>
              <a:t>162 · 120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5486400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GCC relief centres · wards they cover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THE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What Gemini does, and what it never does.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7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5257800" cy="233172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075688"/>
            <a:ext cx="54864" cy="4572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Does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79"/>
            <a:ext cx="4754880" cy="1371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Picks substation and feeder names from lists we send.
Writes one short note, or a live-day summary of our data.
Gemini 2.5 Flash on Google Cloud, no API key in the app.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874519"/>
            <a:ext cx="5257800" cy="233172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2075688"/>
            <a:ext cx="54864" cy="4572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59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Never does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2697479"/>
            <a:ext cx="4754880" cy="1371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Write, reword or cite the plan quotes.
Invent a number: a note with a number not in the prompt is discarded.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4805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GUARDRAILS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846320"/>
            <a:ext cx="2560320" cy="12344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9834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 Semibold"/>
              </a:rPr>
              <a:t>Fixed answer format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4406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JSON schema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47288" y="4846320"/>
            <a:ext cx="2560320" cy="12344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30168" y="49834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 Semibold"/>
              </a:rPr>
              <a:t>Names filtered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0168" y="54406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to our lists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4846320"/>
            <a:ext cx="2560320" cy="12344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6" y="49834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 Semibold"/>
              </a:rPr>
              <a:t>Numbers checked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1656" y="54406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against the prompt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0264" y="4846320"/>
            <a:ext cx="2560320" cy="12344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53144" y="49834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 Semibold"/>
              </a:rPr>
              <a:t>Gemini down?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53144" y="54406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Same quotes, rule-based notes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LIVE DEMO  ·  ABOUT 3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Watch one storm go from watch to restoration.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8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10835640" cy="7772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2029967"/>
            <a:ext cx="457200" cy="45720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29967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0" i="0">
                <a:solidFill>
                  <a:srgbClr val="0B1220"/>
                </a:solidFill>
                <a:latin typeface="Segoe UI Semibol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74519"/>
            <a:ext cx="97840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"/>
              </a:rPr>
              <a:t>Open the site. Michaung starts at T-24h. The AI Directive shows 6 quoted actions with page numbers.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61487"/>
            <a:ext cx="10835640" cy="7772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916935"/>
            <a:ext cx="457200" cy="45720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16935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0" i="0">
                <a:solidFill>
                  <a:srgbClr val="0B1220"/>
                </a:solidFill>
                <a:latin typeface="Segoe UI Semibol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761487"/>
            <a:ext cx="97840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"/>
              </a:rPr>
              <a:t>Press play at 4x. The directive moves to impact, then restoration.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648455"/>
            <a:ext cx="10835640" cy="7772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3803903"/>
            <a:ext cx="457200" cy="45720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80390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0" i="0">
                <a:solidFill>
                  <a:srgbClr val="0B1220"/>
                </a:solidFill>
                <a:latin typeface="Segoe UI Semibol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648455"/>
            <a:ext cx="97840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"/>
              </a:rPr>
              <a:t>Open a low-lying substation: status line, Overview (flood facts, official maps), then Respond: copilot actions, relief centre, backup.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535423"/>
            <a:ext cx="10835640" cy="7772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8680" y="4690871"/>
            <a:ext cx="457200" cy="45720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69087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0" i="0">
                <a:solidFill>
                  <a:srgbClr val="0B1220"/>
                </a:solidFill>
                <a:latin typeface="Segoe UI Semibold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535423"/>
            <a:ext cx="97840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"/>
              </a:rPr>
              <a:t>Open a substation inside no flood layer. It stays quiet: no false alarms.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422391"/>
            <a:ext cx="10835640" cy="7772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8680" y="5577839"/>
            <a:ext cx="457200" cy="45720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57783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0" i="0">
                <a:solidFill>
                  <a:srgbClr val="0B1220"/>
                </a:solidFill>
                <a:latin typeface="Segoe UI Semibold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5422391"/>
            <a:ext cx="97840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"/>
              </a:rPr>
              <a:t>Switch to the 2015 scenario. Turn on the relief-centre layer.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TRACK 5 FIT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What the brief asks, what we deliver, and the honest gaps.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9 /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828800"/>
          <a:ext cx="108356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572000"/>
                <a:gridCol w="3154680"/>
              </a:tblGrid>
              <a:tr h="7010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94A3B8"/>
                          </a:solidFill>
                          <a:latin typeface="Segoe UI Semibold"/>
                        </a:rPr>
                        <a:t>The brief asks</a:t>
                      </a:r>
                    </a:p>
                  </a:txBody>
                  <a:tcPr anchor="ctr" marL="182880">
                    <a:solidFill>
                      <a:srgbClr val="2433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94A3B8"/>
                          </a:solidFill>
                          <a:latin typeface="Segoe UI Semibold"/>
                        </a:rPr>
                        <a:t>We deliver</a:t>
                      </a:r>
                    </a:p>
                  </a:txBody>
                  <a:tcPr anchor="ctr" marL="182880">
                    <a:solidFill>
                      <a:srgbClr val="2433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94A3B8"/>
                          </a:solidFill>
                          <a:latin typeface="Segoe UI Semibold"/>
                        </a:rPr>
                        <a:t>Honest gap</a:t>
                      </a:r>
                    </a:p>
                  </a:txBody>
                  <a:tcPr anchor="ctr" marL="182880">
                    <a:solidFill>
                      <a:srgbClr val="243352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Earth Engine + real met data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IMERG rain, ERA5-Land wind, SRTM; Google Weather API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9E0B"/>
                          </a:solidFill>
                          <a:latin typeface="Segoe UI"/>
                        </a:rPr>
                        <a:t>Wind is an area average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Simulate storm scenarios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Three real hindcasts, hour by hour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9E0B"/>
                          </a:solidFill>
                          <a:latin typeface="Segoe UI"/>
                        </a:rPr>
                        <a:t>No storm surge or track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Map grid and shelter exposure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286 substations checked; 162 relief centres by ward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9E0B"/>
                          </a:solidFill>
                          <a:latin typeface="Segoe UI"/>
                        </a:rPr>
                        <a:t>Centres have no coordinates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Early-warning advisories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Quoted actions per hour and substation; copy-SMS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9E0B"/>
                          </a:solidFill>
                          <a:latin typeface="Segoe UI"/>
                        </a:rPr>
                        <a:t>No automatic dispatch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Gemini reasoning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Gemini 2.5 Flash notes with guardrails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9E0B"/>
                          </a:solidFill>
                          <a:latin typeface="Segoe UI"/>
                        </a:rPr>
                        <a:t>Not multimodal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BUILT FOR INDIA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Live today. National by design. Chennai only, for now.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10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075688"/>
            <a:ext cx="54864" cy="4572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Live 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79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surgegrid.web.app: static hosting plus one small Cloud Function. Keyless Gemini, origin allow-list, rate limit.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874519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2075688"/>
            <a:ext cx="54864" cy="457200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59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National by design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2697479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The MoP 2021 power-sector plan and IMD cyclone classes apply across India. City plans plug in as more quotes.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114800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4315968"/>
            <a:ext cx="54864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31596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Repeatable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937760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The scenario builder takes any area and date. City inputs sit in one config file.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4114800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4315968"/>
            <a:ext cx="54864" cy="4572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431596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The honest bit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4937760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Chennai only today. A new city needs its grid data, its local plan and its flood layers.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EVIDENCE AND HONESTY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We removed what we couldn't source, and say 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11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075688"/>
            <a:ext cx="54864" cy="4572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Every plan line is a quote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79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Word for word, with plan and page. 37 quotes, each checked against the PDF text.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874519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2075688"/>
            <a:ext cx="54864" cy="4572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59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Removed: no plan says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2697479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Wind and flood trip limits, restoration hours, a five-stage protocol, plinth heights, gang and pump counts.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114800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4315968"/>
            <a:ext cx="54864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31596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Official maps, not model depths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937760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Our flood score matched the city's 53 hotspots (AUC 0.76) but not the 2015 satellite map. So we show map checks.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4114800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4315968"/>
            <a:ext cx="54864" cy="457200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431596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Live site, Lighthouse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4937760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Accessibility 100. Desktop performance 91. Mobile performance 54, and we say so.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138160" y="-1097280"/>
            <a:ext cx="5943600" cy="5943600"/>
          </a:xfrm>
          <a:prstGeom prst="ellipse">
            <a:avLst/>
          </a:prstGeom>
          <a:solidFill>
            <a:srgbClr val="0F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ROADMAP AND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22960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0" i="0">
                <a:solidFill>
                  <a:srgbClr val="F1F5F9"/>
                </a:solidFill>
                <a:latin typeface="Segoe UI Semibold"/>
              </a:rPr>
              <a:t>SurgeGrid AI puts the plan's own words in front of the operator, </a:t>
            </a:r>
            <a:r>
              <a:rPr sz="3400" b="0" i="0">
                <a:solidFill>
                  <a:srgbClr val="2DD4BF"/>
                </a:solidFill>
                <a:latin typeface="Segoe UI Semibold"/>
              </a:rPr>
              <a:t>and makes no rule up.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926080"/>
            <a:ext cx="6949440" cy="13258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1089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2DD4BF"/>
                </a:solidFill>
                <a:latin typeface="Segoe UI Semibold"/>
              </a:rPr>
              <a:t>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520440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More cities. Substations ranked by homes in mapped flood areas. Hospital and shelter exposure. Tamil advisories. Faster mobile load.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434840"/>
            <a:ext cx="6949440" cy="13258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6177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2DD4BF"/>
                </a:solidFill>
                <a:latin typeface="Segoe UI Semibold"/>
              </a:rPr>
              <a:t>Pilot path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5029200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A TANGEDCO or GCC control room uses it as a plan-lookup layer on its own grid data.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9893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94A3B8"/>
                </a:solidFill>
                <a:latin typeface="Segoe UI"/>
              </a:rPr>
              <a:t>Live: </a:t>
            </a:r>
            <a:r>
              <a:rPr sz="1500" b="0" i="0">
                <a:solidFill>
                  <a:srgbClr val="2DD4BF"/>
                </a:solidFill>
                <a:latin typeface="Segoe UI Semibold"/>
              </a:rPr>
              <a:t>surgegrid.web.app</a:t>
            </a:r>
            <a:r>
              <a:rPr sz="1500" b="0" i="0">
                <a:solidFill>
                  <a:srgbClr val="94A3B8"/>
                </a:solidFill>
                <a:latin typeface="Segoe UI"/>
              </a:rPr>
              <a:t>     Repo: </a:t>
            </a:r>
            <a:r>
              <a:rPr sz="1500" b="0" i="0">
                <a:solidFill>
                  <a:srgbClr val="2DD4BF"/>
                </a:solidFill>
                <a:latin typeface="Segoe UI Semibold"/>
              </a:rPr>
              <a:t>github.com/rsiva2294/surgegrid-ai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